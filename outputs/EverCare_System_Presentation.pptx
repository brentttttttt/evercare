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5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sz="6000" b="1">
                <a:solidFill>
                  <a:srgbClr val="FFFFFF"/>
                </a:solidFill>
                <a:latin typeface="Calibri"/>
              </a:rPr>
              <a:t>EverCare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E7F3EC"/>
                </a:solidFill>
                <a:latin typeface="Calibri"/>
              </a:defRPr>
            </a:pPr>
            <a:r>
              <a:rPr sz="2400" b="0">
                <a:solidFill>
                  <a:srgbClr val="E7F3EC"/>
                </a:solidFill>
                <a:latin typeface="Calibri"/>
              </a:rPr>
              <a:t>A Flutter Care Companion for Filipino Seniors,</a:t>
            </a:r>
            <a:br/>
            <a:r>
              <a:t>Family Members, and Caregivers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4114800" cy="5943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9136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FFFFFF"/>
                </a:solidFill>
                <a:latin typeface="Calibri"/>
              </a:rPr>
              <a:t>🎯  UN SDG 3: Good Health and Well-Being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BBFA3"/>
                </a:solidFill>
                <a:latin typeface="Calibri"/>
              </a:defRPr>
            </a:pPr>
            <a:r>
              <a:rPr sz="1600" b="0">
                <a:solidFill>
                  <a:srgbClr val="8BBFA3"/>
                </a:solidFill>
                <a:latin typeface="Calibri"/>
              </a:rPr>
              <a:t>Brent Bernardo  •  Midterm Presentation  •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Problem &amp;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A9670C"/>
                </a:solidFill>
                <a:latin typeface="Calibri"/>
              </a:defRPr>
            </a:pPr>
            <a:r>
              <a:rPr sz="1800" b="1">
                <a:solidFill>
                  <a:srgbClr val="A9670C"/>
                </a:solidFill>
                <a:latin typeface="Calibri"/>
              </a:rPr>
              <a:t>⚠️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Daily care information is scattered across notes,</a:t>
            </a:r>
            <a:br/>
            <a:r>
              <a:t>  paper schedules, and separate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Filipino seniors &amp; caregivers often lack a</a:t>
            </a:r>
            <a:br/>
            <a:r>
              <a:t>  unified digital tool for health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Critical health data (BP, medications, appointments)</a:t>
            </a:r>
            <a:br/>
            <a:r>
              <a:t>  can be missed or lost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1835B"/>
                </a:solidFill>
                <a:latin typeface="Calibri"/>
              </a:defRPr>
            </a:pPr>
            <a:r>
              <a:rPr sz="1800" b="1">
                <a:solidFill>
                  <a:srgbClr val="21835B"/>
                </a:solidFill>
                <a:latin typeface="Calibri"/>
              </a:rPr>
              <a:t>✅  EverCare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Organizes medicines, appointments, journals,</a:t>
            </a:r>
            <a:br/>
            <a:r>
              <a:t>  emergency details, and BP records in one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Trusted care connections between seniors</a:t>
            </a:r>
            <a:br/>
            <a:r>
              <a:t>  and their caregivers/family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8201B"/>
                </a:solidFill>
                <a:latin typeface="Calibri"/>
              </a:defRPr>
            </a:pPr>
            <a:r>
              <a:rPr sz="1300" b="0">
                <a:solidFill>
                  <a:srgbClr val="18201B"/>
                </a:solidFill>
                <a:latin typeface="Calibri"/>
              </a:rPr>
              <a:t>• Bluetooth blood pressure monitor integration</a:t>
            </a:r>
            <a:br/>
            <a:r>
              <a:t>  for real, device-captured health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89920" cy="594360"/>
          </a:xfrm>
          <a:prstGeom prst="roundRect">
            <a:avLst/>
          </a:prstGeom>
          <a:solidFill>
            <a:srgbClr val="FBE9E8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8A2929"/>
                </a:solidFill>
                <a:latin typeface="Calibri"/>
              </a:defRPr>
            </a:pPr>
            <a:r>
              <a:rPr sz="1300" b="0">
                <a:solidFill>
                  <a:srgbClr val="8A2929"/>
                </a:solidFill>
                <a:latin typeface="Calibri"/>
              </a:rPr>
              <a:t>⛔  EverCare is NOT a diagnostic tool and is NOT an emergency-replacement system. BP readings are never presented as medically verified.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💊  Medications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84632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📅  Appointments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4632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📝  Journals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79" y="484632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49560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❤️  Blood 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79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🏥  Hospital Finder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6692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5779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👥  Care Connections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6692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779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🚨  Emergency Info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79" y="56692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39" y="5779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8201B"/>
                </a:solidFill>
                <a:latin typeface="Calibri"/>
              </a:defRPr>
            </a:pPr>
            <a:r>
              <a:rPr sz="1500" b="1">
                <a:solidFill>
                  <a:srgbClr val="18201B"/>
                </a:solidFill>
                <a:latin typeface="Calibri"/>
              </a:rPr>
              <a:t>📖  Care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E3F2E9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5553C"/>
                </a:solidFill>
                <a:latin typeface="Calibri"/>
              </a:defRPr>
            </a:pPr>
            <a:r>
              <a:rPr sz="1800" b="1">
                <a:solidFill>
                  <a:srgbClr val="15553C"/>
                </a:solidFill>
                <a:latin typeface="Calibri"/>
              </a:rPr>
              <a:t>📱  EverCare Flutter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Feature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15 screen modules: Home, Health, Medications,</a:t>
            </a:r>
            <a:br/>
            <a:r>
              <a:t>Appointments, Journals, Emergency, Caregiver,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Typed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59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18 Dart model classes with validation,</a:t>
            </a:r>
            <a:br/>
            <a:r>
              <a:t>serialization, and business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52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523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9 owner-scoped Supabase data access layers</a:t>
            </a:r>
            <a:br/>
            <a:r>
              <a:t>for all CRUD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45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455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Auth, BLE, Hospital Finder, Care Book,</a:t>
            </a:r>
            <a:br/>
            <a:r>
              <a:t>AI service, and Accessibility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38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BLE 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38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YK-IBPA1 packet decoder with</a:t>
            </a:r>
            <a:br/>
            <a:r>
              <a:t>systolic calibration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Theme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AppColors, AppMotion, AppTextStyles,</a:t>
            </a:r>
            <a:br/>
            <a:r>
              <a:t>and full AppTheme for elderly-friendly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▸ Reusable Widgets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325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17 shared widgets: cards, buttons, headers,</a:t>
            </a:r>
            <a:br/>
            <a:r>
              <a:t>glass surfaces, navigation, skeleton loaders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03520" cy="2926080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3479A3"/>
                </a:solidFill>
                <a:latin typeface="Calibri"/>
              </a:defRPr>
            </a:pPr>
            <a:r>
              <a:rPr sz="1800" b="1">
                <a:solidFill>
                  <a:srgbClr val="3479A3"/>
                </a:solidFill>
                <a:latin typeface="Calibri"/>
              </a:rPr>
              <a:t>☁️  Supabase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Supabase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Email/password accounts with</a:t>
            </a:r>
            <a:br/>
            <a:r>
              <a:t>auto profile creation 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PostgREST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59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RESTful GET / POST / PATCH / DELETE</a:t>
            </a:r>
            <a:br/>
            <a:r>
              <a:t>for all private user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523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Row Level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7523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All 10 tables enforce owner-scoped</a:t>
            </a:r>
            <a:br/>
            <a:r>
              <a:t>authenticated access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455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PostgreSQL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1455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10 tables, 12 indexes, 9 triggers,</a:t>
            </a:r>
            <a:br/>
            <a:r>
              <a:t>5 versioned migrations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Photo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38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Private journal photo attachments</a:t>
            </a:r>
            <a:br/>
            <a:r>
              <a:t>with signed URLs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3479A3"/>
                </a:solidFill>
                <a:latin typeface="Calibri"/>
              </a:defRPr>
            </a:pPr>
            <a:r>
              <a:rPr sz="1200" b="1">
                <a:solidFill>
                  <a:srgbClr val="3479A3"/>
                </a:solidFill>
                <a:latin typeface="Calibri"/>
              </a:rPr>
              <a:t>▸ Edge Functions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Authenticated serverless functions</a:t>
            </a:r>
            <a:br/>
            <a:r>
              <a:t>(AI insight via Groq)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572000"/>
            <a:ext cx="5303520" cy="1554480"/>
          </a:xfrm>
          <a:prstGeom prst="roundRect">
            <a:avLst/>
          </a:prstGeom>
          <a:solidFill>
            <a:srgbClr val="F0EBF7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6D61A7"/>
                </a:solidFill>
                <a:latin typeface="Calibri"/>
              </a:defRPr>
            </a:pPr>
            <a:r>
              <a:rPr sz="1800" b="1">
                <a:solidFill>
                  <a:srgbClr val="6D61A7"/>
                </a:solidFill>
                <a:latin typeface="Calibri"/>
              </a:rPr>
              <a:t>🌐  External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6D61A7"/>
                </a:solidFill>
                <a:latin typeface="Calibri"/>
              </a:defRPr>
            </a:pPr>
            <a:r>
              <a:rPr sz="1200" b="1">
                <a:solidFill>
                  <a:srgbClr val="6D61A7"/>
                </a:solidFill>
                <a:latin typeface="Calibri"/>
              </a:rPr>
              <a:t>▸ OpenStreetMap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flutter_map tiles, Overpass nearby hospitals,</a:t>
            </a:r>
            <a:br/>
            <a:r>
              <a:t>Photon search, Nominatim geocoding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440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6D61A7"/>
                </a:solidFill>
                <a:latin typeface="Calibri"/>
              </a:defRPr>
            </a:pPr>
            <a:r>
              <a:rPr sz="1200" b="1">
                <a:solidFill>
                  <a:srgbClr val="6D61A7"/>
                </a:solidFill>
                <a:latin typeface="Calibri"/>
              </a:rPr>
              <a:t>▸ Groq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LLM-powered BP insight via Supabase</a:t>
            </a:r>
            <a:br/>
            <a:r>
              <a:t>Edge Functions (credential never in app)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6D61A7"/>
                </a:solidFill>
                <a:latin typeface="Calibri"/>
              </a:defRPr>
            </a:pPr>
            <a:r>
              <a:rPr sz="1200" b="1">
                <a:solidFill>
                  <a:srgbClr val="6D61A7"/>
                </a:solidFill>
                <a:latin typeface="Calibri"/>
              </a:rPr>
              <a:t>▸ YK-IBPA1 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806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Bluetooth Low Energy blood pressure</a:t>
            </a:r>
            <a:br/>
            <a:r>
              <a:t>monitor with real packet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3 /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1835B"/>
                </a:solidFill>
                <a:latin typeface="Calibri"/>
              </a:defRPr>
            </a:pPr>
            <a:r>
              <a:rPr sz="1600" b="1">
                <a:solidFill>
                  <a:srgbClr val="21835B"/>
                </a:solidFill>
                <a:latin typeface="Calibr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2286000" cy="254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SDK ^3.11.3 — Cross-platform mobile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Type-safe language with null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Material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uses-material-design with custom AppTheme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flutter_map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v8.3.1 — OpenStreetMap tile rendering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flutter_blue_plus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v2.3.11 — BLE device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37160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479A3"/>
                </a:solidFill>
                <a:latin typeface="Calibri"/>
              </a:defRPr>
            </a:pPr>
            <a:r>
              <a:rPr sz="1600" b="1">
                <a:solidFill>
                  <a:srgbClr val="3479A3"/>
                </a:solidFill>
                <a:latin typeface="Calibri"/>
              </a:rP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874519"/>
            <a:ext cx="2286000" cy="25400"/>
          </a:xfrm>
          <a:prstGeom prst="rect">
            <a:avLst/>
          </a:prstGeom>
          <a:solidFill>
            <a:srgbClr val="347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Supabase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v^2.16.0 — Auth, PostgREST, Storage, Edge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Database with RLS, triggers, and RPCs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PostgREST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Automatic RESTful API from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Edge Functions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Deno-based serverless with Groq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37160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6D61A7"/>
                </a:solidFill>
                <a:latin typeface="Calibri"/>
              </a:defRPr>
            </a:pPr>
            <a:r>
              <a:rPr sz="1600" b="1">
                <a:solidFill>
                  <a:srgbClr val="6D61A7"/>
                </a:solidFill>
                <a:latin typeface="Calibri"/>
              </a:rPr>
              <a:t>Services &amp; APIs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1874519"/>
            <a:ext cx="2286000" cy="25400"/>
          </a:xfrm>
          <a:prstGeom prst="rect">
            <a:avLst/>
          </a:prstGeom>
          <a:solidFill>
            <a:srgbClr val="6D6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OpenStreetMap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Map tiles + hospital search (no API key)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Overpass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Nearby hospital queries with fallback instances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Photon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Search-as-you-type with debounce &amp; caching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Nominatim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Geocoding for submitted searches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Geolocator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v^14.0.3 — Device GPS location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137160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9670C"/>
                </a:solidFill>
                <a:latin typeface="Calibri"/>
              </a:defRPr>
            </a:pPr>
            <a:r>
              <a:rPr sz="1600" b="1">
                <a:solidFill>
                  <a:srgbClr val="A9670C"/>
                </a:solidFill>
                <a:latin typeface="Calibri"/>
              </a:rPr>
              <a:t>Dev &amp; Testing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1874519"/>
            <a:ext cx="2286000" cy="25400"/>
          </a:xfrm>
          <a:prstGeom prst="rect">
            <a:avLst/>
          </a:prstGeom>
          <a:solidFill>
            <a:srgbClr val="A96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flutter_lints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v^6.0.0 — Static analysis 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flutter_test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Widget and unit testing framework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postgrest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v2.8.0 — Dev dependency for testing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8201B"/>
                </a:solidFill>
                <a:latin typeface="Calibri"/>
              </a:defRPr>
            </a:pPr>
            <a:r>
              <a:rPr sz="1300" b="1">
                <a:solidFill>
                  <a:srgbClr val="18201B"/>
                </a:solidFill>
                <a:latin typeface="Calibri"/>
              </a:rPr>
              <a:t>Supabase CLI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Migration management and db push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4 / 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Database Design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583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1835B"/>
                </a:solidFill>
                <a:latin typeface="Calibri"/>
              </a:defRPr>
            </a:pPr>
            <a:r>
              <a:rPr sz="1600" b="1">
                <a:solidFill>
                  <a:srgbClr val="21835B"/>
                </a:solidFill>
                <a:latin typeface="Calibri"/>
              </a:rPr>
              <a:t>📋  11 PostgreSQL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User identity, name, phone,</a:t>
            </a:r>
            <a:br/>
            <a:r>
              <a:t>birth date, user type, avatar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medical_profiles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Blood type, allergies,</a:t>
            </a:r>
            <a:br/>
            <a:r>
              <a:t>conditions, preferred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medications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Name, dosage, schedule,</a:t>
            </a:r>
            <a:br/>
            <a:r>
              <a:t>start/end dates, active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medication_dose_events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Scheduled times, taken_at,</a:t>
            </a:r>
            <a:br/>
            <a:r>
              <a:t>status (scheduled/taken/skipped)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appointments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Doctor, specialty, date/time,</a:t>
            </a:r>
            <a:br/>
            <a:r>
              <a:t>clinic, address,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journal_entries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Title, body, mood, symptoms,</a:t>
            </a:r>
            <a:br/>
            <a:r>
              <a:t>activities, tags, bookmarked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journal_entry_photos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Storage path, display order,</a:t>
            </a:r>
            <a:br/>
            <a:r>
              <a:t>linked to journal entries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blood_pressure_readings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468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Systolic, diastolic, pulse,</a:t>
            </a:r>
            <a:br/>
            <a:r>
              <a:t>source (BLE/manual), raw packet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788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emergency_contacts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Name, relationship, phone,</a:t>
            </a:r>
            <a:br/>
            <a:r>
              <a:t>is_primary (unique per user)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caregiver_relationships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474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Older adult ↔ caregiver link,</a:t>
            </a:r>
            <a:br/>
            <a:r>
              <a:t>status (pending/accepted/etc.)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1835B"/>
                </a:solidFill>
                <a:latin typeface="Calibri"/>
              </a:defRPr>
            </a:pPr>
            <a:r>
              <a:rPr sz="1100" b="1">
                <a:solidFill>
                  <a:srgbClr val="21835B"/>
                </a:solidFill>
                <a:latin typeface="Calibri"/>
              </a:rP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Title, body, kind, is_read,</a:t>
            </a:r>
            <a:br/>
            <a:r>
              <a:t>owner-scoped read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28016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83D3D"/>
                </a:solidFill>
                <a:latin typeface="Calibri"/>
              </a:defRPr>
            </a:pPr>
            <a:r>
              <a:rPr sz="1600" b="1">
                <a:solidFill>
                  <a:srgbClr val="C83D3D"/>
                </a:solidFill>
                <a:latin typeface="Calibri"/>
              </a:rPr>
              <a:t>🔒  Security &amp; 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828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Row Level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029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All 10 tables enforce</a:t>
            </a:r>
            <a:br/>
            <a:r>
              <a:t>authenticated owner-scoped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331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12 Indexes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5328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Optimized queries on user_id,</a:t>
            </a:r>
            <a:br/>
            <a:r>
              <a:t>timestamps, and composite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834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9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0358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Auto-update timestamps,</a:t>
            </a:r>
            <a:br/>
            <a:r>
              <a:t>profile creation on signup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337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Immutable Captures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538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BP readings &amp; care party</a:t>
            </a:r>
            <a:br/>
            <a:r>
              <a:t>fields locked after creation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840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Validated Inserts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041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CHECK constraints enforce</a:t>
            </a:r>
            <a:br/>
            <a:r>
              <a:t>name, dosage, systolic ranges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343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5 Migrations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544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Versioned schema evolution</a:t>
            </a:r>
            <a:br/>
            <a:r>
              <a:t>with safe rollback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46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RPC Functions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047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Server-side adherence logic</a:t>
            </a:r>
            <a:br/>
            <a:r>
              <a:t>for medication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349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▸ No Seed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550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Intentionally blank seed.sql;</a:t>
            </a:r>
            <a:br/>
            <a:r>
              <a:t>no fabricated health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5 /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68716B"/>
                </a:solidFill>
                <a:latin typeface="Calibri"/>
              </a:defRPr>
            </a:pPr>
            <a:r>
              <a:rPr sz="1600" b="0">
                <a:solidFill>
                  <a:srgbClr val="68716B"/>
                </a:solidFill>
                <a:latin typeface="Calibri"/>
              </a:rPr>
              <a:t>Clean separation of concerns following Flutter best practices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📁  lib/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Application source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2423160" cy="19050"/>
          </a:xfrm>
          <a:prstGeom prst="rect">
            <a:avLst/>
          </a:prstGeom>
          <a:solidFill>
            <a:srgbClr val="DD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config/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Public runtime configuration (Supabase URL/key)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data/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Static and generated data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0837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decoders/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YK-IBPA1 BLE packet 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924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models/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5701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18 typed Dart model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repositories/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410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9 owner-scoped Supabase data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routes/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2511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Named navigation &amp; route observer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4456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screens/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091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15 feature screen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92861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services/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9320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11 service classes (Auth, BLE, AI, etc.)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1266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theme/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7725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Colors, motion, typography, full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69671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widgets/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17 reusable UI components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14630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📁  supabase/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18288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Backend configuration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2103120"/>
            <a:ext cx="2423160" cy="19050"/>
          </a:xfrm>
          <a:prstGeom prst="rect">
            <a:avLst/>
          </a:prstGeom>
          <a:solidFill>
            <a:srgbClr val="DD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22402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migrations/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40487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5 versioned PostgreSQL migration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2624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seed.sql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27889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Intentionally empty — no fake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300837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functions/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1729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Edge Functions directory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4630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📁  assets/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18288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Application assets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103120"/>
            <a:ext cx="2423160" cy="19050"/>
          </a:xfrm>
          <a:prstGeom prst="rect">
            <a:avLst/>
          </a:prstGeom>
          <a:solidFill>
            <a:srgbClr val="DD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22402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logo/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240487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EverCare brand icon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2624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images/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27889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Local healthcare artwork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300837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health/bp_levels/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1729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BP category visuals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33924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ai_mascot/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355701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AI mascot character assets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77647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care_book/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394106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NIA Caregiver's Handbook PDF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35440" y="1463040"/>
            <a:ext cx="2697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📁  test/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18288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Quality assurance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600" y="2103120"/>
            <a:ext cx="2423160" cy="19050"/>
          </a:xfrm>
          <a:prstGeom prst="rect">
            <a:avLst/>
          </a:prstGeom>
          <a:solidFill>
            <a:srgbClr val="DD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22402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ui_smoke_test.dart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240487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Comprehensive UI smoke tests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2624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models/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27889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Model unit tests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300837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services/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31729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Service integration tests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339242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8201B"/>
                </a:solidFill>
                <a:latin typeface="Consolas"/>
              </a:defRPr>
            </a:pPr>
            <a:r>
              <a:rPr sz="1000" b="1">
                <a:solidFill>
                  <a:srgbClr val="18201B"/>
                </a:solidFill>
                <a:latin typeface="Consolas"/>
              </a:rPr>
              <a:t>└─ repositories/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3557016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Repository tests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6 / 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Core Features: Health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1835B"/>
                </a:solidFill>
                <a:latin typeface="Calibri"/>
              </a:defRPr>
            </a:pPr>
            <a:r>
              <a:rPr sz="1800" b="1">
                <a:solidFill>
                  <a:srgbClr val="21835B"/>
                </a:solidFill>
                <a:latin typeface="Calibri"/>
              </a:rPr>
              <a:t>🩺  Bluetooth Blood Pressure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Real YK-IBPA1 BLE device packet capture &amp; decoding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App-level systolic calibration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Intentional save workflow — user confirms before storing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Dual source: BLE-captured or manual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Unique BLE dedup index prevents duplicate saves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Raw packet hex preserved for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is_medically_verified always FALSE (enforced by DB check)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71600"/>
            <a:ext cx="4937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3479A3"/>
                </a:solidFill>
                <a:latin typeface="Calibri"/>
              </a:defRPr>
            </a:pPr>
            <a:r>
              <a:rPr sz="1800" b="1">
                <a:solidFill>
                  <a:srgbClr val="3479A3"/>
                </a:solidFill>
                <a:latin typeface="Calibri"/>
              </a:rPr>
              <a:t>📊  Educational BP Categories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048256"/>
            <a:ext cx="164592" cy="164592"/>
          </a:xfrm>
          <a:prstGeom prst="ellipse">
            <a:avLst/>
          </a:prstGeom>
          <a:solidFill>
            <a:srgbClr val="347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Lower Than Usual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&lt; 90 or DIA &lt; 60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350008"/>
            <a:ext cx="164592" cy="164592"/>
          </a:xfrm>
          <a:prstGeom prst="ellipse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313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Normal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13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&lt; 120 and DIA &lt; 80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651760"/>
            <a:ext cx="164592" cy="164592"/>
          </a:xfrm>
          <a:prstGeom prst="ellipse">
            <a:avLst/>
          </a:prstGeom>
          <a:solidFill>
            <a:srgbClr val="A96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6151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Elevated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151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120-129 and DIA &lt; 80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2953512"/>
            <a:ext cx="164592" cy="164592"/>
          </a:xfrm>
          <a:prstGeom prst="ellipse">
            <a:avLst/>
          </a:prstGeom>
          <a:solidFill>
            <a:srgbClr val="D47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916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Stage 1 Hypertension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9169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130-139 or DIA 80-89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255264"/>
            <a:ext cx="164592" cy="164592"/>
          </a:xfrm>
          <a:prstGeom prst="ellipse">
            <a:avLst/>
          </a:prstGeom>
          <a:solidFill>
            <a:srgbClr val="C8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218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Stage 2 Hypertension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18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≥ 140 or DIA ≥ 90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557016"/>
            <a:ext cx="164592" cy="164592"/>
          </a:xfrm>
          <a:prstGeom prst="ellipse">
            <a:avLst/>
          </a:prstGeom>
          <a:solidFill>
            <a:srgbClr val="8A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8201B"/>
                </a:solidFill>
                <a:latin typeface="Calibri"/>
              </a:defRPr>
            </a:pPr>
            <a:r>
              <a:rPr sz="1100" b="1">
                <a:solidFill>
                  <a:srgbClr val="18201B"/>
                </a:solidFill>
                <a:latin typeface="Calibri"/>
              </a:rPr>
              <a:t>Severe Hypertension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SYS &gt; 180 or DIA &gt; 120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06240"/>
            <a:ext cx="10789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1835B"/>
                </a:solidFill>
                <a:latin typeface="Calibri"/>
              </a:defRPr>
            </a:pPr>
            <a:r>
              <a:rPr sz="1800" b="1">
                <a:solidFill>
                  <a:srgbClr val="21835B"/>
                </a:solidFill>
                <a:latin typeface="Calibri"/>
              </a:rPr>
              <a:t>📈  Health Data Features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709160"/>
            <a:ext cx="242316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BP 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Chronological list of all saved readings</a:t>
            </a:r>
            <a:br/>
            <a:r>
              <a:t>with source badges (BLE/Manual)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4709160"/>
            <a:ext cx="242316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BP Trends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074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7-day summary with systolic/diastolic</a:t>
            </a:r>
            <a:br/>
            <a:r>
              <a:t>averages and reading count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709160"/>
            <a:ext cx="242316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AI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74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Groq-powered explanations via</a:t>
            </a:r>
            <a:br/>
            <a:r>
              <a:t>authenticated Edge Function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4709160"/>
            <a:ext cx="242316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Disclaimers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5074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Every result shows "not a medical</a:t>
            </a:r>
            <a:br/>
            <a:r>
              <a:t>diagnosis" disclaimer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7 /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Core Features: Care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💊  Medication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Weekday schedule (Mon-Sun)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Schedule time with 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Taken / Missed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883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Course completion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Start &amp; end date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Active/inactive toggle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📅  Appointment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Doctor, specialty, clinic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762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Due/Missed status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323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Mark Done / Mark Done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883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24-hour auto-missed transition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44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Hospital search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00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Google Maps directions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3716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📝  Health Journals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8288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920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Title, body, mood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1762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Symptoms &amp; activities tags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4323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Photo attachments (Supabase)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883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Bookmark important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9443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Date-based organization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200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Full CRUD with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8862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🚨  Emergency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3434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434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Emergency contacts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690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Primary contact designation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9469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Medical profile (blood type, etc.)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029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Allergies &amp; conditions arrays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589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Preferred hospital 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715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Quick-access medical info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8862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👥  Caregiver Connections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43434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434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Trusted care 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690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Pending/Accepted/Declined 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9469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Revoke connections anytime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2029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Caregiver profile viewing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4589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Health report generation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715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Party-change protection trigger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3886200"/>
            <a:ext cx="3383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1835B"/>
                </a:solidFill>
                <a:latin typeface="Calibri"/>
              </a:defRPr>
            </a:pPr>
            <a:r>
              <a:rPr sz="1500" b="1">
                <a:solidFill>
                  <a:srgbClr val="21835B"/>
                </a:solidFill>
                <a:latin typeface="Calibri"/>
              </a:rPr>
              <a:t>📖  NIA Care Book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4343400"/>
            <a:ext cx="3108960" cy="19050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434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Official NIA Caregiver's Handbook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90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Chapter-based reference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9469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PDF download capability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52029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Cross-platform downloaders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54589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Offline reading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5715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▸ Curated caregiver guidance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8 / 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Hospital Finder &amp; Maps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1835B"/>
                </a:solidFill>
                <a:latin typeface="Calibri"/>
              </a:defRPr>
            </a:pPr>
            <a:r>
              <a:rPr sz="1800" b="1">
                <a:solidFill>
                  <a:srgbClr val="21835B"/>
                </a:solidFill>
                <a:latin typeface="Calibri"/>
              </a:rPr>
              <a:t>🗺️  API Integration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920240" cy="16459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flutter_map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OpenStreetMap</a:t>
            </a:r>
            <a:br/>
            <a:r>
              <a:t>tile rendering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Map tile display with</a:t>
            </a:r>
            <a:br/>
            <a:r>
              <a:t>attribution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828800"/>
            <a:ext cx="1920240" cy="16459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Overpass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POST nearby</a:t>
            </a:r>
            <a:br/>
            <a:r>
              <a:t>hospital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Auto-retry with fallback</a:t>
            </a:r>
            <a:br/>
            <a:r>
              <a:t>public instances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828800"/>
            <a:ext cx="1920240" cy="16459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Photon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GET search-as-</a:t>
            </a:r>
            <a:br/>
            <a:r>
              <a:t>you-type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3-char min, debounced,</a:t>
            </a:r>
            <a:br/>
            <a:r>
              <a:t>cached suggestions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828800"/>
            <a:ext cx="1920240" cy="16459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Nominatim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GET submitted</a:t>
            </a:r>
            <a:br/>
            <a:r>
              <a:t>search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Rate-limited, not used</a:t>
            </a:r>
            <a:br/>
            <a:r>
              <a:t>for autocomplete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828800"/>
            <a:ext cx="1920240" cy="16459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Google 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240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External URLs</a:t>
            </a:r>
            <a:br/>
            <a:r>
              <a:t>for directions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716B"/>
                </a:solidFill>
                <a:latin typeface="Calibri"/>
              </a:defRPr>
            </a:pPr>
            <a:r>
              <a:rPr sz="900" b="0">
                <a:solidFill>
                  <a:srgbClr val="68716B"/>
                </a:solidFill>
                <a:latin typeface="Calibri"/>
              </a:rPr>
              <a:t>No embedded SDK;</a:t>
            </a:r>
            <a:br/>
            <a:r>
              <a:t>links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479A3"/>
                </a:solidFill>
                <a:latin typeface="Calibri"/>
              </a:defRPr>
            </a:pPr>
            <a:r>
              <a:rPr sz="1600" b="1">
                <a:solidFill>
                  <a:srgbClr val="3479A3"/>
                </a:solidFill>
                <a:latin typeface="Calibri"/>
              </a:rPr>
              <a:t>📋  Usage &amp;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63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User-Agent identifies all network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1947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OpenStreetMap attribution displayed on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7550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Repeated lookups cached to reduce API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315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Nearby results limited to prevent overload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875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Location access only when user requests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43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No background location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199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✓  Configured for low-volume dev/classroom demo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148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9670C"/>
                </a:solidFill>
                <a:latin typeface="Calibri"/>
              </a:defRPr>
            </a:pPr>
            <a:r>
              <a:rPr sz="1600" b="1">
                <a:solidFill>
                  <a:srgbClr val="A9670C"/>
                </a:solidFill>
                <a:latin typeface="Calibri"/>
              </a:rPr>
              <a:t>⚠️  Important 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663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OSM data can be incomplete or outdated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91947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Nearby results ≠ hospital is open/available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17550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Phone numbers not stored in EverCare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4315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Users reminded to verify external details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6875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Production deployment should use hosted APIs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943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Emergency directions use Google Maps externally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6199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▸  Appointment details offer same direction links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9 /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UI Design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1835B"/>
                </a:solidFill>
                <a:latin typeface="Calibri"/>
              </a:defRPr>
            </a:pPr>
            <a:r>
              <a:rPr sz="1600" b="1">
                <a:solidFill>
                  <a:srgbClr val="21835B"/>
                </a:solidFill>
                <a:latin typeface="Calibri"/>
              </a:rPr>
              <a:t>🎨  EverCare Color Palette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74519"/>
            <a:ext cx="320040" cy="320040"/>
          </a:xfrm>
          <a:prstGeom prst="roundRect">
            <a:avLst/>
          </a:prstGeom>
          <a:solidFill>
            <a:srgbClr val="21835B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Primary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39111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#21835B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74519"/>
            <a:ext cx="320040" cy="320040"/>
          </a:xfrm>
          <a:prstGeom prst="roundRect">
            <a:avLst/>
          </a:prstGeom>
          <a:solidFill>
            <a:srgbClr val="15553C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87451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Dark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39111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#15553C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320040" cy="320040"/>
          </a:xfrm>
          <a:prstGeom prst="roundRect">
            <a:avLst/>
          </a:prstGeom>
          <a:solidFill>
            <a:srgbClr val="E7F3EC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87451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Light Accent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39111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#E7F3EC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874519"/>
            <a:ext cx="320040" cy="320040"/>
          </a:xfrm>
          <a:prstGeom prst="roundRect">
            <a:avLst/>
          </a:prstGeom>
          <a:solidFill>
            <a:srgbClr val="C3C5C3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87451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39111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#F3F5F3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2697480"/>
            <a:ext cx="320040" cy="320040"/>
          </a:xfrm>
          <a:prstGeom prst="roundRect">
            <a:avLst/>
          </a:prstGeom>
          <a:solidFill>
            <a:srgbClr val="DDDDDD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#FFFFFF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697480"/>
            <a:ext cx="320040" cy="320040"/>
          </a:xfrm>
          <a:prstGeom prst="roundRect">
            <a:avLst/>
          </a:prstGeom>
          <a:solidFill>
            <a:srgbClr val="C83D3D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Destructive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#C83D3D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2697480"/>
            <a:ext cx="320040" cy="320040"/>
          </a:xfrm>
          <a:prstGeom prst="roundRect">
            <a:avLst/>
          </a:prstGeom>
          <a:solidFill>
            <a:srgbClr val="3479A3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Blue Accent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#3479A3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697480"/>
            <a:ext cx="320040" cy="320040"/>
          </a:xfrm>
          <a:prstGeom prst="roundRect">
            <a:avLst/>
          </a:prstGeom>
          <a:solidFill>
            <a:srgbClr val="6D61A7"/>
          </a:solidFill>
          <a:ln w="6350">
            <a:solidFill>
              <a:srgbClr val="DD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18201B"/>
                </a:solidFill>
                <a:latin typeface="Calibri"/>
              </a:defRPr>
            </a:pPr>
            <a:r>
              <a:rPr sz="900" b="1">
                <a:solidFill>
                  <a:srgbClr val="18201B"/>
                </a:solidFill>
                <a:latin typeface="Calibri"/>
              </a:rPr>
              <a:t>Purple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68716B"/>
                </a:solidFill>
                <a:latin typeface="Consolas"/>
              </a:defRPr>
            </a:pPr>
            <a:r>
              <a:rPr sz="800" b="0">
                <a:solidFill>
                  <a:srgbClr val="68716B"/>
                </a:solidFill>
                <a:latin typeface="Consolas"/>
              </a:rPr>
              <a:t>#6D61A7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2801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6D61A7"/>
                </a:solidFill>
                <a:latin typeface="Calibri"/>
              </a:defRPr>
            </a:pPr>
            <a:r>
              <a:rPr sz="1600" b="1">
                <a:solidFill>
                  <a:srgbClr val="6D61A7"/>
                </a:solidFill>
                <a:latin typeface="Calibri"/>
              </a:rPr>
              <a:t>♿  Accessibility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Large text scaling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212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Reduced motion preference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5054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Calm, high-contrast color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7980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Consistent empty/loading/error states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0906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Readable typography throughout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▸  Bouncing scroll physics for comfort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10789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1835B"/>
                </a:solidFill>
                <a:latin typeface="Calibri"/>
              </a:defRPr>
            </a:pPr>
            <a:r>
              <a:rPr sz="1600" b="1">
                <a:solidFill>
                  <a:srgbClr val="21835B"/>
                </a:solidFill>
                <a:latin typeface="Calibri"/>
              </a:rPr>
              <a:t>🧭  Navigation &amp; Screen Architecture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Home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Dashboard with quick</a:t>
            </a:r>
            <a:br/>
            <a:r>
              <a:t>actions &amp; summary cards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Health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BP monitor, history,</a:t>
            </a:r>
            <a:br/>
            <a:r>
              <a:t>trend, manual record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2336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908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Medications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Schedule, doses,</a:t>
            </a:r>
            <a:br/>
            <a:r>
              <a:t>adherence tracking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7784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Appointments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Calendar, details,</a:t>
            </a:r>
            <a:br/>
            <a:r>
              <a:t>hospital integration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Journals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Entries, photos,</a:t>
            </a:r>
            <a:br/>
            <a:r>
              <a:t>mood &amp; symptoms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Care Book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NIA handbook,</a:t>
            </a:r>
            <a:br/>
            <a:r>
              <a:t>chapter reference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4434840"/>
            <a:ext cx="1444752" cy="15087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452628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21835B"/>
                </a:solidFill>
                <a:latin typeface="Calibri"/>
              </a:defRPr>
            </a:pPr>
            <a:r>
              <a:rPr sz="1300" b="1">
                <a:solidFill>
                  <a:srgbClr val="21835B"/>
                </a:solidFill>
                <a:latin typeface="Calibri"/>
              </a:rPr>
              <a:t>Emergency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4892040"/>
            <a:ext cx="1353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Contacts, medical</a:t>
            </a:r>
            <a:br/>
            <a:r>
              <a:t>info, hospital finder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10 / 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5553C"/>
                </a:solidFill>
                <a:latin typeface="Calibri"/>
              </a:defRPr>
            </a:pPr>
            <a:r>
              <a:rPr sz="3600" b="1">
                <a:solidFill>
                  <a:srgbClr val="15553C"/>
                </a:solidFill>
                <a:latin typeface="Calibri"/>
              </a:rPr>
              <a:t>CRUD Operations &amp; API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1835B"/>
                </a:solidFill>
                <a:latin typeface="Calibri"/>
              </a:defRPr>
            </a:pPr>
            <a:r>
              <a:rPr sz="1800" b="1">
                <a:solidFill>
                  <a:srgbClr val="21835B"/>
                </a:solidFill>
                <a:latin typeface="Calibri"/>
              </a:rPr>
              <a:t>📝  Full CRUD for All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Medications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Create, Read, Update, Delete with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Full lifecycle with status transitions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Journal Entries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With photo attachments and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88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Emergency 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Primary contact uniqueness enforced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Blood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Immutable after creation (notes editable)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Medical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29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Upsert with blood type, allergies,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Caregiver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8201B"/>
                </a:solidFill>
                <a:latin typeface="Calibri"/>
              </a:defRPr>
            </a:pPr>
            <a:r>
              <a:rPr sz="1100" b="0">
                <a:solidFill>
                  <a:srgbClr val="18201B"/>
                </a:solidFill>
                <a:latin typeface="Calibri"/>
              </a:rPr>
              <a:t>Create pending → Accept/Decline → Revoke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280160"/>
            <a:ext cx="51206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3479A3"/>
                </a:solidFill>
                <a:latin typeface="Calibri"/>
              </a:defRPr>
            </a:pPr>
            <a:r>
              <a:rPr sz="1800" b="1">
                <a:solidFill>
                  <a:srgbClr val="3479A3"/>
                </a:solidFill>
                <a:latin typeface="Calibri"/>
              </a:rPr>
              <a:t>🔌  Supabase PostgREST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920240"/>
            <a:ext cx="822960" cy="320040"/>
          </a:xfrm>
          <a:prstGeom prst="roundRect">
            <a:avLst/>
          </a:prstGeom>
          <a:solidFill>
            <a:srgbClr val="21835B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947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947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Read user's own records (RLS filtered)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331720"/>
            <a:ext cx="822960" cy="320040"/>
          </a:xfrm>
          <a:prstGeom prst="roundRect">
            <a:avLst/>
          </a:prstGeom>
          <a:solidFill>
            <a:srgbClr val="3479A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359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359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Create new records (owner auto-assigned)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2743200"/>
            <a:ext cx="822960" cy="320040"/>
          </a:xfrm>
          <a:prstGeom prst="roundRect">
            <a:avLst/>
          </a:prstGeom>
          <a:solidFill>
            <a:srgbClr val="A9670C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7706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</a:rPr>
              <a:t>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770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Update mutable fields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154680"/>
            <a:ext cx="822960" cy="320040"/>
          </a:xfrm>
          <a:prstGeom prst="roundRect">
            <a:avLst/>
          </a:prstGeom>
          <a:solidFill>
            <a:srgbClr val="C83D3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182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182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8201B"/>
                </a:solidFill>
                <a:latin typeface="Calibri"/>
              </a:defRPr>
            </a:pPr>
            <a:r>
              <a:rPr sz="1200" b="0">
                <a:solidFill>
                  <a:srgbClr val="18201B"/>
                </a:solidFill>
                <a:latin typeface="Calibri"/>
              </a:rPr>
              <a:t>Remove with cascade cleanup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97680"/>
            <a:ext cx="10789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5553C"/>
                </a:solidFill>
                <a:latin typeface="Calibri"/>
              </a:defRPr>
            </a:pPr>
            <a:r>
              <a:rPr sz="1800" b="1">
                <a:solidFill>
                  <a:srgbClr val="15553C"/>
                </a:solidFill>
                <a:latin typeface="Calibri"/>
              </a:rPr>
              <a:t>🛡️  Data Validation &amp; Protection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892040"/>
            <a:ext cx="246888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Client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Required-field validation, unsaved-change</a:t>
            </a:r>
            <a:br/>
            <a:r>
              <a:t>protection, delete confirmation dialogs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4892040"/>
            <a:ext cx="246888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Server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Name length &gt; 0, systolic 1-350,</a:t>
            </a:r>
            <a:br/>
            <a:r>
              <a:t>diastolic 1-250, pulse 1-300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92040"/>
            <a:ext cx="246888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Trigger Guards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BP capture fields immutable after creation,</a:t>
            </a:r>
            <a:br/>
            <a:r>
              <a:t>care connection parties locked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4892040"/>
            <a:ext cx="246888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D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1835B"/>
                </a:solidFill>
                <a:latin typeface="Calibri"/>
              </a:defRPr>
            </a:pPr>
            <a:r>
              <a:rPr sz="1200" b="1">
                <a:solidFill>
                  <a:srgbClr val="21835B"/>
                </a:solidFill>
                <a:latin typeface="Calibri"/>
              </a:rPr>
              <a:t>RLS Policies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18201B"/>
                </a:solidFill>
                <a:latin typeface="Calibri"/>
              </a:defRPr>
            </a:pPr>
            <a:r>
              <a:rPr sz="1000" b="0">
                <a:solidFill>
                  <a:srgbClr val="18201B"/>
                </a:solidFill>
                <a:latin typeface="Calibri"/>
              </a:rPr>
              <a:t>Every query filtered to auth.uid(),</a:t>
            </a:r>
            <a:br/>
            <a:r>
              <a:t>cross-user access impossible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11 /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5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Screen</a:t>
            </a:r>
            <a:br/>
            <a:r>
              <a:t>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Data</a:t>
            </a:r>
            <a:br/>
            <a:r>
              <a:t>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Repository</a:t>
            </a:r>
            <a:br/>
            <a:r>
              <a:t>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Service</a:t>
            </a:r>
            <a:br/>
            <a:r>
              <a:t>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Database</a:t>
            </a:r>
            <a:br/>
            <a:r>
              <a:t>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011680"/>
            <a:ext cx="1645920" cy="1280160"/>
          </a:xfrm>
          <a:prstGeom prst="roundRect">
            <a:avLst/>
          </a:prstGeom>
          <a:solidFill>
            <a:srgbClr val="1A6B4A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E7F3EC"/>
                </a:solidFill>
                <a:latin typeface="Calibri"/>
              </a:defRPr>
            </a:pPr>
            <a:r>
              <a:rPr sz="1300" b="0">
                <a:solidFill>
                  <a:srgbClr val="E7F3EC"/>
                </a:solidFill>
                <a:latin typeface="Calibri"/>
              </a:rPr>
              <a:t>Schema</a:t>
            </a:r>
            <a:br/>
            <a:r>
              <a:t>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Real BLE blood pressure device integration with packet decoding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86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Full Supabase backend with Row Level Security on every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OpenStreetMap hospital finder with no API keys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26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AI-powered health insights via secure Edge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Elderly-friendly UI with accessibility settings (text scale, reduce motion)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Complete CRUD operations with client + server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Trusted caregiver relationships with state-machine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0">
                <a:solidFill>
                  <a:srgbClr val="FFFFFF"/>
                </a:solidFill>
                <a:latin typeface="Calibri"/>
              </a:rPr>
              <a:t>✅  Supporting UN SDG 3: Good Health and Well-Being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18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20095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8716B"/>
                </a:solidFill>
                <a:latin typeface="Calibri"/>
              </a:defRPr>
            </a:pPr>
            <a:r>
              <a:rPr sz="1100" b="0">
                <a:solidFill>
                  <a:srgbClr val="68716B"/>
                </a:solidFill>
                <a:latin typeface="Calibri"/>
              </a:rPr>
              <a:t>12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8716B"/>
                </a:solidFill>
                <a:latin typeface="Calibri"/>
              </a:defRPr>
            </a:pPr>
            <a:r>
              <a:rPr sz="1000" b="0">
                <a:solidFill>
                  <a:srgbClr val="68716B"/>
                </a:solidFill>
                <a:latin typeface="Calibri"/>
              </a:rPr>
              <a:t>EverCare — Care Companion for Filipino Seniors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