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63d2a85ab4a12" /><Relationship Type="http://schemas.openxmlformats.org/officeDocument/2006/relationships/extended-properties" Target="/docProps/app.xml" Id="R91439672bdc542f5" /><Relationship Type="http://schemas.openxmlformats.org/officeDocument/2006/relationships/officeDocument" Target="/ppt/presentation.xml" Id="R26a94297e641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ea8ad848b4aa5"/>
  </p:sldMasterIdLst>
  <p:notesMasterIdLst>
    <p:notesMasterId xmlns:r="http://schemas.openxmlformats.org/officeDocument/2006/relationships" r:id="Rd2e7e464dfc14249"/>
  </p:notesMasterIdLst>
  <p:sldIdLst>
    <p:sldId xmlns:r="http://schemas.openxmlformats.org/officeDocument/2006/relationships" id="256" r:id="R017a5e1c1cfa4020"/>
    <p:sldId xmlns:r="http://schemas.openxmlformats.org/officeDocument/2006/relationships" id="257" r:id="R83826f6bd31940f6"/>
    <p:sldId xmlns:r="http://schemas.openxmlformats.org/officeDocument/2006/relationships" id="258" r:id="Re803309142c94242"/>
    <p:sldId xmlns:r="http://schemas.openxmlformats.org/officeDocument/2006/relationships" id="259" r:id="R6cf58eba8b89493e"/>
    <p:sldId xmlns:r="http://schemas.openxmlformats.org/officeDocument/2006/relationships" id="260" r:id="Re474611a1dc04366"/>
    <p:sldId xmlns:r="http://schemas.openxmlformats.org/officeDocument/2006/relationships" id="261" r:id="Rc932997a1eb9475c"/>
    <p:sldId xmlns:r="http://schemas.openxmlformats.org/officeDocument/2006/relationships" id="262" r:id="R0fde7349c4f5438c"/>
    <p:sldId xmlns:r="http://schemas.openxmlformats.org/officeDocument/2006/relationships" id="263" r:id="R4f0d5893cf744aa4"/>
    <p:sldId xmlns:r="http://schemas.openxmlformats.org/officeDocument/2006/relationships" id="264" r:id="Rb94615766a104a4b"/>
    <p:sldId xmlns:r="http://schemas.openxmlformats.org/officeDocument/2006/relationships" id="265" r:id="R85422462d0b84824"/>
    <p:sldId xmlns:r="http://schemas.openxmlformats.org/officeDocument/2006/relationships" id="266" r:id="R708906cca4bd4789"/>
    <p:sldId xmlns:r="http://schemas.openxmlformats.org/officeDocument/2006/relationships" id="267" r:id="R1df8d34d72214854"/>
    <p:sldId xmlns:r="http://schemas.openxmlformats.org/officeDocument/2006/relationships" id="268" r:id="Ra081b5f8e5744b24"/>
    <p:sldId xmlns:r="http://schemas.openxmlformats.org/officeDocument/2006/relationships" id="269" r:id="Rdb0eaf85f0d744c9"/>
    <p:sldId xmlns:r="http://schemas.openxmlformats.org/officeDocument/2006/relationships" id="270" r:id="R0523b974339a4837"/>
    <p:sldId xmlns:r="http://schemas.openxmlformats.org/officeDocument/2006/relationships" id="271" r:id="Rf542af3b5c504802"/>
    <p:sldId xmlns:r="http://schemas.openxmlformats.org/officeDocument/2006/relationships" id="272" r:id="R138489fde4844a47"/>
    <p:sldId xmlns:r="http://schemas.openxmlformats.org/officeDocument/2006/relationships" id="273" r:id="R503606d7969241af"/>
    <p:sldId xmlns:r="http://schemas.openxmlformats.org/officeDocument/2006/relationships" id="274" r:id="R080c1617f44541cb"/>
    <p:sldId xmlns:r="http://schemas.openxmlformats.org/officeDocument/2006/relationships" id="275" r:id="R1e1284ac0d12426d"/>
    <p:sldId xmlns:r="http://schemas.openxmlformats.org/officeDocument/2006/relationships" id="276" r:id="R49f1d1bfb0b448f3"/>
    <p:sldId xmlns:r="http://schemas.openxmlformats.org/officeDocument/2006/relationships" id="277" r:id="Rd0b7b8aa179f4a0b"/>
    <p:sldId xmlns:r="http://schemas.openxmlformats.org/officeDocument/2006/relationships" id="278" r:id="R55d15c4a5876411c"/>
    <p:sldId xmlns:r="http://schemas.openxmlformats.org/officeDocument/2006/relationships" id="279" r:id="R37ce1101e0724ba5"/>
    <p:sldId xmlns:r="http://schemas.openxmlformats.org/officeDocument/2006/relationships" id="280" r:id="R0c525c6a910e4c32"/>
    <p:sldId xmlns:r="http://schemas.openxmlformats.org/officeDocument/2006/relationships" id="281" r:id="R2f53cd294fbe4224"/>
    <p:sldId xmlns:r="http://schemas.openxmlformats.org/officeDocument/2006/relationships" id="282" r:id="R18023414c1f84d69"/>
    <p:sldId xmlns:r="http://schemas.openxmlformats.org/officeDocument/2006/relationships" id="283" r:id="R4428bb23787c428a"/>
    <p:sldId xmlns:r="http://schemas.openxmlformats.org/officeDocument/2006/relationships" id="284" r:id="R53277508bd0b4451"/>
    <p:sldId xmlns:r="http://schemas.openxmlformats.org/officeDocument/2006/relationships" id="285" r:id="R551838da66bb4f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ea8ad848b4aa5" /><Relationship Type="http://schemas.openxmlformats.org/officeDocument/2006/relationships/theme" Target="/ppt/theme/theme1.xml" Id="R20fc6558b12347d1" /><Relationship Type="http://schemas.openxmlformats.org/officeDocument/2006/relationships/notesMaster" Target="/ppt/notesMasters/notesMaster1.xml" Id="Rd2e7e464dfc14249" /><Relationship Type="http://schemas.openxmlformats.org/officeDocument/2006/relationships/presProps" Target="/ppt/presProps.xml" Id="R42a8d98c9d894ebe" /><Relationship Type="http://schemas.openxmlformats.org/officeDocument/2006/relationships/viewProps" Target="/ppt/viewProps.xml" Id="R573e053355384997" /><Relationship Type="http://schemas.openxmlformats.org/officeDocument/2006/relationships/tableStyles" Target="/ppt/tableStyles.xml" Id="R24a5cf67e2164281" /><Relationship Type="http://schemas.openxmlformats.org/officeDocument/2006/relationships/slide" Target="/ppt/slides/slide1.xml" Id="R017a5e1c1cfa4020" /><Relationship Type="http://schemas.openxmlformats.org/officeDocument/2006/relationships/slide" Target="/ppt/slides/slide2.xml" Id="R83826f6bd31940f6" /><Relationship Type="http://schemas.openxmlformats.org/officeDocument/2006/relationships/slide" Target="/ppt/slides/slide3.xml" Id="Re803309142c94242" /><Relationship Type="http://schemas.openxmlformats.org/officeDocument/2006/relationships/slide" Target="/ppt/slides/slide4.xml" Id="R6cf58eba8b89493e" /><Relationship Type="http://schemas.openxmlformats.org/officeDocument/2006/relationships/slide" Target="/ppt/slides/slide5.xml" Id="Re474611a1dc04366" /><Relationship Type="http://schemas.openxmlformats.org/officeDocument/2006/relationships/slide" Target="/ppt/slides/slide6.xml" Id="Rc932997a1eb9475c" /><Relationship Type="http://schemas.openxmlformats.org/officeDocument/2006/relationships/slide" Target="/ppt/slides/slide7.xml" Id="R0fde7349c4f5438c" /><Relationship Type="http://schemas.openxmlformats.org/officeDocument/2006/relationships/slide" Target="/ppt/slides/slide8.xml" Id="R4f0d5893cf744aa4" /><Relationship Type="http://schemas.openxmlformats.org/officeDocument/2006/relationships/slide" Target="/ppt/slides/slide9.xml" Id="Rb94615766a104a4b" /><Relationship Type="http://schemas.openxmlformats.org/officeDocument/2006/relationships/slide" Target="/ppt/slides/slide10.xml" Id="R85422462d0b84824" /><Relationship Type="http://schemas.openxmlformats.org/officeDocument/2006/relationships/slide" Target="/ppt/slides/slide11.xml" Id="R708906cca4bd4789" /><Relationship Type="http://schemas.openxmlformats.org/officeDocument/2006/relationships/slide" Target="/ppt/slides/slide12.xml" Id="R1df8d34d72214854" /><Relationship Type="http://schemas.openxmlformats.org/officeDocument/2006/relationships/slide" Target="/ppt/slides/slide13.xml" Id="Ra081b5f8e5744b24" /><Relationship Type="http://schemas.openxmlformats.org/officeDocument/2006/relationships/slide" Target="/ppt/slides/slide14.xml" Id="Rdb0eaf85f0d744c9" /><Relationship Type="http://schemas.openxmlformats.org/officeDocument/2006/relationships/slide" Target="/ppt/slides/slide15.xml" Id="R0523b974339a4837" /><Relationship Type="http://schemas.openxmlformats.org/officeDocument/2006/relationships/slide" Target="/ppt/slides/slide16.xml" Id="Rf542af3b5c504802" /><Relationship Type="http://schemas.openxmlformats.org/officeDocument/2006/relationships/slide" Target="/ppt/slides/slide17.xml" Id="R138489fde4844a47" /><Relationship Type="http://schemas.openxmlformats.org/officeDocument/2006/relationships/slide" Target="/ppt/slides/slide18.xml" Id="R503606d7969241af" /><Relationship Type="http://schemas.openxmlformats.org/officeDocument/2006/relationships/slide" Target="/ppt/slides/slide19.xml" Id="R080c1617f44541cb" /><Relationship Type="http://schemas.openxmlformats.org/officeDocument/2006/relationships/slide" Target="/ppt/slides/slide20.xml" Id="R1e1284ac0d12426d" /><Relationship Type="http://schemas.openxmlformats.org/officeDocument/2006/relationships/slide" Target="/ppt/slides/slide21.xml" Id="R49f1d1bfb0b448f3" /><Relationship Type="http://schemas.openxmlformats.org/officeDocument/2006/relationships/slide" Target="/ppt/slides/slide22.xml" Id="Rd0b7b8aa179f4a0b" /><Relationship Type="http://schemas.openxmlformats.org/officeDocument/2006/relationships/slide" Target="/ppt/slides/slide23.xml" Id="R55d15c4a5876411c" /><Relationship Type="http://schemas.openxmlformats.org/officeDocument/2006/relationships/slide" Target="/ppt/slides/slide24.xml" Id="R37ce1101e0724ba5" /><Relationship Type="http://schemas.openxmlformats.org/officeDocument/2006/relationships/slide" Target="/ppt/slides/slide25.xml" Id="R0c525c6a910e4c32" /><Relationship Type="http://schemas.openxmlformats.org/officeDocument/2006/relationships/slide" Target="/ppt/slides/slide26.xml" Id="R2f53cd294fbe4224" /><Relationship Type="http://schemas.openxmlformats.org/officeDocument/2006/relationships/slide" Target="/ppt/slides/slide27.xml" Id="R18023414c1f84d69" /><Relationship Type="http://schemas.openxmlformats.org/officeDocument/2006/relationships/slide" Target="/ppt/slides/slide28.xml" Id="R4428bb23787c428a" /><Relationship Type="http://schemas.openxmlformats.org/officeDocument/2006/relationships/slide" Target="/ppt/slides/slide29.xml" Id="R53277508bd0b4451" /><Relationship Type="http://schemas.openxmlformats.org/officeDocument/2006/relationships/slide" Target="/ppt/slides/slide30.xml" Id="R551838da66bb4f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6b875ac506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63f3107de4f9e" /><Relationship Type="http://schemas.openxmlformats.org/officeDocument/2006/relationships/notesMaster" Target="/ppt/notesMasters/notesMaster1.xml" Id="Rb91b23e1def5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cbcacca774515" /><Relationship Type="http://schemas.openxmlformats.org/officeDocument/2006/relationships/notesMaster" Target="/ppt/notesMasters/notesMaster1.xml" Id="Rcf98dad5f62a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1092547b384265" /><Relationship Type="http://schemas.openxmlformats.org/officeDocument/2006/relationships/notesMaster" Target="/ppt/notesMasters/notesMaster1.xml" Id="R3af69e9d223b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fe32cec16a4850" /><Relationship Type="http://schemas.openxmlformats.org/officeDocument/2006/relationships/notesMaster" Target="/ppt/notesMasters/notesMaster1.xml" Id="Reba4e12b2d134e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11d21f47a431b" /><Relationship Type="http://schemas.openxmlformats.org/officeDocument/2006/relationships/notesMaster" Target="/ppt/notesMasters/notesMaster1.xml" Id="Re33a250b793e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125a464c84a39" /><Relationship Type="http://schemas.openxmlformats.org/officeDocument/2006/relationships/notesMaster" Target="/ppt/notesMasters/notesMaster1.xml" Id="R61ea91f133a541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dbaddab1474f13" /><Relationship Type="http://schemas.openxmlformats.org/officeDocument/2006/relationships/notesMaster" Target="/ppt/notesMasters/notesMaster1.xml" Id="Ra2c856a7e50841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0a85e799064a3b" /><Relationship Type="http://schemas.openxmlformats.org/officeDocument/2006/relationships/notesMaster" Target="/ppt/notesMasters/notesMaster1.xml" Id="R2560545bd1504d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13b2a7923d4a7d" /><Relationship Type="http://schemas.openxmlformats.org/officeDocument/2006/relationships/notesMaster" Target="/ppt/notesMasters/notesMaster1.xml" Id="R33ca9d1dbe9242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ba7227c64a4fd5" /><Relationship Type="http://schemas.openxmlformats.org/officeDocument/2006/relationships/notesMaster" Target="/ppt/notesMasters/notesMaster1.xml" Id="R3f8c0d1e98ad44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000f21a06f4d7e" /><Relationship Type="http://schemas.openxmlformats.org/officeDocument/2006/relationships/notesMaster" Target="/ppt/notesMasters/notesMaster1.xml" Id="R6f8e108eeb4e41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6d0304a0b64691" /><Relationship Type="http://schemas.openxmlformats.org/officeDocument/2006/relationships/notesMaster" Target="/ppt/notesMasters/notesMaster1.xml" Id="Raed8b001fba943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9b2f1106734a3e" /><Relationship Type="http://schemas.openxmlformats.org/officeDocument/2006/relationships/notesMaster" Target="/ppt/notesMasters/notesMaster1.xml" Id="Rd32846d897e94f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857e7290224de4" /><Relationship Type="http://schemas.openxmlformats.org/officeDocument/2006/relationships/notesMaster" Target="/ppt/notesMasters/notesMaster1.xml" Id="Rc5af5b617dbb4f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b651b98ef48f8" /><Relationship Type="http://schemas.openxmlformats.org/officeDocument/2006/relationships/notesMaster" Target="/ppt/notesMasters/notesMaster1.xml" Id="R411989761d0546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8b6aff10e34135" /><Relationship Type="http://schemas.openxmlformats.org/officeDocument/2006/relationships/notesMaster" Target="/ppt/notesMasters/notesMaster1.xml" Id="Rad3946960ac54e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1815957b0b41c0" /><Relationship Type="http://schemas.openxmlformats.org/officeDocument/2006/relationships/notesMaster" Target="/ppt/notesMasters/notesMaster1.xml" Id="R107c10a1d2a44f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4ca3ed50be4c51" /><Relationship Type="http://schemas.openxmlformats.org/officeDocument/2006/relationships/notesMaster" Target="/ppt/notesMasters/notesMaster1.xml" Id="R50a01c3a181344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ac4f3f52514390" /><Relationship Type="http://schemas.openxmlformats.org/officeDocument/2006/relationships/notesMaster" Target="/ppt/notesMasters/notesMaster1.xml" Id="R34680e4dad3743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2c759570ff4d37" /><Relationship Type="http://schemas.openxmlformats.org/officeDocument/2006/relationships/notesMaster" Target="/ppt/notesMasters/notesMaster1.xml" Id="R3e9c1081803b47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4e5e4481cf479e" /><Relationship Type="http://schemas.openxmlformats.org/officeDocument/2006/relationships/notesMaster" Target="/ppt/notesMasters/notesMaster1.xml" Id="Ra7014b95694b4f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fb2bd89f6349d6" /><Relationship Type="http://schemas.openxmlformats.org/officeDocument/2006/relationships/notesMaster" Target="/ppt/notesMasters/notesMaster1.xml" Id="R1a1cde741fa544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c84fcb9a0844d3" /><Relationship Type="http://schemas.openxmlformats.org/officeDocument/2006/relationships/notesMaster" Target="/ppt/notesMasters/notesMaster1.xml" Id="Ra48649225bb44c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e0e4133e9a4f1b" /><Relationship Type="http://schemas.openxmlformats.org/officeDocument/2006/relationships/notesMaster" Target="/ppt/notesMasters/notesMaster1.xml" Id="Rcfba3b52ba8d48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e95c605aee4a2a" /><Relationship Type="http://schemas.openxmlformats.org/officeDocument/2006/relationships/notesMaster" Target="/ppt/notesMasters/notesMaster1.xml" Id="R48b3d22f10ca44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0f891417f542ca" /><Relationship Type="http://schemas.openxmlformats.org/officeDocument/2006/relationships/notesMaster" Target="/ppt/notesMasters/notesMaster1.xml" Id="Re6e72d59ae624a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3f62eb45594baf" /><Relationship Type="http://schemas.openxmlformats.org/officeDocument/2006/relationships/notesMaster" Target="/ppt/notesMasters/notesMaster1.xml" Id="R29ac7aafec4c423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70ac59bfc14eda" /><Relationship Type="http://schemas.openxmlformats.org/officeDocument/2006/relationships/notesMaster" Target="/ppt/notesMasters/notesMaster1.xml" Id="R25be997ba9ac48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fbf933ac034f73" /><Relationship Type="http://schemas.openxmlformats.org/officeDocument/2006/relationships/notesMaster" Target="/ppt/notesMasters/notesMaster1.xml" Id="Rc0ab97a921d64f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44db8db51f444d" /><Relationship Type="http://schemas.openxmlformats.org/officeDocument/2006/relationships/notesMaster" Target="/ppt/notesMasters/notesMaster1.xml" Id="Rea4850084db44c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16a526aac4ef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1a946e2c204fd9" /><Relationship Type="http://schemas.openxmlformats.org/officeDocument/2006/relationships/slideLayout" Target="/ppt/slideLayouts/slideLayout2.xml" Id="R1e6f7e7acf85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f7e7acf85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3653febfe429f" /><Relationship Type="http://schemas.openxmlformats.org/officeDocument/2006/relationships/image" Target="/ppt/media/image.jpeg" Id="Rd968089bc0e046cc" /><Relationship Type="http://schemas.openxmlformats.org/officeDocument/2006/relationships/image" Target="/ppt/media/image.png" Id="Rcb4d41362bbd460d" /><Relationship Type="http://schemas.openxmlformats.org/officeDocument/2006/relationships/notesSlide" Target="/ppt/notesSlides/notesSlide1.xml" Id="Re1959c340f7f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5948567ee4603" /><Relationship Type="http://schemas.openxmlformats.org/officeDocument/2006/relationships/image" Target="/ppt/media/image2.png" Id="R91651fa1fdaf497c" /><Relationship Type="http://schemas.openxmlformats.org/officeDocument/2006/relationships/notesSlide" Target="/ppt/notesSlides/notesSlide2.xml" Id="R49327e7b84ba40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3e98bc5e9444a" /><Relationship Type="http://schemas.openxmlformats.org/officeDocument/2006/relationships/image" Target="/ppt/media/image3.png" Id="Rc26812d984804182" /><Relationship Type="http://schemas.openxmlformats.org/officeDocument/2006/relationships/notesSlide" Target="/ppt/notesSlides/notesSlide3.xml" Id="R16d352f5644d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dc4745b1e46c2" /><Relationship Type="http://schemas.openxmlformats.org/officeDocument/2006/relationships/image" Target="/ppt/media/image4.png" Id="Rfd18198adf344cf2" /><Relationship Type="http://schemas.openxmlformats.org/officeDocument/2006/relationships/notesSlide" Target="/ppt/notesSlides/notesSlide4.xml" Id="Rfc16b1f42c3742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3cacb4ece4370" /><Relationship Type="http://schemas.openxmlformats.org/officeDocument/2006/relationships/image" Target="/ppt/media/image5.png" Id="R5b0941e8816a4144" /><Relationship Type="http://schemas.openxmlformats.org/officeDocument/2006/relationships/notesSlide" Target="/ppt/notesSlides/notesSlide5.xml" Id="R0fc78fd95ab8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808ab13ba45cf" /><Relationship Type="http://schemas.openxmlformats.org/officeDocument/2006/relationships/image" Target="/ppt/media/image2.jpeg" Id="R72d2c4ac2b2d4f5a" /><Relationship Type="http://schemas.openxmlformats.org/officeDocument/2006/relationships/image" Target="/ppt/media/image6.png" Id="R11c48963925c4aa3" /><Relationship Type="http://schemas.openxmlformats.org/officeDocument/2006/relationships/notesSlide" Target="/ppt/notesSlides/notesSlide6.xml" Id="R9d9c78d32611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c7fb6185a49ca" /><Relationship Type="http://schemas.openxmlformats.org/officeDocument/2006/relationships/image" Target="/ppt/media/image7.png" Id="R76156a27b181400d" /><Relationship Type="http://schemas.openxmlformats.org/officeDocument/2006/relationships/notesSlide" Target="/ppt/notesSlides/notesSlide7.xml" Id="R22b420f37d8b4a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23dda5d814d29" /><Relationship Type="http://schemas.openxmlformats.org/officeDocument/2006/relationships/image" Target="/ppt/media/image8.png" Id="R1835e77717ad4576" /><Relationship Type="http://schemas.openxmlformats.org/officeDocument/2006/relationships/notesSlide" Target="/ppt/notesSlides/notesSlide8.xml" Id="R823623d8130a45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885f32e90481f" /><Relationship Type="http://schemas.openxmlformats.org/officeDocument/2006/relationships/image" Target="/ppt/media/image9.png" Id="R79c54f5a4de14921" /><Relationship Type="http://schemas.openxmlformats.org/officeDocument/2006/relationships/notesSlide" Target="/ppt/notesSlides/notesSlide9.xml" Id="R387a365bc6be49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6d72af0db4977" /><Relationship Type="http://schemas.openxmlformats.org/officeDocument/2006/relationships/image" Target="/ppt/media/image10.png" Id="R6af768f38ce845b9" /><Relationship Type="http://schemas.openxmlformats.org/officeDocument/2006/relationships/notesSlide" Target="/ppt/notesSlides/notesSlide10.xml" Id="R46e5bd8cbafa49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3b4b4dd9f6492f" /><Relationship Type="http://schemas.openxmlformats.org/officeDocument/2006/relationships/image" Target="/ppt/media/image11.png" Id="R04e26814a7034809" /><Relationship Type="http://schemas.openxmlformats.org/officeDocument/2006/relationships/notesSlide" Target="/ppt/notesSlides/notesSlide11.xml" Id="Rf01a18e63c504a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51233562854d49" /><Relationship Type="http://schemas.openxmlformats.org/officeDocument/2006/relationships/image" Target="/ppt/media/image3.jpeg" Id="Rc2227e938a494080" /><Relationship Type="http://schemas.openxmlformats.org/officeDocument/2006/relationships/image" Target="/ppt/media/image12.png" Id="Re1cca3f105154575" /><Relationship Type="http://schemas.openxmlformats.org/officeDocument/2006/relationships/notesSlide" Target="/ppt/notesSlides/notesSlide12.xml" Id="Rf99cda0328e64a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b526678bf42d9" /><Relationship Type="http://schemas.openxmlformats.org/officeDocument/2006/relationships/image" Target="/ppt/media/image13.png" Id="Rbe11e5a74b614a2b" /><Relationship Type="http://schemas.openxmlformats.org/officeDocument/2006/relationships/notesSlide" Target="/ppt/notesSlides/notesSlide13.xml" Id="R7647512f56c04c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c2288ecbe429a" /><Relationship Type="http://schemas.openxmlformats.org/officeDocument/2006/relationships/image" Target="/ppt/media/image14.png" Id="Rca263206da8944b3" /><Relationship Type="http://schemas.openxmlformats.org/officeDocument/2006/relationships/notesSlide" Target="/ppt/notesSlides/notesSlide14.xml" Id="R283638b70cfe48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0707118b948f8" /><Relationship Type="http://schemas.openxmlformats.org/officeDocument/2006/relationships/image" Target="/ppt/media/image15.png" Id="Rd8126d76943a441a" /><Relationship Type="http://schemas.openxmlformats.org/officeDocument/2006/relationships/notesSlide" Target="/ppt/notesSlides/notesSlide15.xml" Id="Rc4edf9268d6142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99dd26a40049d8" /><Relationship Type="http://schemas.openxmlformats.org/officeDocument/2006/relationships/image" Target="/ppt/media/image16.png" Id="Re08178b55d2e4b7a" /><Relationship Type="http://schemas.openxmlformats.org/officeDocument/2006/relationships/notesSlide" Target="/ppt/notesSlides/notesSlide16.xml" Id="Rab46fdb61e0c4e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e8044570e46a8" /><Relationship Type="http://schemas.openxmlformats.org/officeDocument/2006/relationships/image" Target="/ppt/media/image17.png" Id="Rf86e427370f54419" /><Relationship Type="http://schemas.openxmlformats.org/officeDocument/2006/relationships/notesSlide" Target="/ppt/notesSlides/notesSlide17.xml" Id="R0c108d16537546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07689777c401c" /><Relationship Type="http://schemas.openxmlformats.org/officeDocument/2006/relationships/image" Target="/ppt/media/image18.png" Id="Rd87345de5e9c4046" /><Relationship Type="http://schemas.openxmlformats.org/officeDocument/2006/relationships/notesSlide" Target="/ppt/notesSlides/notesSlide18.xml" Id="R57a6d1d209c54c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47159226ec41a2" /><Relationship Type="http://schemas.openxmlformats.org/officeDocument/2006/relationships/image" Target="/ppt/media/image19.png" Id="R6ef8ee9ee9604747" /><Relationship Type="http://schemas.openxmlformats.org/officeDocument/2006/relationships/notesSlide" Target="/ppt/notesSlides/notesSlide19.xml" Id="R6d4e53a52b9e40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5303ae7f64732" /><Relationship Type="http://schemas.openxmlformats.org/officeDocument/2006/relationships/image" Target="/ppt/media/image20.png" Id="Rf556897df51a42fe" /><Relationship Type="http://schemas.openxmlformats.org/officeDocument/2006/relationships/notesSlide" Target="/ppt/notesSlides/notesSlide20.xml" Id="R2323ea8ad40247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d30d96d23408c" /><Relationship Type="http://schemas.openxmlformats.org/officeDocument/2006/relationships/image" Target="/ppt/media/image21.png" Id="R75bab4b406d04c1a" /><Relationship Type="http://schemas.openxmlformats.org/officeDocument/2006/relationships/notesSlide" Target="/ppt/notesSlides/notesSlide21.xml" Id="R8361b58bff5f47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a7fee97c04dc4" /><Relationship Type="http://schemas.openxmlformats.org/officeDocument/2006/relationships/image" Target="/ppt/media/image22.png" Id="Re672b0b59b02479e" /><Relationship Type="http://schemas.openxmlformats.org/officeDocument/2006/relationships/notesSlide" Target="/ppt/notesSlides/notesSlide22.xml" Id="R66f971ebedbd45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aeca66d804a29" /><Relationship Type="http://schemas.openxmlformats.org/officeDocument/2006/relationships/image" Target="/ppt/media/image23.png" Id="R7a307e480a3849c4" /><Relationship Type="http://schemas.openxmlformats.org/officeDocument/2006/relationships/notesSlide" Target="/ppt/notesSlides/notesSlide23.xml" Id="R93d49acd5a774e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670dcc1c14c29" /><Relationship Type="http://schemas.openxmlformats.org/officeDocument/2006/relationships/image" Target="/ppt/media/image24.png" Id="Rdfc1ed46c8404e79" /><Relationship Type="http://schemas.openxmlformats.org/officeDocument/2006/relationships/notesSlide" Target="/ppt/notesSlides/notesSlide24.xml" Id="R10202c6a321948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747f549704573" /><Relationship Type="http://schemas.openxmlformats.org/officeDocument/2006/relationships/image" Target="/ppt/media/image25.png" Id="Rd09c67ccb7944bb4" /><Relationship Type="http://schemas.openxmlformats.org/officeDocument/2006/relationships/notesSlide" Target="/ppt/notesSlides/notesSlide25.xml" Id="Rde5621a29a184c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3d16bc44aa45e9" /><Relationship Type="http://schemas.openxmlformats.org/officeDocument/2006/relationships/image" Target="/ppt/media/image26.png" Id="R0cdd6978770549df" /><Relationship Type="http://schemas.openxmlformats.org/officeDocument/2006/relationships/notesSlide" Target="/ppt/notesSlides/notesSlide26.xml" Id="R1d75f2299e464c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47a6603f34863" /><Relationship Type="http://schemas.openxmlformats.org/officeDocument/2006/relationships/image" Target="/ppt/media/image27.png" Id="R4cbbae75f6ef405d" /><Relationship Type="http://schemas.openxmlformats.org/officeDocument/2006/relationships/notesSlide" Target="/ppt/notesSlides/notesSlide27.xml" Id="R73aff3a3848143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2858b9e164639" /><Relationship Type="http://schemas.openxmlformats.org/officeDocument/2006/relationships/image" Target="/ppt/media/image28.png" Id="Rd8f8fb269f8e4ef5" /><Relationship Type="http://schemas.openxmlformats.org/officeDocument/2006/relationships/notesSlide" Target="/ppt/notesSlides/notesSlide28.xml" Id="R419a109b30bc471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5a75f672745ab" /><Relationship Type="http://schemas.openxmlformats.org/officeDocument/2006/relationships/image" Target="/ppt/media/image29.png" Id="Rd8726768eee24dcb" /><Relationship Type="http://schemas.openxmlformats.org/officeDocument/2006/relationships/notesSlide" Target="/ppt/notesSlides/notesSlide29.xml" Id="Rc5ce50b4c2db49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9b090628141a5" /><Relationship Type="http://schemas.openxmlformats.org/officeDocument/2006/relationships/image" Target="/ppt/media/image4.jpeg" Id="Rbfcda45476f84f37" /><Relationship Type="http://schemas.openxmlformats.org/officeDocument/2006/relationships/image" Target="/ppt/media/image30.png" Id="R9977a1b76f784e3b" /><Relationship Type="http://schemas.openxmlformats.org/officeDocument/2006/relationships/notesSlide" Target="/ppt/notesSlides/notesSlide30.xml" Id="Rbd6d2cf229e34d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BD2037-DA3E-4826-BF19-414AC0E1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8089bc0e046cc"/>
          <a:srcRect xmlns:a="http://schemas.openxmlformats.org/drawingml/2006/main" l="0" t="3977" r="0" b="3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hero-overlay">
            <a:extLst xmlns:a="http://schemas.openxmlformats.org/drawingml/2006/main">
              <a:ext uri="{FF2B5EF4-FFF2-40B4-BE49-F238E27FC236}">
                <a16:creationId xmlns:a16="http://schemas.microsoft.com/office/drawing/2014/main" id="{061B6AD3-DAFB-4D4C-ADD1-E143240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7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blue-edge">
            <a:extLst xmlns:a="http://schemas.openxmlformats.org/drawingml/2006/main">
              <a:ext uri="{FF2B5EF4-FFF2-40B4-BE49-F238E27FC236}">
                <a16:creationId xmlns:a16="http://schemas.microsoft.com/office/drawing/2014/main" id="{5CB0BDB4-C1FD-4D43-BCA3-4E8C7D1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range-edge">
            <a:extLst xmlns:a="http://schemas.openxmlformats.org/drawingml/2006/main">
              <a:ext uri="{FF2B5EF4-FFF2-40B4-BE49-F238E27FC236}">
                <a16:creationId xmlns:a16="http://schemas.microsoft.com/office/drawing/2014/main" id="{79E200AE-BFB2-41AD-83E6-CBCA85B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d41362bbd460d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7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E22AD7E-4F96-401C-A1EA-AB61182C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8" name="company">
            <a:extLst xmlns:a="http://schemas.openxmlformats.org/drawingml/2006/main">
              <a:ext uri="{FF2B5EF4-FFF2-40B4-BE49-F238E27FC236}">
                <a16:creationId xmlns:a16="http://schemas.microsoft.com/office/drawing/2014/main" id="{964854E8-6F75-4D89-AE5C-053C361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BF0162-2289-4CED-96B4-18520614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3D12C6D-4D54-4DC5-9ADD-1468911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Local Service E-Commerce Marketplace</a:t>
            </a:r>
          </a:p>
        </p:txBody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44D7C31-964F-4E42-A4BF-A98A5123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For independent service providers and clients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A2758-8D38-417D-A3F1-720EEA95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0D50C41E-B692-4194-AC05-E860936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Discover, compare, book, and manage local services</a:t>
            </a:r>
          </a:p>
        </p:txBody>
      </p:sp>
      <p:sp>
        <p:nvSpPr>
          <p:cNvPr id="14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738966C0-1B78-4A81-873A-548B6D0B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One organized platform for the full service transaction</a:t>
            </a:r>
          </a:p>
        </p:txBody>
      </p:sp>
      <p:sp>
        <p:nvSpPr>
          <p:cNvPr id="15" name="presenter">
            <a:extLst xmlns:a="http://schemas.openxmlformats.org/drawingml/2006/main">
              <a:ext uri="{FF2B5EF4-FFF2-40B4-BE49-F238E27FC236}">
                <a16:creationId xmlns:a16="http://schemas.microsoft.com/office/drawing/2014/main" id="{3C47781B-6F2B-4B5D-8EE1-42777BF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Allen</a:t>
            </a:r>
          </a:p>
        </p:txBody>
      </p:sp>
    </p:spTree>
    <p:extLst>
      <p:ext uri="{BB962C8B-B14F-4D97-AF65-F5344CB8AC3E}">
        <p14:creationId xmlns:p14="http://schemas.microsoft.com/office/powerpoint/2010/main" val="657365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340B08-C716-4640-B579-6EE6E29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1fa1fdaf497c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A6E4D569-8753-4F6A-BBE7-6872717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2638FC3D-7ECC-4F07-A2DE-795C37D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3D6CE6-E2D2-4A89-928F-20135FB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7AF543-55E8-46A5-8ABF-2B8B0223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0948E0-DB7C-44C9-8FFA-66AAB382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Ideation starting point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8295A5-42F3-4A18-919E-60381C6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How Might We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0970B2-15FC-4B14-AF8E-7BC2B12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A823641E-D1A1-48C6-95E1-4BE5D16D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Jeremiah</a:t>
            </a:r>
          </a:p>
        </p:txBody>
      </p:sp>
      <p:sp>
        <p:nvSpPr>
          <p:cNvPr id="11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574B55A9-D8CD-4B1C-ADD1-6F673EFC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62225"/>
            <a:ext cx="6267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12" name="question">
            <a:extLst xmlns:a="http://schemas.openxmlformats.org/drawingml/2006/main">
              <a:ext uri="{FF2B5EF4-FFF2-40B4-BE49-F238E27FC236}">
                <a16:creationId xmlns:a16="http://schemas.microsoft.com/office/drawing/2014/main" id="{F3CB896D-6A96-490C-906A-A85A5D3A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552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“How might we help local service providers manage their client transactions in one organized platform?”</a:t>
            </a:r>
          </a:p>
        </p:txBody>
      </p:sp>
      <p:sp>
        <p:nvSpPr>
          <p:cNvPr id="13" name="channel-1">
            <a:extLst xmlns:a="http://schemas.openxmlformats.org/drawingml/2006/main">
              <a:ext uri="{FF2B5EF4-FFF2-40B4-BE49-F238E27FC236}">
                <a16:creationId xmlns:a16="http://schemas.microsoft.com/office/drawing/2014/main" id="{3B94C5F9-2DD1-47A6-92B9-4AC61277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224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4" name="channel-text-1">
            <a:extLst xmlns:a="http://schemas.openxmlformats.org/drawingml/2006/main">
              <a:ext uri="{FF2B5EF4-FFF2-40B4-BE49-F238E27FC236}">
                <a16:creationId xmlns:a16="http://schemas.microsoft.com/office/drawing/2014/main" id="{0530D224-5441-4863-AF0E-FD08F06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Communication</a:t>
            </a:r>
          </a:p>
        </p:txBody>
      </p:sp>
      <p:sp>
        <p:nvSpPr>
          <p:cNvPr id="15" name="channel-2">
            <a:extLst xmlns:a="http://schemas.openxmlformats.org/drawingml/2006/main">
              <a:ext uri="{FF2B5EF4-FFF2-40B4-BE49-F238E27FC236}">
                <a16:creationId xmlns:a16="http://schemas.microsoft.com/office/drawing/2014/main" id="{4AE841F9-2FC3-4552-8D23-1D86978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224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6" name="channel-text-2">
            <a:extLst xmlns:a="http://schemas.openxmlformats.org/drawingml/2006/main">
              <a:ext uri="{FF2B5EF4-FFF2-40B4-BE49-F238E27FC236}">
                <a16:creationId xmlns:a16="http://schemas.microsoft.com/office/drawing/2014/main" id="{1D8236FC-D0FD-412B-A72F-D2992053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Booking and scheduling</a:t>
            </a:r>
          </a:p>
        </p:txBody>
      </p:sp>
      <p:sp>
        <p:nvSpPr>
          <p:cNvPr id="17" name="channel-3">
            <a:extLst xmlns:a="http://schemas.openxmlformats.org/drawingml/2006/main">
              <a:ext uri="{FF2B5EF4-FFF2-40B4-BE49-F238E27FC236}">
                <a16:creationId xmlns:a16="http://schemas.microsoft.com/office/drawing/2014/main" id="{E16BA6AF-D3B0-477B-AD99-15FCB09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224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8" name="channel-text-3">
            <a:extLst xmlns:a="http://schemas.openxmlformats.org/drawingml/2006/main">
              <a:ext uri="{FF2B5EF4-FFF2-40B4-BE49-F238E27FC236}">
                <a16:creationId xmlns:a16="http://schemas.microsoft.com/office/drawing/2014/main" id="{C5702A24-6579-48D6-A08F-81C64180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57475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 updates</a:t>
            </a:r>
          </a:p>
        </p:txBody>
      </p:sp>
      <p:sp>
        <p:nvSpPr>
          <p:cNvPr id="19" name="channel-4">
            <a:extLst xmlns:a="http://schemas.openxmlformats.org/drawingml/2006/main">
              <a:ext uri="{FF2B5EF4-FFF2-40B4-BE49-F238E27FC236}">
                <a16:creationId xmlns:a16="http://schemas.microsoft.com/office/drawing/2014/main" id="{3DC16932-BE9E-4AB1-8831-2936814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52925"/>
            <a:ext cx="224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0" name="channel-text-4">
            <a:extLst xmlns:a="http://schemas.openxmlformats.org/drawingml/2006/main">
              <a:ext uri="{FF2B5EF4-FFF2-40B4-BE49-F238E27FC236}">
                <a16:creationId xmlns:a16="http://schemas.microsoft.com/office/drawing/2014/main" id="{9DDCACE3-2DAA-4E19-985A-C289738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24375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Payment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439F9-9658-41A3-AA6C-F80654D8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241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6F8B3-CEDC-4691-B656-8F4A2EEB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241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7DB5E-D1A8-4677-8F32-D69E738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81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57549-9239-4B88-9601-C6D0C0D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81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2944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98E5ADE-7AE0-4477-A4C9-513E5AE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812d984804182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8A19617-8EB6-470A-AA86-782662E3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241FF76E-1463-4F52-92B9-1FB1159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1DD346-9791-46BB-A332-5A0FEB0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1E1FC6-6F06-469F-AF14-4956794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AAA693A-3308-4AB9-873A-1EA2A55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Fragmented local service transactions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E82D7-0B1D-4EDD-BF26-39C6512F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Problem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CA5E37-028B-44EB-A927-9EDAE83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09C04987-FA69-4BB8-834A-6EFD0A2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Jeremiah</a:t>
            </a:r>
          </a:p>
        </p:txBody>
      </p:sp>
      <p:sp>
        <p:nvSpPr>
          <p:cNvPr id="11" name="problem-band-1">
            <a:extLst xmlns:a="http://schemas.openxmlformats.org/drawingml/2006/main">
              <a:ext uri="{FF2B5EF4-FFF2-40B4-BE49-F238E27FC236}">
                <a16:creationId xmlns:a16="http://schemas.microsoft.com/office/drawing/2014/main" id="{1D7977CA-DB89-4037-8DAD-D44BC2B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096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problem-accent-1">
            <a:extLst xmlns:a="http://schemas.openxmlformats.org/drawingml/2006/main">
              <a:ext uri="{FF2B5EF4-FFF2-40B4-BE49-F238E27FC236}">
                <a16:creationId xmlns:a16="http://schemas.microsoft.com/office/drawing/2014/main" id="{14F6FE6D-B590-442E-B020-4AB144C8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roblem-text-1">
            <a:extLst xmlns:a="http://schemas.openxmlformats.org/drawingml/2006/main">
              <a:ext uri="{FF2B5EF4-FFF2-40B4-BE49-F238E27FC236}">
                <a16:creationId xmlns:a16="http://schemas.microsoft.com/office/drawing/2014/main" id="{FAEA2B41-CB5D-40AC-A98C-A12DDF7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Providers advertise on Facebook, chat on Messenger, and follow up through SMS or calls</a:t>
            </a:r>
          </a:p>
        </p:txBody>
      </p:sp>
      <p:sp>
        <p:nvSpPr>
          <p:cNvPr id="14" name="problem-band-2">
            <a:extLst xmlns:a="http://schemas.openxmlformats.org/drawingml/2006/main">
              <a:ext uri="{FF2B5EF4-FFF2-40B4-BE49-F238E27FC236}">
                <a16:creationId xmlns:a16="http://schemas.microsoft.com/office/drawing/2014/main" id="{0FB7F00A-851F-4B7C-B340-C9498F0B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10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5" name="problem-accent-2">
            <a:extLst xmlns:a="http://schemas.openxmlformats.org/drawingml/2006/main">
              <a:ext uri="{FF2B5EF4-FFF2-40B4-BE49-F238E27FC236}">
                <a16:creationId xmlns:a16="http://schemas.microsoft.com/office/drawing/2014/main" id="{88F9013D-5D38-42BD-982D-57B971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blem-text-2">
            <a:extLst xmlns:a="http://schemas.openxmlformats.org/drawingml/2006/main">
              <a:ext uri="{FF2B5EF4-FFF2-40B4-BE49-F238E27FC236}">
                <a16:creationId xmlns:a16="http://schemas.microsoft.com/office/drawing/2014/main" id="{43D10D18-323A-4A30-82D6-B923DAC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842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Schedules and payment details are often tracked manually</a:t>
            </a:r>
          </a:p>
        </p:txBody>
      </p:sp>
      <p:sp>
        <p:nvSpPr>
          <p:cNvPr id="17" name="problem-band-3">
            <a:extLst xmlns:a="http://schemas.openxmlformats.org/drawingml/2006/main">
              <a:ext uri="{FF2B5EF4-FFF2-40B4-BE49-F238E27FC236}">
                <a16:creationId xmlns:a16="http://schemas.microsoft.com/office/drawing/2014/main" id="{28E3D312-C3FD-478F-A028-F1393166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8115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8" name="problem-accent-3">
            <a:extLst xmlns:a="http://schemas.openxmlformats.org/drawingml/2006/main">
              <a:ext uri="{FF2B5EF4-FFF2-40B4-BE49-F238E27FC236}">
                <a16:creationId xmlns:a16="http://schemas.microsoft.com/office/drawing/2014/main" id="{5BC82189-4F55-4E12-A4D1-A98B55E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roblem-text-3">
            <a:extLst xmlns:a="http://schemas.openxmlformats.org/drawingml/2006/main">
              <a:ext uri="{FF2B5EF4-FFF2-40B4-BE49-F238E27FC236}">
                <a16:creationId xmlns:a16="http://schemas.microsoft.com/office/drawing/2014/main" id="{E1065986-6140-403C-B8BE-692F3F89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Important information can easily be missed</a:t>
            </a:r>
          </a:p>
        </p:txBody>
      </p:sp>
    </p:spTree>
    <p:extLst>
      <p:ext uri="{BB962C8B-B14F-4D97-AF65-F5344CB8AC3E}">
        <p14:creationId xmlns:p14="http://schemas.microsoft.com/office/powerpoint/2010/main" val="1543346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CBE808-4663-4866-AA94-FBFF2570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8198adf344cf2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65B46BE-9849-4ADE-8044-EE37EA4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035BDAE5-2C99-495E-975C-DC904B60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3EC8E2-2916-403F-8358-50876E7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492C45-421A-40C2-BE0E-1A68885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25E5EB-D711-46DD-B9AC-3CD4E21D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Messages are separated across channels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ED7627-B342-469C-9EDD-7687753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Scattered Communication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22A8E3E-2B45-4DC5-92A4-A6B0EB8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951E3DD5-0B2B-4980-8C73-8F284BD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Jeremiah</a:t>
            </a:r>
          </a:p>
        </p:txBody>
      </p:sp>
      <p:sp>
        <p:nvSpPr>
          <p:cNvPr id="11" name="split-line">
            <a:extLst xmlns:a="http://schemas.openxmlformats.org/drawingml/2006/main">
              <a:ext uri="{FF2B5EF4-FFF2-40B4-BE49-F238E27FC236}">
                <a16:creationId xmlns:a16="http://schemas.microsoft.com/office/drawing/2014/main" id="{3599DBCF-ECB0-4566-9C62-641983C7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24100"/>
            <a:ext cx="38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catter-1">
            <a:extLst xmlns:a="http://schemas.openxmlformats.org/drawingml/2006/main">
              <a:ext uri="{FF2B5EF4-FFF2-40B4-BE49-F238E27FC236}">
                <a16:creationId xmlns:a16="http://schemas.microsoft.com/office/drawing/2014/main" id="{5FCADEC1-A1CD-4518-97F6-7532C9A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3" name="scatter-1-marker">
            <a:extLst xmlns:a="http://schemas.openxmlformats.org/drawingml/2006/main">
              <a:ext uri="{FF2B5EF4-FFF2-40B4-BE49-F238E27FC236}">
                <a16:creationId xmlns:a16="http://schemas.microsoft.com/office/drawing/2014/main" id="{3C94CB6E-7684-4A7E-9981-3ADFBF98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catter-1-text">
            <a:extLst xmlns:a="http://schemas.openxmlformats.org/drawingml/2006/main">
              <a:ext uri="{FF2B5EF4-FFF2-40B4-BE49-F238E27FC236}">
                <a16:creationId xmlns:a16="http://schemas.microsoft.com/office/drawing/2014/main" id="{CA54CB30-7B08-417D-97A2-457D6159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Inquiries may come from Messenger, SMS, calls, or social media</a:t>
            </a:r>
          </a:p>
        </p:txBody>
      </p:sp>
      <p:sp>
        <p:nvSpPr>
          <p:cNvPr id="15" name="scatter-2">
            <a:extLst xmlns:a="http://schemas.openxmlformats.org/drawingml/2006/main">
              <a:ext uri="{FF2B5EF4-FFF2-40B4-BE49-F238E27FC236}">
                <a16:creationId xmlns:a16="http://schemas.microsoft.com/office/drawing/2014/main" id="{7931E7C5-7AC5-49AA-B0FC-86CEAC6F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4095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6" name="scatter-2-marker">
            <a:extLst xmlns:a="http://schemas.openxmlformats.org/drawingml/2006/main">
              <a:ext uri="{FF2B5EF4-FFF2-40B4-BE49-F238E27FC236}">
                <a16:creationId xmlns:a16="http://schemas.microsoft.com/office/drawing/2014/main" id="{E078C0EB-3757-4F3B-ACCC-AB300237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catter-2-text">
            <a:extLst xmlns:a="http://schemas.openxmlformats.org/drawingml/2006/main">
              <a:ext uri="{FF2B5EF4-FFF2-40B4-BE49-F238E27FC236}">
                <a16:creationId xmlns:a16="http://schemas.microsoft.com/office/drawing/2014/main" id="{41FC5A83-ECC3-487D-AF0E-AABFB980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3371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Messages can get buried or forgotten</a:t>
            </a:r>
          </a:p>
        </p:txBody>
      </p:sp>
      <p:sp>
        <p:nvSpPr>
          <p:cNvPr id="18" name="scatter-3">
            <a:extLst xmlns:a="http://schemas.openxmlformats.org/drawingml/2006/main">
              <a:ext uri="{FF2B5EF4-FFF2-40B4-BE49-F238E27FC236}">
                <a16:creationId xmlns:a16="http://schemas.microsoft.com/office/drawing/2014/main" id="{53DD60AF-B779-49C6-B974-18A3360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4686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9" name="scatter-3-marker">
            <a:extLst xmlns:a="http://schemas.openxmlformats.org/drawingml/2006/main">
              <a:ext uri="{FF2B5EF4-FFF2-40B4-BE49-F238E27FC236}">
                <a16:creationId xmlns:a16="http://schemas.microsoft.com/office/drawing/2014/main" id="{AA76F4FD-3D31-49B0-9334-AE8B276E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catter-3-text">
            <a:extLst xmlns:a="http://schemas.openxmlformats.org/drawingml/2006/main">
              <a:ext uri="{FF2B5EF4-FFF2-40B4-BE49-F238E27FC236}">
                <a16:creationId xmlns:a16="http://schemas.microsoft.com/office/drawing/2014/main" id="{AC8A4882-A920-45A1-AC99-5EAD8B4F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24400"/>
            <a:ext cx="3962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Delayed responses can lead to lost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250663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7DA7621-4F41-41E2-AE32-A9B22ACC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941e8816a4144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B1A9481A-0802-4B70-9C01-4A25C07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D17C3936-042B-4AFB-9889-58E3653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15B27-5ABE-4B09-B3F6-37E2B8A1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88F46-B53D-4737-9701-3FAC0227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3FC372-B851-463E-9887-738F892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Manual handling creates friction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8D85C-BFE5-4BC7-BC14-55C5B6E7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Booking, Trust, and Transaction Problems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21CE04-12E5-4EE3-958B-EFBC3E5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9375E595-CDB3-4074-9991-C91317C8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Jeremiah</a:t>
            </a:r>
          </a:p>
        </p:txBody>
      </p:sp>
      <p:sp>
        <p:nvSpPr>
          <p:cNvPr id="11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FE5C6439-0335-4E65-903C-6D1E5D7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05125"/>
            <a:ext cx="967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122BB814-9E0B-4AE8-BC4A-9EF29FB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7726B7C3-8D33-4792-9F13-1D768408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A5FA6CD1-64A1-4DB4-A3F1-D6F96F0C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isk-1">
            <a:extLst xmlns:a="http://schemas.openxmlformats.org/drawingml/2006/main">
              <a:ext uri="{FF2B5EF4-FFF2-40B4-BE49-F238E27FC236}">
                <a16:creationId xmlns:a16="http://schemas.microsoft.com/office/drawing/2014/main" id="{6E744955-81AA-43EA-B59B-DB72B35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risk-accent-1">
            <a:extLst xmlns:a="http://schemas.openxmlformats.org/drawingml/2006/main">
              <a:ext uri="{FF2B5EF4-FFF2-40B4-BE49-F238E27FC236}">
                <a16:creationId xmlns:a16="http://schemas.microsoft.com/office/drawing/2014/main" id="{EDBAF89E-4F33-43BF-AC13-20EAF40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isk-text-1">
            <a:extLst xmlns:a="http://schemas.openxmlformats.org/drawingml/2006/main">
              <a:ext uri="{FF2B5EF4-FFF2-40B4-BE49-F238E27FC236}">
                <a16:creationId xmlns:a16="http://schemas.microsoft.com/office/drawing/2014/main" id="{B2A74D58-F929-4835-8DA1-5BA9DD7B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Scheduling conflicts and forgotten appointments</a:t>
            </a:r>
          </a:p>
        </p:txBody>
      </p:sp>
      <p:sp>
        <p:nvSpPr>
          <p:cNvPr id="18" name="risk-2">
            <a:extLst xmlns:a="http://schemas.openxmlformats.org/drawingml/2006/main">
              <a:ext uri="{FF2B5EF4-FFF2-40B4-BE49-F238E27FC236}">
                <a16:creationId xmlns:a16="http://schemas.microsoft.com/office/drawing/2014/main" id="{A36F5BFF-A7B1-46ED-9EB3-E74A1CD5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575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9" name="risk-accent-2">
            <a:extLst xmlns:a="http://schemas.openxmlformats.org/drawingml/2006/main">
              <a:ext uri="{FF2B5EF4-FFF2-40B4-BE49-F238E27FC236}">
                <a16:creationId xmlns:a16="http://schemas.microsoft.com/office/drawing/2014/main" id="{4E3F3102-DADF-4F3E-95AC-EF6D2F79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isk-text-2">
            <a:extLst xmlns:a="http://schemas.openxmlformats.org/drawingml/2006/main">
              <a:ext uri="{FF2B5EF4-FFF2-40B4-BE49-F238E27FC236}">
                <a16:creationId xmlns:a16="http://schemas.microsoft.com/office/drawing/2014/main" id="{715146E4-93BD-4506-B59D-2132222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Unclear service status and payment details</a:t>
            </a:r>
          </a:p>
        </p:txBody>
      </p:sp>
      <p:sp>
        <p:nvSpPr>
          <p:cNvPr id="21" name="risk-3">
            <a:extLst xmlns:a="http://schemas.openxmlformats.org/drawingml/2006/main">
              <a:ext uri="{FF2B5EF4-FFF2-40B4-BE49-F238E27FC236}">
                <a16:creationId xmlns:a16="http://schemas.microsoft.com/office/drawing/2014/main" id="{9CBA5B90-BC81-4819-B159-0E859ED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D2630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2" name="risk-accent-3">
            <a:extLst xmlns:a="http://schemas.openxmlformats.org/drawingml/2006/main">
              <a:ext uri="{FF2B5EF4-FFF2-40B4-BE49-F238E27FC236}">
                <a16:creationId xmlns:a16="http://schemas.microsoft.com/office/drawing/2014/main" id="{F9889E47-B45A-41F5-A2F7-93F1E33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isk-text-3">
            <a:extLst xmlns:a="http://schemas.openxmlformats.org/drawingml/2006/main">
              <a:ext uri="{FF2B5EF4-FFF2-40B4-BE49-F238E27FC236}">
                <a16:creationId xmlns:a16="http://schemas.microsoft.com/office/drawing/2014/main" id="{E5519220-46EF-4893-A01C-5B8FD75B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Limited proof of provider reputation or reliability</a:t>
            </a:r>
          </a:p>
        </p:txBody>
      </p:sp>
    </p:spTree>
    <p:extLst>
      <p:ext uri="{BB962C8B-B14F-4D97-AF65-F5344CB8AC3E}">
        <p14:creationId xmlns:p14="http://schemas.microsoft.com/office/powerpoint/2010/main" val="2879079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63A5F-0089-4647-87AD-32D240F5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c4ac2b2d4f5a"/>
          <a:srcRect xmlns:a="http://schemas.openxmlformats.org/drawingml/2006/main" l="28187" t="0" r="281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0"/>
            <a:ext cx="48958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photo-gradient-mask">
            <a:extLst xmlns:a="http://schemas.openxmlformats.org/drawingml/2006/main">
              <a:ext uri="{FF2B5EF4-FFF2-40B4-BE49-F238E27FC236}">
                <a16:creationId xmlns:a16="http://schemas.microsoft.com/office/drawing/2014/main" id="{948E15D0-A14E-47E8-A56D-883494E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0"/>
            <a:ext cx="1581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48963925c4aa3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5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DCD32C8B-BAAF-4792-A066-D036E98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6" name="company">
            <a:extLst xmlns:a="http://schemas.openxmlformats.org/drawingml/2006/main">
              <a:ext uri="{FF2B5EF4-FFF2-40B4-BE49-F238E27FC236}">
                <a16:creationId xmlns:a16="http://schemas.microsoft.com/office/drawing/2014/main" id="{3935C0FA-0787-450F-80B3-9BA722A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3400B5-0C85-4A3C-B83C-1F51C33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4953A09-D759-4B78-891C-8888AC64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esenter">
            <a:extLst xmlns:a="http://schemas.openxmlformats.org/drawingml/2006/main">
              <a:ext uri="{FF2B5EF4-FFF2-40B4-BE49-F238E27FC236}">
                <a16:creationId xmlns:a16="http://schemas.microsoft.com/office/drawing/2014/main" id="{F4B72231-B503-48CE-ABC5-38625B8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Allen</a:t>
            </a:r>
          </a:p>
        </p:txBody>
      </p:sp>
      <p:sp>
        <p:nvSpPr>
          <p:cNvPr id="1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B6FF35-4D54-4D9A-B41B-4F5B3DEB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783BB0-9106-4883-90E0-A5A99D8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19175"/>
            <a:ext cx="592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What we developed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CE531B-0521-4A23-8B3D-1BE4997A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638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Executive Summary</a:t>
            </a:r>
          </a:p>
        </p:txBody>
      </p:sp>
      <p:sp>
        <p:nvSpPr>
          <p:cNvPr id="13" name="editorial-line-1-marker">
            <a:extLst xmlns:a="http://schemas.openxmlformats.org/drawingml/2006/main">
              <a:ext uri="{FF2B5EF4-FFF2-40B4-BE49-F238E27FC236}">
                <a16:creationId xmlns:a16="http://schemas.microsoft.com/office/drawing/2014/main" id="{A4E72D90-8EF6-44FD-BC7D-5B6E9528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editorial-line-1-text">
            <a:extLst xmlns:a="http://schemas.openxmlformats.org/drawingml/2006/main">
              <a:ext uri="{FF2B5EF4-FFF2-40B4-BE49-F238E27FC236}">
                <a16:creationId xmlns:a16="http://schemas.microsoft.com/office/drawing/2014/main" id="{ADB0F65B-3FA6-49C5-B7E0-0F76CF8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565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 local service e-commerce marketplace</a:t>
            </a:r>
          </a:p>
        </p:txBody>
      </p:sp>
      <p:sp>
        <p:nvSpPr>
          <p:cNvPr id="15" name="editorial-line-2-marker">
            <a:extLst xmlns:a="http://schemas.openxmlformats.org/drawingml/2006/main">
              <a:ext uri="{FF2B5EF4-FFF2-40B4-BE49-F238E27FC236}">
                <a16:creationId xmlns:a16="http://schemas.microsoft.com/office/drawing/2014/main" id="{C06E63B2-223B-4ABB-9D4D-B16C8FE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ditorial-line-2-text">
            <a:extLst xmlns:a="http://schemas.openxmlformats.org/drawingml/2006/main">
              <a:ext uri="{FF2B5EF4-FFF2-40B4-BE49-F238E27FC236}">
                <a16:creationId xmlns:a16="http://schemas.microsoft.com/office/drawing/2014/main" id="{EA0542C1-64EE-48AA-95A5-4AAA121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565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commodity is a service, not a physical product</a:t>
            </a:r>
          </a:p>
        </p:txBody>
      </p:sp>
      <p:sp>
        <p:nvSpPr>
          <p:cNvPr id="17" name="editorial-line-3-marker">
            <a:extLst xmlns:a="http://schemas.openxmlformats.org/drawingml/2006/main">
              <a:ext uri="{FF2B5EF4-FFF2-40B4-BE49-F238E27FC236}">
                <a16:creationId xmlns:a16="http://schemas.microsoft.com/office/drawing/2014/main" id="{817186D3-FC37-4368-A6A1-AAB06DD7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editorial-line-3-text">
            <a:extLst xmlns:a="http://schemas.openxmlformats.org/drawingml/2006/main">
              <a:ext uri="{FF2B5EF4-FFF2-40B4-BE49-F238E27FC236}">
                <a16:creationId xmlns:a16="http://schemas.microsoft.com/office/drawing/2014/main" id="{D38E1DE1-B3EF-44DD-9728-FF1990C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565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Providers list services, receive bookings, coordinate quotations, and build reputation</a:t>
            </a:r>
          </a:p>
        </p:txBody>
      </p:sp>
    </p:spTree>
    <p:extLst>
      <p:ext uri="{BB962C8B-B14F-4D97-AF65-F5344CB8AC3E}">
        <p14:creationId xmlns:p14="http://schemas.microsoft.com/office/powerpoint/2010/main" val="20004517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2898E0D-AFCD-4C0A-B91C-FF11240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56a27b181400d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84204B98-C3AD-4252-81AF-475427A7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4483640F-E832-46C7-AD79-382AD10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D4D629-1545-4A4D-A3E7-62A859A4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20BDF3-EA5D-411E-A850-E0799BB7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53465F-FA9E-479C-BCBD-13A949E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Marketplace + service transaction process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8D159-0998-4C9B-ACA7-3076328F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Business Concept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43F27B-A3D6-4E7F-A6A3-3707371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5F84085D-3D4F-4634-A03A-38D2F7D0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Allen</a:t>
            </a:r>
          </a:p>
        </p:txBody>
      </p:sp>
      <p:sp>
        <p:nvSpPr>
          <p:cNvPr id="11" name="market-context">
            <a:extLst xmlns:a="http://schemas.openxmlformats.org/drawingml/2006/main">
              <a:ext uri="{FF2B5EF4-FFF2-40B4-BE49-F238E27FC236}">
                <a16:creationId xmlns:a16="http://schemas.microsoft.com/office/drawing/2014/main" id="{A11C9420-39A4-4EE1-B959-2BD4AB3A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590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market-context-text">
            <a:extLst xmlns:a="http://schemas.openxmlformats.org/drawingml/2006/main">
              <a:ext uri="{FF2B5EF4-FFF2-40B4-BE49-F238E27FC236}">
                <a16:creationId xmlns:a16="http://schemas.microsoft.com/office/drawing/2014/main" id="{BAD0CD40-EA95-4EFA-80BD-BA8DCB82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5257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Supports tutoring, photography, repair work, cleaning, design, and other local expertise</a:t>
            </a:r>
          </a:p>
        </p:txBody>
      </p:sp>
      <p:sp>
        <p:nvSpPr>
          <p:cNvPr id="13" name="seller-node">
            <a:extLst xmlns:a="http://schemas.openxmlformats.org/drawingml/2006/main">
              <a:ext uri="{FF2B5EF4-FFF2-40B4-BE49-F238E27FC236}">
                <a16:creationId xmlns:a16="http://schemas.microsoft.com/office/drawing/2014/main" id="{970645F5-10C7-409A-ADE8-51A76F0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4286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1557C0"/>
            </a:solidFill>
            <a:prstDash val="solid"/>
          </a:ln>
        </p:spPr>
      </p:sp>
      <p:sp>
        <p:nvSpPr>
          <p:cNvPr id="14" name="buyer-node">
            <a:extLst xmlns:a="http://schemas.openxmlformats.org/drawingml/2006/main">
              <a:ext uri="{FF2B5EF4-FFF2-40B4-BE49-F238E27FC236}">
                <a16:creationId xmlns:a16="http://schemas.microsoft.com/office/drawing/2014/main" id="{812B1508-6216-4065-91DB-DE49BE6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0025"/>
            <a:ext cx="4286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5" name="seller-text">
            <a:extLst xmlns:a="http://schemas.openxmlformats.org/drawingml/2006/main">
              <a:ext uri="{FF2B5EF4-FFF2-40B4-BE49-F238E27FC236}">
                <a16:creationId xmlns:a16="http://schemas.microsoft.com/office/drawing/2014/main" id="{0F30201B-AFA1-4F91-9AE1-B2873E3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363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acts as the seller</a:t>
            </a:r>
          </a:p>
        </p:txBody>
      </p:sp>
      <p:sp>
        <p:nvSpPr>
          <p:cNvPr id="16" name="buyer-text">
            <a:extLst xmlns:a="http://schemas.openxmlformats.org/drawingml/2006/main">
              <a:ext uri="{FF2B5EF4-FFF2-40B4-BE49-F238E27FC236}">
                <a16:creationId xmlns:a16="http://schemas.microsoft.com/office/drawing/2014/main" id="{265301C2-F06B-4DAA-AEC5-E800F6E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63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 acts as the buyer</a:t>
            </a:r>
          </a:p>
        </p:txBody>
      </p:sp>
      <p:sp>
        <p:nvSpPr>
          <p:cNvPr id="17" name="exchange-line">
            <a:extLst xmlns:a="http://schemas.openxmlformats.org/drawingml/2006/main">
              <a:ext uri="{FF2B5EF4-FFF2-40B4-BE49-F238E27FC236}">
                <a16:creationId xmlns:a16="http://schemas.microsoft.com/office/drawing/2014/main" id="{84AD67BC-8066-4548-A487-C4E74286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91050"/>
            <a:ext cx="2019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exchange-node">
            <a:extLst xmlns:a="http://schemas.openxmlformats.org/drawingml/2006/main">
              <a:ext uri="{FF2B5EF4-FFF2-40B4-BE49-F238E27FC236}">
                <a16:creationId xmlns:a16="http://schemas.microsoft.com/office/drawing/2014/main" id="{DEA5EB6E-E037-4325-9A58-3825553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8101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7ACAC5-879B-44F2-AB13-C60229B0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5e77717ad4576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1A1A9815-071C-42C6-AF6D-F3CA351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24C7E8C3-1347-4E86-B975-0F9CF1B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84A2EA-45FC-419D-BDE0-BB11801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41B06E-0318-4E97-8F84-DBC2DD7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FA711D-9B26-496F-933B-D8356B8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core promise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A35F49-204B-412D-B92E-A3AC8EE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Value Proposition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CAC185-4615-4DC5-AF79-7CEE9AAF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26D9E35B-A782-4890-B1DA-E8356481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Allen</a:t>
            </a:r>
          </a:p>
        </p:txBody>
      </p:sp>
      <p:sp>
        <p:nvSpPr>
          <p:cNvPr id="11" name="value-quote">
            <a:extLst xmlns:a="http://schemas.openxmlformats.org/drawingml/2006/main">
              <a:ext uri="{FF2B5EF4-FFF2-40B4-BE49-F238E27FC236}">
                <a16:creationId xmlns:a16="http://schemas.microsoft.com/office/drawing/2014/main" id="{69194F78-4F1F-478A-BAA5-B8C8E22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666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1557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7D157-A9E6-4CE1-B55C-CA82894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762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quote-text">
            <a:extLst xmlns:a="http://schemas.openxmlformats.org/drawingml/2006/main">
              <a:ext uri="{FF2B5EF4-FFF2-40B4-BE49-F238E27FC236}">
                <a16:creationId xmlns:a16="http://schemas.microsoft.com/office/drawing/2014/main" id="{68CEB61C-EB19-4380-9B51-6A367839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561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“Help clients find the right person for the job while helping providers turn their skills into visible and sellable service offerings.”</a:t>
            </a:r>
          </a:p>
        </p:txBody>
      </p:sp>
      <p:sp>
        <p:nvSpPr>
          <p:cNvPr id="14" name="benefit-1">
            <a:extLst xmlns:a="http://schemas.openxmlformats.org/drawingml/2006/main">
              <a:ext uri="{FF2B5EF4-FFF2-40B4-BE49-F238E27FC236}">
                <a16:creationId xmlns:a16="http://schemas.microsoft.com/office/drawing/2014/main" id="{5E964606-0501-4AFB-862B-9C0D9CB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5" name="benefit-text-1">
            <a:extLst xmlns:a="http://schemas.openxmlformats.org/drawingml/2006/main">
              <a:ext uri="{FF2B5EF4-FFF2-40B4-BE49-F238E27FC236}">
                <a16:creationId xmlns:a16="http://schemas.microsoft.com/office/drawing/2014/main" id="{1724FECA-395D-4787-A95F-FBB6EA1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Digital storefront for providers</a:t>
            </a:r>
          </a:p>
        </p:txBody>
      </p:sp>
      <p:sp>
        <p:nvSpPr>
          <p:cNvPr id="16" name="benefit-2">
            <a:extLst xmlns:a="http://schemas.openxmlformats.org/drawingml/2006/main">
              <a:ext uri="{FF2B5EF4-FFF2-40B4-BE49-F238E27FC236}">
                <a16:creationId xmlns:a16="http://schemas.microsoft.com/office/drawing/2014/main" id="{846206C7-818A-4D08-B0AC-D76F6558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benefit-text-2">
            <a:extLst xmlns:a="http://schemas.openxmlformats.org/drawingml/2006/main">
              <a:ext uri="{FF2B5EF4-FFF2-40B4-BE49-F238E27FC236}">
                <a16:creationId xmlns:a16="http://schemas.microsoft.com/office/drawing/2014/main" id="{AD8B6105-0D2B-4819-9461-B26BEC56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Less app-switching for clients</a:t>
            </a:r>
          </a:p>
        </p:txBody>
      </p:sp>
      <p:sp>
        <p:nvSpPr>
          <p:cNvPr id="18" name="benefit-3">
            <a:extLst xmlns:a="http://schemas.openxmlformats.org/drawingml/2006/main">
              <a:ext uri="{FF2B5EF4-FFF2-40B4-BE49-F238E27FC236}">
                <a16:creationId xmlns:a16="http://schemas.microsoft.com/office/drawing/2014/main" id="{F42D4BC1-C890-4BC4-888F-C40C661F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9" name="benefit-text-3">
            <a:extLst xmlns:a="http://schemas.openxmlformats.org/drawingml/2006/main">
              <a:ext uri="{FF2B5EF4-FFF2-40B4-BE49-F238E27FC236}">
                <a16:creationId xmlns:a16="http://schemas.microsoft.com/office/drawing/2014/main" id="{B25E954C-FE71-4868-B7DD-2F8DCFA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More structured service transactions</a:t>
            </a:r>
          </a:p>
        </p:txBody>
      </p:sp>
    </p:spTree>
    <p:extLst>
      <p:ext uri="{BB962C8B-B14F-4D97-AF65-F5344CB8AC3E}">
        <p14:creationId xmlns:p14="http://schemas.microsoft.com/office/powerpoint/2010/main" val="13703015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B113FC5-D3DD-431E-80BD-692963C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54f5a4de14921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164C0684-07AB-42CB-A314-0A596AA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9D38C0A8-9C54-4205-9AFB-04801C9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1081F7-8C82-4D11-B9D9-DFFBC67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EF006D-A864-4CF1-A87F-1257689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8F0E6E-BFFC-456C-AD4C-5BDD6E1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Services can be bought and sold digitally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4FCBDD-9EAC-4E5A-8F66-496ED2D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Why It Is E-Commerce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83ACA0-9792-4FAF-9319-F419AEB9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1FD819B5-966B-4E61-82E1-72B12A8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Lance</a:t>
            </a:r>
          </a:p>
        </p:txBody>
      </p:sp>
      <p:sp>
        <p:nvSpPr>
          <p:cNvPr id="11" name="service-object">
            <a:extLst xmlns:a="http://schemas.openxmlformats.org/drawingml/2006/main">
              <a:ext uri="{FF2B5EF4-FFF2-40B4-BE49-F238E27FC236}">
                <a16:creationId xmlns:a16="http://schemas.microsoft.com/office/drawing/2014/main" id="{42C3833E-EA6D-4A43-B9BA-56ED383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0629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service-object-text">
            <a:extLst xmlns:a="http://schemas.openxmlformats.org/drawingml/2006/main">
              <a:ext uri="{FF2B5EF4-FFF2-40B4-BE49-F238E27FC236}">
                <a16:creationId xmlns:a16="http://schemas.microsoft.com/office/drawing/2014/main" id="{EE93ABFE-6B15-4D64-AAB3-3CB5623F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98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product being exchanged is a service</a:t>
            </a:r>
          </a:p>
        </p:txBody>
      </p:sp>
      <p:sp>
        <p:nvSpPr>
          <p:cNvPr id="13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CBC6DE4B-4B55-4BA8-8380-D06F2A79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62400"/>
            <a:ext cx="927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75D2BC6B-F23C-4210-9F6A-6AEE4C88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7A976026-2ECD-4B93-86EA-9D6146C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FFCF23D9-98AB-4625-98D9-1D28576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56C5C222-7AF3-4C6F-A603-CA3FF7B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equence-node-5">
            <a:extLst xmlns:a="http://schemas.openxmlformats.org/drawingml/2006/main">
              <a:ext uri="{FF2B5EF4-FFF2-40B4-BE49-F238E27FC236}">
                <a16:creationId xmlns:a16="http://schemas.microsoft.com/office/drawing/2014/main" id="{5E432AD3-4AA3-4F90-8332-7E4515DC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975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equence-node-6">
            <a:extLst xmlns:a="http://schemas.openxmlformats.org/drawingml/2006/main">
              <a:ext uri="{FF2B5EF4-FFF2-40B4-BE49-F238E27FC236}">
                <a16:creationId xmlns:a16="http://schemas.microsoft.com/office/drawing/2014/main" id="{A5DD607E-93F4-46F0-A972-56D636E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equence-node-7">
            <a:extLst xmlns:a="http://schemas.openxmlformats.org/drawingml/2006/main">
              <a:ext uri="{FF2B5EF4-FFF2-40B4-BE49-F238E27FC236}">
                <a16:creationId xmlns:a16="http://schemas.microsoft.com/office/drawing/2014/main" id="{1250C847-38F4-4F0F-9D22-B195DD9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ommerce-process">
            <a:extLst xmlns:a="http://schemas.openxmlformats.org/drawingml/2006/main">
              <a:ext uri="{FF2B5EF4-FFF2-40B4-BE49-F238E27FC236}">
                <a16:creationId xmlns:a16="http://schemas.microsoft.com/office/drawing/2014/main" id="{AE6A75A8-5340-40C1-97F3-7869C8F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629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2" name="commerce-process-text">
            <a:extLst xmlns:a="http://schemas.openxmlformats.org/drawingml/2006/main">
              <a:ext uri="{FF2B5EF4-FFF2-40B4-BE49-F238E27FC236}">
                <a16:creationId xmlns:a16="http://schemas.microsoft.com/office/drawing/2014/main" id="{4B05B107-C0FA-4325-AE94-FCB2EE0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98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platform supports discovery, comparison, booking, quotation, payment coordination, completion, and review</a:t>
            </a:r>
          </a:p>
        </p:txBody>
      </p:sp>
      <p:sp>
        <p:nvSpPr>
          <p:cNvPr id="23" name="commerce-close">
            <a:extLst xmlns:a="http://schemas.openxmlformats.org/drawingml/2006/main">
              <a:ext uri="{FF2B5EF4-FFF2-40B4-BE49-F238E27FC236}">
                <a16:creationId xmlns:a16="http://schemas.microsoft.com/office/drawing/2014/main" id="{1CFC2B85-3EC9-4737-80FE-2240B80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00675"/>
            <a:ext cx="906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E-commerce marketplace concepts are applied to local services</a:t>
            </a:r>
          </a:p>
        </p:txBody>
      </p:sp>
    </p:spTree>
    <p:extLst>
      <p:ext uri="{BB962C8B-B14F-4D97-AF65-F5344CB8AC3E}">
        <p14:creationId xmlns:p14="http://schemas.microsoft.com/office/powerpoint/2010/main" val="765739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D14BC8-CD07-4CD2-A313-0FD40D3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768f38ce845b9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0B090B1-FBDB-4BCB-B29F-D475AE5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671C6554-F935-432C-92D5-2280CD92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86AC92-396B-4CB6-B05B-EE87D45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F2AF2F-EB90-4EF4-8474-263B12B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7A3E67-4EEF-4D48-8509-37CB15E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What the project aims to accomplish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F07E05-9019-4434-87E4-12D06B9A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Objectives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2FB53-D293-4C87-8756-137E175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F5F3EC2A-7CF7-4D95-9486-E56BFFC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Lance</a:t>
            </a:r>
          </a:p>
        </p:txBody>
      </p:sp>
      <p:sp>
        <p:nvSpPr>
          <p:cNvPr id="11" name="objective-1">
            <a:extLst xmlns:a="http://schemas.openxmlformats.org/drawingml/2006/main">
              <a:ext uri="{FF2B5EF4-FFF2-40B4-BE49-F238E27FC236}">
                <a16:creationId xmlns:a16="http://schemas.microsoft.com/office/drawing/2014/main" id="{D40D1468-97AD-4879-840C-1EDB341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objective-text-1">
            <a:extLst xmlns:a="http://schemas.openxmlformats.org/drawingml/2006/main">
              <a:ext uri="{FF2B5EF4-FFF2-40B4-BE49-F238E27FC236}">
                <a16:creationId xmlns:a16="http://schemas.microsoft.com/office/drawing/2014/main" id="{7F6D2FB5-6B2A-464E-95B8-BA24B06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009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Create a dedicated service marketplace</a:t>
            </a:r>
          </a:p>
        </p:txBody>
      </p:sp>
      <p:sp>
        <p:nvSpPr>
          <p:cNvPr id="13" name="objective-connector-1">
            <a:extLst xmlns:a="http://schemas.openxmlformats.org/drawingml/2006/main">
              <a:ext uri="{FF2B5EF4-FFF2-40B4-BE49-F238E27FC236}">
                <a16:creationId xmlns:a16="http://schemas.microsoft.com/office/drawing/2014/main" id="{8714B7CA-9376-42C7-9076-7B539A0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2925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bjective-2">
            <a:extLst xmlns:a="http://schemas.openxmlformats.org/drawingml/2006/main">
              <a:ext uri="{FF2B5EF4-FFF2-40B4-BE49-F238E27FC236}">
                <a16:creationId xmlns:a16="http://schemas.microsoft.com/office/drawing/2014/main" id="{8029458C-F73B-4527-A8F9-AAFC0CB2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5" name="objective-text-2">
            <a:extLst xmlns:a="http://schemas.openxmlformats.org/drawingml/2006/main">
              <a:ext uri="{FF2B5EF4-FFF2-40B4-BE49-F238E27FC236}">
                <a16:creationId xmlns:a16="http://schemas.microsoft.com/office/drawing/2014/main" id="{43B8E463-884D-425C-B3E5-AC51A54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38650"/>
            <a:ext cx="2009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Make it easier to browse and compare providers</a:t>
            </a:r>
          </a:p>
        </p:txBody>
      </p:sp>
      <p:sp>
        <p:nvSpPr>
          <p:cNvPr id="16" name="objective-connector-2">
            <a:extLst xmlns:a="http://schemas.openxmlformats.org/drawingml/2006/main">
              <a:ext uri="{FF2B5EF4-FFF2-40B4-BE49-F238E27FC236}">
                <a16:creationId xmlns:a16="http://schemas.microsoft.com/office/drawing/2014/main" id="{CFA6F575-649B-4A27-B797-1BCC8E5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74345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bjective-3">
            <a:extLst xmlns:a="http://schemas.openxmlformats.org/drawingml/2006/main">
              <a:ext uri="{FF2B5EF4-FFF2-40B4-BE49-F238E27FC236}">
                <a16:creationId xmlns:a16="http://schemas.microsoft.com/office/drawing/2014/main" id="{0747EDA6-90F5-4996-8A1E-A80AFD4D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8" name="objective-text-3">
            <a:extLst xmlns:a="http://schemas.openxmlformats.org/drawingml/2006/main">
              <a:ext uri="{FF2B5EF4-FFF2-40B4-BE49-F238E27FC236}">
                <a16:creationId xmlns:a16="http://schemas.microsoft.com/office/drawing/2014/main" id="{8DF6C0BA-96DC-44A2-A057-CD20F50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2009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Centralize the service transaction process</a:t>
            </a:r>
          </a:p>
        </p:txBody>
      </p:sp>
      <p:sp>
        <p:nvSpPr>
          <p:cNvPr id="19" name="objective-connector-3">
            <a:extLst xmlns:a="http://schemas.openxmlformats.org/drawingml/2006/main">
              <a:ext uri="{FF2B5EF4-FFF2-40B4-BE49-F238E27FC236}">
                <a16:creationId xmlns:a16="http://schemas.microsoft.com/office/drawing/2014/main" id="{C084AC9C-43AD-40FA-8903-50A945C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5765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bjective-4">
            <a:extLst xmlns:a="http://schemas.openxmlformats.org/drawingml/2006/main">
              <a:ext uri="{FF2B5EF4-FFF2-40B4-BE49-F238E27FC236}">
                <a16:creationId xmlns:a16="http://schemas.microsoft.com/office/drawing/2014/main" id="{E2ABDDB1-061B-4832-9E9D-93E0B8C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1" name="objective-text-4">
            <a:extLst xmlns:a="http://schemas.openxmlformats.org/drawingml/2006/main">
              <a:ext uri="{FF2B5EF4-FFF2-40B4-BE49-F238E27FC236}">
                <a16:creationId xmlns:a16="http://schemas.microsoft.com/office/drawing/2014/main" id="{CDE33346-4A5C-4468-AC27-07790915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2009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Develop a sustainable revenue model</a:t>
            </a:r>
          </a:p>
        </p:txBody>
      </p:sp>
    </p:spTree>
    <p:extLst>
      <p:ext uri="{BB962C8B-B14F-4D97-AF65-F5344CB8AC3E}">
        <p14:creationId xmlns:p14="http://schemas.microsoft.com/office/powerpoint/2010/main" val="1419161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300A0B-7457-4D0F-8816-7366783A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6814a7034809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ED0CFFD6-9369-4500-A06A-AF5FCEEB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94BD6F5D-1505-4E12-B3F1-BC93F0D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C6FE91-6DA3-4D81-805B-674CFBDA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BC63055-533C-4C5C-9229-461DBC5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999A2D-437D-4861-B5A6-AAAE912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Two-sided marketplace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5DDEB9-B823-478D-9D78-3FC534C7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Target Market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4767475-01F6-4369-BF62-97ADBB66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6CA7D90A-1EAF-44AA-97D8-AE3C7CB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Lance</a:t>
            </a:r>
          </a:p>
        </p:txBody>
      </p:sp>
      <p:sp>
        <p:nvSpPr>
          <p:cNvPr id="11" name="provider-market">
            <a:extLst xmlns:a="http://schemas.openxmlformats.org/drawingml/2006/main">
              <a:ext uri="{FF2B5EF4-FFF2-40B4-BE49-F238E27FC236}">
                <a16:creationId xmlns:a16="http://schemas.microsoft.com/office/drawing/2014/main" id="{3EF2D09D-302F-4326-9A50-10A8ED2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0101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1557C0"/>
            </a:solidFill>
            <a:prstDash val="solid"/>
          </a:ln>
        </p:spPr>
      </p:sp>
      <p:sp>
        <p:nvSpPr>
          <p:cNvPr id="12" name="client-market">
            <a:extLst xmlns:a="http://schemas.openxmlformats.org/drawingml/2006/main">
              <a:ext uri="{FF2B5EF4-FFF2-40B4-BE49-F238E27FC236}">
                <a16:creationId xmlns:a16="http://schemas.microsoft.com/office/drawing/2014/main" id="{E31BB838-9250-4378-B63D-C04285B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50101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3" name="provider-primary">
            <a:extLst xmlns:a="http://schemas.openxmlformats.org/drawingml/2006/main">
              <a:ext uri="{FF2B5EF4-FFF2-40B4-BE49-F238E27FC236}">
                <a16:creationId xmlns:a16="http://schemas.microsoft.com/office/drawing/2014/main" id="{6DBCB5CB-AC74-434C-AB8C-696B7A7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4248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Independent service providers, freelancers, professionals, and small service businesses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D52DB-593A-473F-A486-2DEF854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vider-examples">
            <a:extLst xmlns:a="http://schemas.openxmlformats.org/drawingml/2006/main">
              <a:ext uri="{FF2B5EF4-FFF2-40B4-BE49-F238E27FC236}">
                <a16:creationId xmlns:a16="http://schemas.microsoft.com/office/drawing/2014/main" id="{2A242394-4B98-4CF2-BBED-55A2EEC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4248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Tutors, photographers, repair technicians, designers, cleaners, and other skilled workers</a:t>
            </a:r>
          </a:p>
        </p:txBody>
      </p:sp>
      <p:sp>
        <p:nvSpPr>
          <p:cNvPr id="16" name="client-primary">
            <a:extLst xmlns:a="http://schemas.openxmlformats.org/drawingml/2006/main">
              <a:ext uri="{FF2B5EF4-FFF2-40B4-BE49-F238E27FC236}">
                <a16:creationId xmlns:a16="http://schemas.microsoft.com/office/drawing/2014/main" id="{7DDD1A42-EDCB-4B5A-84AC-AEF98E0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4248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Clients such as individuals, groups, families, or businesses looking for local services</a:t>
            </a:r>
          </a:p>
        </p:txBody>
      </p:sp>
      <p:sp>
        <p:nvSpPr>
          <p:cNvPr id="17" name="market-bridge">
            <a:extLst xmlns:a="http://schemas.openxmlformats.org/drawingml/2006/main">
              <a:ext uri="{FF2B5EF4-FFF2-40B4-BE49-F238E27FC236}">
                <a16:creationId xmlns:a16="http://schemas.microsoft.com/office/drawing/2014/main" id="{7A103F60-3B87-4F81-B22B-E86718C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385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4473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391A29-3BE0-4989-AFF2-979FBCD1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27e938a494080"/>
          <a:srcRect xmlns:a="http://schemas.openxmlformats.org/drawingml/2006/main" l="0" t="3977" r="0" b="3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photo-overlay">
            <a:extLst xmlns:a="http://schemas.openxmlformats.org/drawingml/2006/main">
              <a:ext uri="{FF2B5EF4-FFF2-40B4-BE49-F238E27FC236}">
                <a16:creationId xmlns:a16="http://schemas.microsoft.com/office/drawing/2014/main" id="{A3D0AEA4-6ED9-4D5A-B6EE-82F27D82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ca3f105154575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5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ADADF47A-8308-4B4E-B35C-A40BAB3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6" name="company">
            <a:extLst xmlns:a="http://schemas.openxmlformats.org/drawingml/2006/main">
              <a:ext uri="{FF2B5EF4-FFF2-40B4-BE49-F238E27FC236}">
                <a16:creationId xmlns:a16="http://schemas.microsoft.com/office/drawing/2014/main" id="{8EBBE032-567C-44F8-BB39-B2269F9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6AAC1D-5038-4254-83F9-9582499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370BA1-4086-4CE4-9818-5893A58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A9805E-066B-47E2-954F-7F756B6E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Organizing existing behavior</a:t>
            </a:r>
          </a:p>
        </p:txBody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DDEE8-0B19-4233-AD5D-1654F0E0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Problem Opportunity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0BAECB-50FC-4EF6-89C1-90B8163C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esenter">
            <a:extLst xmlns:a="http://schemas.openxmlformats.org/drawingml/2006/main">
              <a:ext uri="{FF2B5EF4-FFF2-40B4-BE49-F238E27FC236}">
                <a16:creationId xmlns:a16="http://schemas.microsoft.com/office/drawing/2014/main" id="{3B1F80E2-6802-453E-8280-F430222F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Lance</a:t>
            </a:r>
          </a:p>
        </p:txBody>
      </p:sp>
      <p:sp>
        <p:nvSpPr>
          <p:cNvPr id="13" name="behavior-panel">
            <a:extLst xmlns:a="http://schemas.openxmlformats.org/drawingml/2006/main">
              <a:ext uri="{FF2B5EF4-FFF2-40B4-BE49-F238E27FC236}">
                <a16:creationId xmlns:a16="http://schemas.microsoft.com/office/drawing/2014/main" id="{755A5368-2663-45FC-9344-FEB5B86A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11827">
              <a:alpha val="84706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behavior-accent-1">
            <a:extLst xmlns:a="http://schemas.openxmlformats.org/drawingml/2006/main">
              <a:ext uri="{FF2B5EF4-FFF2-40B4-BE49-F238E27FC236}">
                <a16:creationId xmlns:a16="http://schemas.microsoft.com/office/drawing/2014/main" id="{AA35FAEB-33B4-4ADD-89AC-A9B08F7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2686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ehavior-text-1">
            <a:extLst xmlns:a="http://schemas.openxmlformats.org/drawingml/2006/main">
              <a:ext uri="{FF2B5EF4-FFF2-40B4-BE49-F238E27FC236}">
                <a16:creationId xmlns:a16="http://schemas.microsoft.com/office/drawing/2014/main" id="{A2AFE6CC-C816-4F24-ACB2-4EF650F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People already buy and sell local services every day</a:t>
            </a:r>
          </a:p>
        </p:txBody>
      </p:sp>
      <p:sp>
        <p:nvSpPr>
          <p:cNvPr id="16" name="behavior-accent-2">
            <a:extLst xmlns:a="http://schemas.openxmlformats.org/drawingml/2006/main">
              <a:ext uri="{FF2B5EF4-FFF2-40B4-BE49-F238E27FC236}">
                <a16:creationId xmlns:a16="http://schemas.microsoft.com/office/drawing/2014/main" id="{4B313884-9657-4202-9596-2486EBC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2686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ehavior-text-2">
            <a:extLst xmlns:a="http://schemas.openxmlformats.org/drawingml/2006/main">
              <a:ext uri="{FF2B5EF4-FFF2-40B4-BE49-F238E27FC236}">
                <a16:creationId xmlns:a16="http://schemas.microsoft.com/office/drawing/2014/main" id="{19AB9265-1557-4D39-8C28-9E0DE7E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Many transactions are still under-structured</a:t>
            </a:r>
          </a:p>
        </p:txBody>
      </p:sp>
      <p:sp>
        <p:nvSpPr>
          <p:cNvPr id="18" name="behavior-accent-3">
            <a:extLst xmlns:a="http://schemas.openxmlformats.org/drawingml/2006/main">
              <a:ext uri="{FF2B5EF4-FFF2-40B4-BE49-F238E27FC236}">
                <a16:creationId xmlns:a16="http://schemas.microsoft.com/office/drawing/2014/main" id="{93400504-C3A9-4717-97CF-D790437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686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behavior-text-3">
            <a:extLst xmlns:a="http://schemas.openxmlformats.org/drawingml/2006/main">
              <a:ext uri="{FF2B5EF4-FFF2-40B4-BE49-F238E27FC236}">
                <a16:creationId xmlns:a16="http://schemas.microsoft.com/office/drawing/2014/main" id="{AB7036C2-078C-49C2-8AA5-BA54530C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organizes this behavior through a digital marketplace</a:t>
            </a:r>
          </a:p>
        </p:txBody>
      </p:sp>
    </p:spTree>
    <p:extLst>
      <p:ext uri="{BB962C8B-B14F-4D97-AF65-F5344CB8AC3E}">
        <p14:creationId xmlns:p14="http://schemas.microsoft.com/office/powerpoint/2010/main" val="20232793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DC6D35-8D0C-4757-B9FA-2A756449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1e5a74b614a2b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D188A58-CE97-4311-A53A-D69E7D3F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B5C911FA-81A4-48A7-B064-00BA608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A821C3-6B9F-43F1-9FDE-232A19FF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FF37DD1-B85D-4A5C-9EA6-7816565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964289-8743-4891-B418-3D94DFD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Built around the full service transaction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92198B-13BE-4D96-BECE-73CAC8BF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Key Features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0ACBAE-3FB8-49B3-B9E9-EBE49A3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B542FAFE-F73A-48E4-B0D3-DDF9D96B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Joshua</a:t>
            </a:r>
          </a:p>
        </p:txBody>
      </p:sp>
      <p:sp>
        <p:nvSpPr>
          <p:cNvPr id="11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0D435E6D-13CD-47EE-B0AF-E1FA570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4114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2" name="feature-core-text">
            <a:extLst xmlns:a="http://schemas.openxmlformats.org/drawingml/2006/main">
              <a:ext uri="{FF2B5EF4-FFF2-40B4-BE49-F238E27FC236}">
                <a16:creationId xmlns:a16="http://schemas.microsoft.com/office/drawing/2014/main" id="{2AB5AEC8-0A03-43D0-8C28-58259F1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50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Search, filters, booking, scheduling, and in-app communication</a:t>
            </a:r>
          </a:p>
        </p:txBody>
      </p:sp>
      <p:sp>
        <p:nvSpPr>
          <p:cNvPr id="13" name="feature-left">
            <a:extLst xmlns:a="http://schemas.openxmlformats.org/drawingml/2006/main">
              <a:ext uri="{FF2B5EF4-FFF2-40B4-BE49-F238E27FC236}">
                <a16:creationId xmlns:a16="http://schemas.microsoft.com/office/drawing/2014/main" id="{D06DFEFA-C29F-45E0-A16A-4DCB4C9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819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4" name="feature-left-text">
            <a:extLst xmlns:a="http://schemas.openxmlformats.org/drawingml/2006/main">
              <a:ext uri="{FF2B5EF4-FFF2-40B4-BE49-F238E27FC236}">
                <a16:creationId xmlns:a16="http://schemas.microsoft.com/office/drawing/2014/main" id="{BCC138D3-5500-48B1-B359-9F4B4251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Registration, profiles, portfolios, and service listings</a:t>
            </a:r>
          </a:p>
        </p:txBody>
      </p:sp>
      <p:sp>
        <p:nvSpPr>
          <p:cNvPr id="15" name="feature-right">
            <a:extLst xmlns:a="http://schemas.openxmlformats.org/drawingml/2006/main">
              <a:ext uri="{FF2B5EF4-FFF2-40B4-BE49-F238E27FC236}">
                <a16:creationId xmlns:a16="http://schemas.microsoft.com/office/drawing/2014/main" id="{95CF65C2-CADA-4A0B-9A83-19ED3CE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819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6" name="feature-right-text">
            <a:extLst xmlns:a="http://schemas.openxmlformats.org/drawingml/2006/main">
              <a:ext uri="{FF2B5EF4-FFF2-40B4-BE49-F238E27FC236}">
                <a16:creationId xmlns:a16="http://schemas.microsoft.com/office/drawing/2014/main" id="{36FCE4F5-35EC-4C95-87A3-811B1CC1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 tracking, payment coordination, ratings, reviews, and admin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3D719-9A7B-469B-9820-D2745DCF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57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F6BD6-28E3-44E5-AD96-07CB2E1D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57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63464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D2A181-1B33-44B8-9E7A-4E8FC650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63206da8944b3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5C80E742-DAA2-4CC6-B721-516B7D56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6BB53EE6-F930-42BB-804A-7AC6FAD6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616B95-49BF-459A-8197-8F06168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2BD100-5A45-4655-8A8B-9CA5FE7E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FA3DCB-56FE-4554-BE6E-72875B3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Turning skills into sellable offers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09F675-3D4E-4663-A897-AE040064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Profiles and Service Listings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D5E6CEF-FF0A-483A-8B48-B46B66F8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BA3F8C11-6C37-4372-A53F-23042773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Joshua</a:t>
            </a:r>
          </a:p>
        </p:txBody>
      </p:sp>
      <p:sp>
        <p:nvSpPr>
          <p:cNvPr id="11" name="listing-frame">
            <a:extLst xmlns:a="http://schemas.openxmlformats.org/drawingml/2006/main">
              <a:ext uri="{FF2B5EF4-FFF2-40B4-BE49-F238E27FC236}">
                <a16:creationId xmlns:a16="http://schemas.microsoft.com/office/drawing/2014/main" id="{B2AFC914-BAA3-4F70-9B66-59B9FA5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7442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listing-topbar">
            <a:extLst xmlns:a="http://schemas.openxmlformats.org/drawingml/2006/main">
              <a:ext uri="{FF2B5EF4-FFF2-40B4-BE49-F238E27FC236}">
                <a16:creationId xmlns:a16="http://schemas.microsoft.com/office/drawing/2014/main" id="{DF594229-DE80-4435-80C2-86BB2850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listing-dot-blue">
            <a:extLst xmlns:a="http://schemas.openxmlformats.org/drawingml/2006/main">
              <a:ext uri="{FF2B5EF4-FFF2-40B4-BE49-F238E27FC236}">
                <a16:creationId xmlns:a16="http://schemas.microsoft.com/office/drawing/2014/main" id="{EAE20985-6E63-45A2-8304-C8295BC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isting-dot-orange">
            <a:extLst xmlns:a="http://schemas.openxmlformats.org/drawingml/2006/main">
              <a:ext uri="{FF2B5EF4-FFF2-40B4-BE49-F238E27FC236}">
                <a16:creationId xmlns:a16="http://schemas.microsoft.com/office/drawing/2014/main" id="{2C6C1EA3-1DCA-4701-8586-515E4380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486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isting-profile">
            <a:extLst xmlns:a="http://schemas.openxmlformats.org/drawingml/2006/main">
              <a:ext uri="{FF2B5EF4-FFF2-40B4-BE49-F238E27FC236}">
                <a16:creationId xmlns:a16="http://schemas.microsoft.com/office/drawing/2014/main" id="{E18D7DBD-69B8-46CF-9072-B172B73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76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Display services, portfolio, credentials, and previous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6A945-B9A3-483D-BCF9-0620117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76575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isting-services">
            <a:extLst xmlns:a="http://schemas.openxmlformats.org/drawingml/2006/main">
              <a:ext uri="{FF2B5EF4-FFF2-40B4-BE49-F238E27FC236}">
                <a16:creationId xmlns:a16="http://schemas.microsoft.com/office/drawing/2014/main" id="{14AE1121-910A-4C1A-9CB5-2A7AA39F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Create service listings or packages</a:t>
            </a:r>
          </a:p>
        </p:txBody>
      </p:sp>
      <p:sp>
        <p:nvSpPr>
          <p:cNvPr id="18" name="listing-pricing">
            <a:extLst xmlns:a="http://schemas.openxmlformats.org/drawingml/2006/main">
              <a:ext uri="{FF2B5EF4-FFF2-40B4-BE49-F238E27FC236}">
                <a16:creationId xmlns:a16="http://schemas.microsoft.com/office/drawing/2014/main" id="{28599613-177B-4CE3-B160-6D01F5A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81475"/>
            <a:ext cx="4324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9" name="listing-pricing-text">
            <a:extLst xmlns:a="http://schemas.openxmlformats.org/drawingml/2006/main">
              <a:ext uri="{FF2B5EF4-FFF2-40B4-BE49-F238E27FC236}">
                <a16:creationId xmlns:a16="http://schemas.microsoft.com/office/drawing/2014/main" id="{13B6A381-2041-4DD1-829A-5337432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382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Support fixed-price or quotation-based pricing</a:t>
            </a:r>
          </a:p>
        </p:txBody>
      </p:sp>
    </p:spTree>
    <p:extLst>
      <p:ext uri="{BB962C8B-B14F-4D97-AF65-F5344CB8AC3E}">
        <p14:creationId xmlns:p14="http://schemas.microsoft.com/office/powerpoint/2010/main" val="19965881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D9BEEB-2BA0-4076-B119-78BA2786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26d76943a441a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141181F9-1A9F-460E-94E8-3FE587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99D5CACF-9CFD-4300-9179-4D99CCBF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259289-3A9F-452E-BCFD-5D632D4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690407-B9CE-4CC3-907A-7D1CCAB1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952594-640E-4E7B-8711-C343EA3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From browsing to actual transaction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132B57-EF6C-49E0-88E1-20C5718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Search, Booking, and Scheduling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C6964E-2DBE-40D1-85AB-CC98F1DA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39B5924A-15E3-4487-8FC0-6FE5E54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Joshua</a:t>
            </a:r>
          </a:p>
        </p:txBody>
      </p:sp>
      <p:sp>
        <p:nvSpPr>
          <p:cNvPr id="11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E5F70851-E7E2-40A6-9C67-58C3211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81350"/>
            <a:ext cx="899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3A634F84-020C-4B47-8A5B-9ED36CB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3AD77CF2-A905-4781-8182-9755441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F90BB614-DE02-4EF2-B771-9A7340E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scovery-1">
            <a:extLst xmlns:a="http://schemas.openxmlformats.org/drawingml/2006/main">
              <a:ext uri="{FF2B5EF4-FFF2-40B4-BE49-F238E27FC236}">
                <a16:creationId xmlns:a16="http://schemas.microsoft.com/office/drawing/2014/main" id="{48A9D3D7-8D9A-40A7-B1D8-53FBDF8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6" name="discovery-text-1">
            <a:extLst xmlns:a="http://schemas.openxmlformats.org/drawingml/2006/main">
              <a:ext uri="{FF2B5EF4-FFF2-40B4-BE49-F238E27FC236}">
                <a16:creationId xmlns:a16="http://schemas.microsoft.com/office/drawing/2014/main" id="{8577995F-500C-4E35-AA70-5BFEB12E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289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Clients search and compare providers based on their needs</a:t>
            </a:r>
          </a:p>
        </p:txBody>
      </p:sp>
      <p:sp>
        <p:nvSpPr>
          <p:cNvPr id="17" name="discovery-2">
            <a:extLst xmlns:a="http://schemas.openxmlformats.org/drawingml/2006/main">
              <a:ext uri="{FF2B5EF4-FFF2-40B4-BE49-F238E27FC236}">
                <a16:creationId xmlns:a16="http://schemas.microsoft.com/office/drawing/2014/main" id="{D44E29B3-6BF6-4CB1-904D-B1A2D72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004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8" name="discovery-text-2">
            <a:extLst xmlns:a="http://schemas.openxmlformats.org/drawingml/2006/main">
              <a:ext uri="{FF2B5EF4-FFF2-40B4-BE49-F238E27FC236}">
                <a16:creationId xmlns:a16="http://schemas.microsoft.com/office/drawing/2014/main" id="{42D652D6-DF75-4E18-B230-1396057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19525"/>
            <a:ext cx="289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Clients send booking requests and select available schedules</a:t>
            </a:r>
          </a:p>
        </p:txBody>
      </p:sp>
      <p:sp>
        <p:nvSpPr>
          <p:cNvPr id="19" name="discovery-3">
            <a:extLst xmlns:a="http://schemas.openxmlformats.org/drawingml/2006/main">
              <a:ext uri="{FF2B5EF4-FFF2-40B4-BE49-F238E27FC236}">
                <a16:creationId xmlns:a16="http://schemas.microsoft.com/office/drawing/2014/main" id="{82228289-C727-4847-AD9A-1672484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0" name="discovery-text-3">
            <a:extLst xmlns:a="http://schemas.openxmlformats.org/drawingml/2006/main">
              <a:ext uri="{FF2B5EF4-FFF2-40B4-BE49-F238E27FC236}">
                <a16:creationId xmlns:a16="http://schemas.microsoft.com/office/drawing/2014/main" id="{5A1C5B08-CD26-4A93-9812-132FB170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89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 simple inquiry becomes a structured service transaction</a:t>
            </a:r>
          </a:p>
        </p:txBody>
      </p:sp>
    </p:spTree>
    <p:extLst>
      <p:ext uri="{BB962C8B-B14F-4D97-AF65-F5344CB8AC3E}">
        <p14:creationId xmlns:p14="http://schemas.microsoft.com/office/powerpoint/2010/main" val="148494393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4B02C3-7E9F-4726-8764-C75A7A52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178b55d2e4b7a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B26CE652-5399-4383-96A5-0D393C25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FFB225C3-8B36-4B39-9105-A275AF7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2163BD-EC92-49E5-9C94-7601B821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8C0F46-D2F2-4E20-824F-FE9DD395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EA4EB0-D5D3-468E-9EE2-8671C00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Every chat has context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200C0F-1DCD-4787-9FB8-1A1AD70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Booking-Linked Communication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EE657F-D7C4-4DA2-8C41-6A2AF3FB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5DDF0F91-4401-4CE7-AEAB-C21640C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Joshua</a:t>
            </a:r>
          </a:p>
        </p:txBody>
      </p:sp>
      <p:sp>
        <p:nvSpPr>
          <p:cNvPr id="11" name="conversation-frame">
            <a:extLst xmlns:a="http://schemas.openxmlformats.org/drawingml/2006/main">
              <a:ext uri="{FF2B5EF4-FFF2-40B4-BE49-F238E27FC236}">
                <a16:creationId xmlns:a16="http://schemas.microsoft.com/office/drawing/2014/main" id="{EA55F137-D900-4F74-BDC7-A25FB0D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0134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message-one">
            <a:extLst xmlns:a="http://schemas.openxmlformats.org/drawingml/2006/main">
              <a:ext uri="{FF2B5EF4-FFF2-40B4-BE49-F238E27FC236}">
                <a16:creationId xmlns:a16="http://schemas.microsoft.com/office/drawing/2014/main" id="{7030BB9B-03B1-43EE-9FAE-5E7BFFA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5581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3" name="message-one-text">
            <a:extLst xmlns:a="http://schemas.openxmlformats.org/drawingml/2006/main">
              <a:ext uri="{FF2B5EF4-FFF2-40B4-BE49-F238E27FC236}">
                <a16:creationId xmlns:a16="http://schemas.microsoft.com/office/drawing/2014/main" id="{4243A93E-C9C5-4996-A929-A99C915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512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In-app communication is connected to a specific booking</a:t>
            </a:r>
          </a:p>
        </p:txBody>
      </p:sp>
      <p:sp>
        <p:nvSpPr>
          <p:cNvPr id="14" name="message-two">
            <a:extLst xmlns:a="http://schemas.openxmlformats.org/drawingml/2006/main">
              <a:ext uri="{FF2B5EF4-FFF2-40B4-BE49-F238E27FC236}">
                <a16:creationId xmlns:a16="http://schemas.microsoft.com/office/drawing/2014/main" id="{1E791466-F359-410C-ACFD-FEC0088C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5581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D2630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5" name="message-two-text">
            <a:extLst xmlns:a="http://schemas.openxmlformats.org/drawingml/2006/main">
              <a:ext uri="{FF2B5EF4-FFF2-40B4-BE49-F238E27FC236}">
                <a16:creationId xmlns:a16="http://schemas.microsoft.com/office/drawing/2014/main" id="{B296C27E-22C0-46CA-B078-1DDC39A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90950"/>
            <a:ext cx="512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Details, updates, and agreements stay attached to the job</a:t>
            </a:r>
          </a:p>
        </p:txBody>
      </p:sp>
      <p:sp>
        <p:nvSpPr>
          <p:cNvPr id="16" name="conversation-result">
            <a:extLst xmlns:a="http://schemas.openxmlformats.org/drawingml/2006/main">
              <a:ext uri="{FF2B5EF4-FFF2-40B4-BE49-F238E27FC236}">
                <a16:creationId xmlns:a16="http://schemas.microsoft.com/office/drawing/2014/main" id="{6B5C1D20-2E04-4BF7-B3FD-988E34CA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19625"/>
            <a:ext cx="807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Reduces mixed-up conversations and lost information</a:t>
            </a:r>
          </a:p>
        </p:txBody>
      </p:sp>
    </p:spTree>
    <p:extLst>
      <p:ext uri="{BB962C8B-B14F-4D97-AF65-F5344CB8AC3E}">
        <p14:creationId xmlns:p14="http://schemas.microsoft.com/office/powerpoint/2010/main" val="8851294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1AA70E-084E-4814-BC60-A0429AB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e427370f54419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9D28C8AD-5B3E-40AA-974C-C78F2A7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6E87DCE2-0513-4830-81C8-2A7EFD0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50E6D6-F404-4BBC-AAC9-84FAD54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938EE8-4662-4E45-923E-632A517D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B710B9-A9A8-4C72-9669-F0C5C0E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Clear progress and records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F4A1E7-07D8-4134-A9E6-E02FE37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 Status and Payment Coordination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BC2A20-FDCC-4F2D-8347-F9269035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CABE3488-B5E8-43A6-9A9E-FB8CB616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Joshua</a:t>
            </a:r>
          </a:p>
        </p:txBody>
      </p:sp>
      <p:sp>
        <p:nvSpPr>
          <p:cNvPr id="11" name="status-lane">
            <a:extLst xmlns:a="http://schemas.openxmlformats.org/drawingml/2006/main">
              <a:ext uri="{FF2B5EF4-FFF2-40B4-BE49-F238E27FC236}">
                <a16:creationId xmlns:a16="http://schemas.microsoft.com/office/drawing/2014/main" id="{2C5CCBBD-D6D2-471E-A8C6-95821A6B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status-text">
            <a:extLst xmlns:a="http://schemas.openxmlformats.org/drawingml/2006/main">
              <a:ext uri="{FF2B5EF4-FFF2-40B4-BE49-F238E27FC236}">
                <a16:creationId xmlns:a16="http://schemas.microsoft.com/office/drawing/2014/main" id="{631172F7-67AA-4226-AA3B-FC0DCA65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021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Track progress: pending, confirmed, scheduled, in progress, completed</a:t>
            </a:r>
          </a:p>
        </p:txBody>
      </p:sp>
      <p:sp>
        <p:nvSpPr>
          <p:cNvPr id="13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6E2F3D12-FAAA-454A-BD70-DB37BFD5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86225"/>
            <a:ext cx="910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814BD757-99DA-494A-BF58-906A53F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86A64DF-33F8-4CEC-8C0B-120CB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76F91BDE-DC59-48D6-96B1-8105B174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1B297D60-A372-4CB5-B701-E3C1539B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equence-node-5">
            <a:extLst xmlns:a="http://schemas.openxmlformats.org/drawingml/2006/main">
              <a:ext uri="{FF2B5EF4-FFF2-40B4-BE49-F238E27FC236}">
                <a16:creationId xmlns:a16="http://schemas.microsoft.com/office/drawing/2014/main" id="{A0FD1B89-907D-4C68-BB20-F33C22C2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ord-lane">
            <a:extLst xmlns:a="http://schemas.openxmlformats.org/drawingml/2006/main">
              <a:ext uri="{FF2B5EF4-FFF2-40B4-BE49-F238E27FC236}">
                <a16:creationId xmlns:a16="http://schemas.microsoft.com/office/drawing/2014/main" id="{C321C281-FE71-41F4-8053-2269B729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5143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0" name="coordination-lane">
            <a:extLst xmlns:a="http://schemas.openxmlformats.org/drawingml/2006/main">
              <a:ext uri="{FF2B5EF4-FFF2-40B4-BE49-F238E27FC236}">
                <a16:creationId xmlns:a16="http://schemas.microsoft.com/office/drawing/2014/main" id="{1211C920-4565-4AB2-9D8F-CFB41731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5143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1" name="record-text">
            <a:extLst xmlns:a="http://schemas.openxmlformats.org/drawingml/2006/main">
              <a:ext uri="{FF2B5EF4-FFF2-40B4-BE49-F238E27FC236}">
                <a16:creationId xmlns:a16="http://schemas.microsoft.com/office/drawing/2014/main" id="{E9787895-74DA-41E2-850A-702A8807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Record agreed prices, balances, and transaction notes</a:t>
            </a:r>
          </a:p>
        </p:txBody>
      </p:sp>
      <p:sp>
        <p:nvSpPr>
          <p:cNvPr id="22" name="coordination-text">
            <a:extLst xmlns:a="http://schemas.openxmlformats.org/drawingml/2006/main">
              <a:ext uri="{FF2B5EF4-FFF2-40B4-BE49-F238E27FC236}">
                <a16:creationId xmlns:a16="http://schemas.microsoft.com/office/drawing/2014/main" id="{5F0E06DB-D6DA-4FD1-A909-02ADBC3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Make payment coordination more organized</a:t>
            </a:r>
          </a:p>
        </p:txBody>
      </p:sp>
    </p:spTree>
    <p:extLst>
      <p:ext uri="{BB962C8B-B14F-4D97-AF65-F5344CB8AC3E}">
        <p14:creationId xmlns:p14="http://schemas.microsoft.com/office/powerpoint/2010/main" val="1946677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EA50443-DD91-44F4-B953-DBD4B3A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345de5e9c4046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A417E3C9-1A0F-4BB8-98B1-82E47EA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CE836C04-F324-4047-B5B2-C246434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2B2CE8-DE72-4534-B89F-B54F5225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A2DF47-D54D-43BF-AEE5-0BAB81C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8053FC-3ACC-4541-BCAD-389E828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How the marketplace works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E97961-7996-4443-860F-A8A5689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Transaction Flow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966D94-80AD-4C0D-AE71-19E52C7A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F29D425C-6A15-4EC3-8567-9153D2D7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flow-step-1">
            <a:extLst xmlns:a="http://schemas.openxmlformats.org/drawingml/2006/main">
              <a:ext uri="{FF2B5EF4-FFF2-40B4-BE49-F238E27FC236}">
                <a16:creationId xmlns:a16="http://schemas.microsoft.com/office/drawing/2014/main" id="{B04C89E2-B97A-47BE-84A2-C87DC6E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flow-text-1">
            <a:extLst xmlns:a="http://schemas.openxmlformats.org/drawingml/2006/main">
              <a:ext uri="{FF2B5EF4-FFF2-40B4-BE49-F238E27FC236}">
                <a16:creationId xmlns:a16="http://schemas.microsoft.com/office/drawing/2014/main" id="{153C9087-5630-4E7D-A810-5C36A7FC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creates a profile and service listing</a:t>
            </a:r>
          </a:p>
        </p:txBody>
      </p:sp>
      <p:sp>
        <p:nvSpPr>
          <p:cNvPr id="13" name="flow-connector-1">
            <a:extLst xmlns:a="http://schemas.openxmlformats.org/drawingml/2006/main">
              <a:ext uri="{FF2B5EF4-FFF2-40B4-BE49-F238E27FC236}">
                <a16:creationId xmlns:a16="http://schemas.microsoft.com/office/drawing/2014/main" id="{D1F8CDE5-AE39-4D91-A28F-E1B164D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67075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flow-step-2">
            <a:extLst xmlns:a="http://schemas.openxmlformats.org/drawingml/2006/main">
              <a:ext uri="{FF2B5EF4-FFF2-40B4-BE49-F238E27FC236}">
                <a16:creationId xmlns:a16="http://schemas.microsoft.com/office/drawing/2014/main" id="{71E25239-8475-4639-AA13-B9CB470E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0515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5" name="flow-text-2">
            <a:extLst xmlns:a="http://schemas.openxmlformats.org/drawingml/2006/main">
              <a:ext uri="{FF2B5EF4-FFF2-40B4-BE49-F238E27FC236}">
                <a16:creationId xmlns:a16="http://schemas.microsoft.com/office/drawing/2014/main" id="{A380364F-E804-4C00-8D6D-74590ED8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1470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 browses the marketplace and selects a provider</a:t>
            </a:r>
          </a:p>
        </p:txBody>
      </p:sp>
      <p:sp>
        <p:nvSpPr>
          <p:cNvPr id="16" name="flow-connector-2">
            <a:extLst xmlns:a="http://schemas.openxmlformats.org/drawingml/2006/main">
              <a:ext uri="{FF2B5EF4-FFF2-40B4-BE49-F238E27FC236}">
                <a16:creationId xmlns:a16="http://schemas.microsoft.com/office/drawing/2014/main" id="{A4D2831A-FC27-44DB-96E7-88A675F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43325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flow-step-3">
            <a:extLst xmlns:a="http://schemas.openxmlformats.org/drawingml/2006/main">
              <a:ext uri="{FF2B5EF4-FFF2-40B4-BE49-F238E27FC236}">
                <a16:creationId xmlns:a16="http://schemas.microsoft.com/office/drawing/2014/main" id="{271B12A6-C458-4D47-A915-AF4A227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FBA568A0-B1FB-48FF-924F-0916AA8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 sends a booking request or selects a fixed-price package</a:t>
            </a:r>
          </a:p>
        </p:txBody>
      </p:sp>
      <p:sp>
        <p:nvSpPr>
          <p:cNvPr id="19" name="flow-connector-3">
            <a:extLst xmlns:a="http://schemas.openxmlformats.org/drawingml/2006/main">
              <a:ext uri="{FF2B5EF4-FFF2-40B4-BE49-F238E27FC236}">
                <a16:creationId xmlns:a16="http://schemas.microsoft.com/office/drawing/2014/main" id="{41E93B8C-F4CC-4D9F-BAFA-F1D52F0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9575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low-step-4">
            <a:extLst xmlns:a="http://schemas.openxmlformats.org/drawingml/2006/main">
              <a:ext uri="{FF2B5EF4-FFF2-40B4-BE49-F238E27FC236}">
                <a16:creationId xmlns:a16="http://schemas.microsoft.com/office/drawing/2014/main" id="{813B3313-22DB-47CD-96D9-67D531C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5765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1" name="flow-text-4">
            <a:extLst xmlns:a="http://schemas.openxmlformats.org/drawingml/2006/main">
              <a:ext uri="{FF2B5EF4-FFF2-40B4-BE49-F238E27FC236}">
                <a16:creationId xmlns:a16="http://schemas.microsoft.com/office/drawing/2014/main" id="{517DAFEF-1F62-4B62-AEE6-EA87669F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6720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confirms and may submit a quotation</a:t>
            </a:r>
          </a:p>
        </p:txBody>
      </p:sp>
    </p:spTree>
    <p:extLst>
      <p:ext uri="{BB962C8B-B14F-4D97-AF65-F5344CB8AC3E}">
        <p14:creationId xmlns:p14="http://schemas.microsoft.com/office/powerpoint/2010/main" val="7154168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387513-4EEC-4AA8-83C2-10B2E408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8ee9ee9604747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A66F4B13-EF4F-4580-B044-BF9DE4A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AD8FF609-A1D7-4782-A02D-EB79D1A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BB10A6-A050-4875-8CAA-39D33430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BF9E8D-DA45-44F9-9C9C-D502E2FE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B8A4F5-849F-4766-9EFA-3D4433A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From agreement to review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7B03FD-C91D-4853-9804-7619FDC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Transaction Flow Continued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67EF24-4243-4354-BE58-2F49ACE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5D29AA9B-661A-4E5A-8E21-9886B41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flow-ribbon">
            <a:extLst xmlns:a="http://schemas.openxmlformats.org/drawingml/2006/main">
              <a:ext uri="{FF2B5EF4-FFF2-40B4-BE49-F238E27FC236}">
                <a16:creationId xmlns:a16="http://schemas.microsoft.com/office/drawing/2014/main" id="{B464306D-01EC-43DB-8134-3BFBC48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2" name="flow-ribbon-text">
            <a:extLst xmlns:a="http://schemas.openxmlformats.org/drawingml/2006/main">
              <a:ext uri="{FF2B5EF4-FFF2-40B4-BE49-F238E27FC236}">
                <a16:creationId xmlns:a16="http://schemas.microsoft.com/office/drawing/2014/main" id="{7A3D2DA2-942F-4514-9A72-F6F9373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0210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“List → Discover → Book → Quote → Schedule → Service → Pay → Review”</a:t>
            </a:r>
          </a:p>
        </p:txBody>
      </p:sp>
      <p:sp>
        <p:nvSpPr>
          <p:cNvPr id="13" name="flow-result-1-marker">
            <a:extLst xmlns:a="http://schemas.openxmlformats.org/drawingml/2006/main">
              <a:ext uri="{FF2B5EF4-FFF2-40B4-BE49-F238E27FC236}">
                <a16:creationId xmlns:a16="http://schemas.microsoft.com/office/drawing/2014/main" id="{BCD3474D-9D49-4007-8D57-517E520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flow-result-1-text">
            <a:extLst xmlns:a="http://schemas.openxmlformats.org/drawingml/2006/main">
              <a:ext uri="{FF2B5EF4-FFF2-40B4-BE49-F238E27FC236}">
                <a16:creationId xmlns:a16="http://schemas.microsoft.com/office/drawing/2014/main" id="{CD41254B-1689-47B2-8C05-B5C8E8A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954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Both sides agree and proceed with scheduling, communication, and updates</a:t>
            </a:r>
          </a:p>
        </p:txBody>
      </p:sp>
      <p:sp>
        <p:nvSpPr>
          <p:cNvPr id="15" name="flow-result-2-marker">
            <a:extLst xmlns:a="http://schemas.openxmlformats.org/drawingml/2006/main">
              <a:ext uri="{FF2B5EF4-FFF2-40B4-BE49-F238E27FC236}">
                <a16:creationId xmlns:a16="http://schemas.microsoft.com/office/drawing/2014/main" id="{58633C34-5B04-4EFF-A2B8-EDA8DF0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low-result-2-text">
            <a:extLst xmlns:a="http://schemas.openxmlformats.org/drawingml/2006/main">
              <a:ext uri="{FF2B5EF4-FFF2-40B4-BE49-F238E27FC236}">
                <a16:creationId xmlns:a16="http://schemas.microsoft.com/office/drawing/2014/main" id="{BDCDC4EC-F98A-4BFD-AB23-376985E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954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marks the job completed, then client confirms completion</a:t>
            </a:r>
          </a:p>
        </p:txBody>
      </p:sp>
      <p:sp>
        <p:nvSpPr>
          <p:cNvPr id="17" name="flow-result-3-marker">
            <a:extLst xmlns:a="http://schemas.openxmlformats.org/drawingml/2006/main">
              <a:ext uri="{FF2B5EF4-FFF2-40B4-BE49-F238E27FC236}">
                <a16:creationId xmlns:a16="http://schemas.microsoft.com/office/drawing/2014/main" id="{48927748-5C76-4D16-9456-A6788A0B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low-result-3-text">
            <a:extLst xmlns:a="http://schemas.openxmlformats.org/drawingml/2006/main">
              <a:ext uri="{FF2B5EF4-FFF2-40B4-BE49-F238E27FC236}">
                <a16:creationId xmlns:a16="http://schemas.microsoft.com/office/drawing/2014/main" id="{17CF2EE9-4174-4FA1-B29A-A5F43EF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954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Payment is coordinated and both sides may leave a review</a:t>
            </a:r>
          </a:p>
        </p:txBody>
      </p:sp>
    </p:spTree>
    <p:extLst>
      <p:ext uri="{BB962C8B-B14F-4D97-AF65-F5344CB8AC3E}">
        <p14:creationId xmlns:p14="http://schemas.microsoft.com/office/powerpoint/2010/main" val="18185501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82CCA6-3ED5-4B70-957F-9F66648B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6897df51a42fe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EDC454B7-F9CF-471E-AD63-98DCAB7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C3EF5BB1-CE1A-4984-BD51-6D86DC09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01B1FE-ED0F-45C6-B7C6-FCB515D0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8061B15-7305-4CFE-ACD2-FBF4DF3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D2AD2A-E6B3-4A27-9FE1-D096BF00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Flexible pricing with client approval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29C4DC-2368-4B5F-B92A-6A864EA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Pricing and Quotations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15D742-E157-4DDE-8BA8-32C496D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2FFA2EAD-6890-4D1F-83FB-5A28578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fixed-price">
            <a:extLst xmlns:a="http://schemas.openxmlformats.org/drawingml/2006/main">
              <a:ext uri="{FF2B5EF4-FFF2-40B4-BE49-F238E27FC236}">
                <a16:creationId xmlns:a16="http://schemas.microsoft.com/office/drawing/2014/main" id="{8EDF70C5-B7B0-4496-B609-1A1F8223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1557C0"/>
            </a:solidFill>
            <a:prstDash val="solid"/>
          </a:ln>
        </p:spPr>
      </p:sp>
      <p:sp>
        <p:nvSpPr>
          <p:cNvPr id="12" name="quotation">
            <a:extLst xmlns:a="http://schemas.openxmlformats.org/drawingml/2006/main">
              <a:ext uri="{FF2B5EF4-FFF2-40B4-BE49-F238E27FC236}">
                <a16:creationId xmlns:a16="http://schemas.microsoft.com/office/drawing/2014/main" id="{AD54383B-D3C0-47D8-9E81-2A4C1B6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28875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3" name="fixed-price-text">
            <a:extLst xmlns:a="http://schemas.openxmlformats.org/drawingml/2006/main">
              <a:ext uri="{FF2B5EF4-FFF2-40B4-BE49-F238E27FC236}">
                <a16:creationId xmlns:a16="http://schemas.microsoft.com/office/drawing/2014/main" id="{B0B7A9E4-F189-4863-ABBF-05BC1667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229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Fixed-price packages work for clear services</a:t>
            </a:r>
          </a:p>
        </p:txBody>
      </p:sp>
      <p:sp>
        <p:nvSpPr>
          <p:cNvPr id="14" name="quotation-text">
            <a:extLst xmlns:a="http://schemas.openxmlformats.org/drawingml/2006/main">
              <a:ext uri="{FF2B5EF4-FFF2-40B4-BE49-F238E27FC236}">
                <a16:creationId xmlns:a16="http://schemas.microsoft.com/office/drawing/2014/main" id="{974D4A9E-5F8F-42ED-A783-5E682E43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229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Quotation-based pricing works for inspection-dependent services</a:t>
            </a:r>
          </a:p>
        </p:txBody>
      </p:sp>
      <p:sp>
        <p:nvSpPr>
          <p:cNvPr id="15" name="approval-rule">
            <a:extLst xmlns:a="http://schemas.openxmlformats.org/drawingml/2006/main">
              <a:ext uri="{FF2B5EF4-FFF2-40B4-BE49-F238E27FC236}">
                <a16:creationId xmlns:a16="http://schemas.microsoft.com/office/drawing/2014/main" id="{88DD3C16-CD24-4BBD-905E-C3D83C9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7543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approval-rule-text">
            <a:extLst xmlns:a="http://schemas.openxmlformats.org/drawingml/2006/main">
              <a:ext uri="{FF2B5EF4-FFF2-40B4-BE49-F238E27FC236}">
                <a16:creationId xmlns:a16="http://schemas.microsoft.com/office/drawing/2014/main" id="{5E570D2D-5DC3-4CC0-8982-C3ABBEE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91100"/>
            <a:ext cx="693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Revised quotations require client approval before becoming final</a:t>
            </a:r>
          </a:p>
        </p:txBody>
      </p:sp>
    </p:spTree>
    <p:extLst>
      <p:ext uri="{BB962C8B-B14F-4D97-AF65-F5344CB8AC3E}">
        <p14:creationId xmlns:p14="http://schemas.microsoft.com/office/powerpoint/2010/main" val="112863668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57A49E-8BE7-4B85-B0C0-4B5B886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ab4b406d04c1a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2C815541-E1E4-4668-A4FD-F890930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F6D31D51-FE19-4731-8922-66E46248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554046-D5E0-4DCE-BB67-55FBDCA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2C42C2-785D-46EF-A9CA-912CC56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303107-08A9-4248-8C5F-9A2FCD3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Commercial sustainability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5EA5AE-D9AE-487D-97E5-F344FCB8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Revenue Strategy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0A3A85-7425-4841-916B-314F621C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CA7C6A61-345E-43E2-8E8F-1BDD065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fee-callout">
            <a:extLst xmlns:a="http://schemas.openxmlformats.org/drawingml/2006/main">
              <a:ext uri="{FF2B5EF4-FFF2-40B4-BE49-F238E27FC236}">
                <a16:creationId xmlns:a16="http://schemas.microsoft.com/office/drawing/2014/main" id="{29133BC0-6281-4D21-B593-E0E35206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838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2" name="fee-callout-text">
            <a:extLst xmlns:a="http://schemas.openxmlformats.org/drawingml/2006/main">
              <a:ext uri="{FF2B5EF4-FFF2-40B4-BE49-F238E27FC236}">
                <a16:creationId xmlns:a16="http://schemas.microsoft.com/office/drawing/2014/main" id="{404CA96C-6121-424C-9637-3B89711B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114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Proposed 5% Transaction Coordination Fee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B80F1-3B3C-43F1-90CF-165102F6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76675"/>
            <a:ext cx="411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fee-basis">
            <a:extLst xmlns:a="http://schemas.openxmlformats.org/drawingml/2006/main">
              <a:ext uri="{FF2B5EF4-FFF2-40B4-BE49-F238E27FC236}">
                <a16:creationId xmlns:a16="http://schemas.microsoft.com/office/drawing/2014/main" id="{55D21DFE-0FB7-4E28-8C78-C3BC5514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07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Charged on the client’s downpayment for a confirmed booking.</a:t>
            </a:r>
          </a:p>
        </p:txBody>
      </p:sp>
      <p:sp>
        <p:nvSpPr>
          <p:cNvPr id="15" name="fee-result">
            <a:extLst xmlns:a="http://schemas.openxmlformats.org/drawingml/2006/main">
              <a:ext uri="{FF2B5EF4-FFF2-40B4-BE49-F238E27FC236}">
                <a16:creationId xmlns:a16="http://schemas.microsoft.com/office/drawing/2014/main" id="{E35E8FCE-DFE2-4F58-A888-8252C2D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53911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6" name="fee-result-text">
            <a:extLst xmlns:a="http://schemas.openxmlformats.org/drawingml/2006/main">
              <a:ext uri="{FF2B5EF4-FFF2-40B4-BE49-F238E27FC236}">
                <a16:creationId xmlns:a16="http://schemas.microsoft.com/office/drawing/2014/main" id="{A6EDBED8-27BD-44B0-9149-FF752B84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This allows TrabaWho to earn once a legitimate service transaction is secured through the platform.</a:t>
            </a:r>
          </a:p>
        </p:txBody>
      </p:sp>
      <p:sp>
        <p:nvSpPr>
          <p:cNvPr id="17" name="fee-connector">
            <a:extLst xmlns:a="http://schemas.openxmlformats.org/drawingml/2006/main">
              <a:ext uri="{FF2B5EF4-FFF2-40B4-BE49-F238E27FC236}">
                <a16:creationId xmlns:a16="http://schemas.microsoft.com/office/drawing/2014/main" id="{C3B52EED-3C37-4210-8749-592834C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766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669609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7A11CCC-1F41-49EE-AA8E-106D955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2b0b59b02479e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2FFCAFF5-4ABB-455B-A348-C67FC4C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7559A0F4-D661-4B00-A8E6-6F1F701A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E4842D-7C57-41B5-B6BC-154550ED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7EFA2C-16BD-4E93-97BB-B828801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52E267-0771-4360-BA1F-B9E583E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Additional marketplace monetization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24BEE-9EF9-4970-8E1E-9A79BB1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Visibility and Premium Revenue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57EBAB-9FCC-45CE-B236-144BB12A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E0A11AA2-8546-43D1-8A67-85123F7B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revenue-step-1">
            <a:extLst xmlns:a="http://schemas.openxmlformats.org/drawingml/2006/main">
              <a:ext uri="{FF2B5EF4-FFF2-40B4-BE49-F238E27FC236}">
                <a16:creationId xmlns:a16="http://schemas.microsoft.com/office/drawing/2014/main" id="{35AC4624-4903-472A-9C93-9C80AD6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revenue-text-1">
            <a:extLst xmlns:a="http://schemas.openxmlformats.org/drawingml/2006/main">
              <a:ext uri="{FF2B5EF4-FFF2-40B4-BE49-F238E27FC236}">
                <a16:creationId xmlns:a16="http://schemas.microsoft.com/office/drawing/2014/main" id="{712FC1B0-51D9-4362-BA6A-4A5510D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boosts or sponsored visibility</a:t>
            </a:r>
          </a:p>
        </p:txBody>
      </p:sp>
      <p:sp>
        <p:nvSpPr>
          <p:cNvPr id="13" name="revenue-step-2">
            <a:extLst xmlns:a="http://schemas.openxmlformats.org/drawingml/2006/main">
              <a:ext uri="{FF2B5EF4-FFF2-40B4-BE49-F238E27FC236}">
                <a16:creationId xmlns:a16="http://schemas.microsoft.com/office/drawing/2014/main" id="{8CF3515A-9EDB-439E-B2E1-1FF88D7D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2766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4" name="revenue-text-2">
            <a:extLst xmlns:a="http://schemas.openxmlformats.org/drawingml/2006/main">
              <a:ext uri="{FF2B5EF4-FFF2-40B4-BE49-F238E27FC236}">
                <a16:creationId xmlns:a16="http://schemas.microsoft.com/office/drawing/2014/main" id="{72034679-1DC4-42BE-B95D-D2409EB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Paid higher placement in relevant search results</a:t>
            </a:r>
          </a:p>
        </p:txBody>
      </p:sp>
      <p:sp>
        <p:nvSpPr>
          <p:cNvPr id="15" name="revenue-step-3">
            <a:extLst xmlns:a="http://schemas.openxmlformats.org/drawingml/2006/main">
              <a:ext uri="{FF2B5EF4-FFF2-40B4-BE49-F238E27FC236}">
                <a16:creationId xmlns:a16="http://schemas.microsoft.com/office/drawing/2014/main" id="{690C4CBC-08B1-447E-962E-E08A7D82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3276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6" name="revenue-text-3">
            <a:extLst xmlns:a="http://schemas.openxmlformats.org/drawingml/2006/main">
              <a:ext uri="{FF2B5EF4-FFF2-40B4-BE49-F238E27FC236}">
                <a16:creationId xmlns:a16="http://schemas.microsoft.com/office/drawing/2014/main" id="{B00DE113-27BB-4910-9955-B021FFC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81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Future premium tools: analytics, storefront features, and business support</a:t>
            </a:r>
          </a:p>
        </p:txBody>
      </p:sp>
    </p:spTree>
    <p:extLst>
      <p:ext uri="{BB962C8B-B14F-4D97-AF65-F5344CB8AC3E}">
        <p14:creationId xmlns:p14="http://schemas.microsoft.com/office/powerpoint/2010/main" val="81337155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98132E-4190-4437-965B-D1E7F1E7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07e480a3849c4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5D966750-315F-4D5E-A34E-47C29CA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AE9F1134-28BA-48FB-A955-2868C59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9BE147-552C-406E-882C-26454F0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A90B91-F0DB-40CE-B67D-29A7B24A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0FA83C-C58D-4C66-AE34-608D66A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Sample computation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B8AAF5-556E-4764-99B2-62898FF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Revenue Example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F19C8E-A714-4FF1-842D-65D086A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20F6B622-94C9-4C9A-8CC2-EAE2B4A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Brent</a:t>
            </a:r>
          </a:p>
        </p:txBody>
      </p:sp>
      <p:sp>
        <p:nvSpPr>
          <p:cNvPr id="11" name="revenue-formula">
            <a:extLst xmlns:a="http://schemas.openxmlformats.org/drawingml/2006/main">
              <a:ext uri="{FF2B5EF4-FFF2-40B4-BE49-F238E27FC236}">
                <a16:creationId xmlns:a16="http://schemas.microsoft.com/office/drawing/2014/main" id="{BF9D859A-3D9E-4DD5-ABF8-D165A28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55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1,000 completed services × ₱1,500 average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BA2B0-92C3-4E22-BE1E-AF9D1D9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43275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rvice-value">
            <a:extLst xmlns:a="http://schemas.openxmlformats.org/drawingml/2006/main">
              <a:ext uri="{FF2B5EF4-FFF2-40B4-BE49-F238E27FC236}">
                <a16:creationId xmlns:a16="http://schemas.microsoft.com/office/drawing/2014/main" id="{3FCEB6B3-D921-48D4-812E-33C3539E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914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4" name="platform-fee">
            <a:extLst xmlns:a="http://schemas.openxmlformats.org/drawingml/2006/main">
              <a:ext uri="{FF2B5EF4-FFF2-40B4-BE49-F238E27FC236}">
                <a16:creationId xmlns:a16="http://schemas.microsoft.com/office/drawing/2014/main" id="{CB32F1E0-9240-490D-9B7E-40BC63D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14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5" name="service-value-text">
            <a:extLst xmlns:a="http://schemas.openxmlformats.org/drawingml/2006/main">
              <a:ext uri="{FF2B5EF4-FFF2-40B4-BE49-F238E27FC236}">
                <a16:creationId xmlns:a16="http://schemas.microsoft.com/office/drawing/2014/main" id="{82FFBF21-E96C-476C-BADA-AC8E854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4229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Total service value: ₱1,500,000</a:t>
            </a:r>
          </a:p>
        </p:txBody>
      </p:sp>
      <p:sp>
        <p:nvSpPr>
          <p:cNvPr id="16" name="platform-fee-text">
            <a:extLst xmlns:a="http://schemas.openxmlformats.org/drawingml/2006/main">
              <a:ext uri="{FF2B5EF4-FFF2-40B4-BE49-F238E27FC236}">
                <a16:creationId xmlns:a16="http://schemas.microsoft.com/office/drawing/2014/main" id="{2D462D20-7A4D-4C84-B645-3D05ABE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4229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5% platform fee: approximately ₱75,000 revenue</a:t>
            </a:r>
          </a:p>
        </p:txBody>
      </p:sp>
    </p:spTree>
    <p:extLst>
      <p:ext uri="{BB962C8B-B14F-4D97-AF65-F5344CB8AC3E}">
        <p14:creationId xmlns:p14="http://schemas.microsoft.com/office/powerpoint/2010/main" val="44774734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E4F51DF-2CCD-4E4A-8639-F92BA32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1ed46c8404e79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EB061BB6-885D-4307-A38F-EBED1B3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3170A56A-D83E-4DE1-80FB-795D0B8B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B3F442-AE51-4B5F-9370-1235FB83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603D53-4A40-462B-8A38-A6E82EB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A534CD-511F-405C-A788-6851E44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Existing alternatives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E2B8C7-C735-4F68-8A07-1DDF02D7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Competitive Positioning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951E98-B6D2-4220-B72D-9DF01D3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C1AAE96C-42CF-46FF-94EF-5F8969F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alternatives">
            <a:extLst xmlns:a="http://schemas.openxmlformats.org/drawingml/2006/main">
              <a:ext uri="{FF2B5EF4-FFF2-40B4-BE49-F238E27FC236}">
                <a16:creationId xmlns:a16="http://schemas.microsoft.com/office/drawing/2014/main" id="{0DA73111-9E8C-451E-9571-1772A8FB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alternatives-text">
            <a:extLst xmlns:a="http://schemas.openxmlformats.org/drawingml/2006/main">
              <a:ext uri="{FF2B5EF4-FFF2-40B4-BE49-F238E27FC236}">
                <a16:creationId xmlns:a16="http://schemas.microsoft.com/office/drawing/2014/main" id="{FBE9D206-138E-427B-B525-C18AE45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21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LinkedIn, Fiverr, Upwork, Facebook, Messenger, and MyKuya</a:t>
            </a:r>
          </a:p>
        </p:txBody>
      </p:sp>
      <p:sp>
        <p:nvSpPr>
          <p:cNvPr id="13" name="competitive-context">
            <a:extLst xmlns:a="http://schemas.openxmlformats.org/drawingml/2006/main">
              <a:ext uri="{FF2B5EF4-FFF2-40B4-BE49-F238E27FC236}">
                <a16:creationId xmlns:a16="http://schemas.microsoft.com/office/drawing/2014/main" id="{9E57A5A5-8F01-43E7-AEEF-ECCB7B4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0482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competitive-difference">
            <a:extLst xmlns:a="http://schemas.openxmlformats.org/drawingml/2006/main">
              <a:ext uri="{FF2B5EF4-FFF2-40B4-BE49-F238E27FC236}">
                <a16:creationId xmlns:a16="http://schemas.microsoft.com/office/drawing/2014/main" id="{ADF30820-2FA5-446B-86CD-983DF57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50482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5" name="competitive-context-text">
            <a:extLst xmlns:a="http://schemas.openxmlformats.org/drawingml/2006/main">
              <a:ext uri="{FF2B5EF4-FFF2-40B4-BE49-F238E27FC236}">
                <a16:creationId xmlns:a16="http://schemas.microsoft.com/office/drawing/2014/main" id="{F0CEB10C-F42F-4EB5-90F9-1D4B6BC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4438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We do not claim that selling services online is completely new</a:t>
            </a:r>
          </a:p>
        </p:txBody>
      </p:sp>
      <p:sp>
        <p:nvSpPr>
          <p:cNvPr id="16" name="competitive-difference-text">
            <a:extLst xmlns:a="http://schemas.openxmlformats.org/drawingml/2006/main">
              <a:ext uri="{FF2B5EF4-FFF2-40B4-BE49-F238E27FC236}">
                <a16:creationId xmlns:a16="http://schemas.microsoft.com/office/drawing/2014/main" id="{90AFF05D-4659-45FB-9A0B-061E955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438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differentiates through local focus and integrated service workflow</a:t>
            </a:r>
          </a:p>
        </p:txBody>
      </p:sp>
    </p:spTree>
    <p:extLst>
      <p:ext uri="{BB962C8B-B14F-4D97-AF65-F5344CB8AC3E}">
        <p14:creationId xmlns:p14="http://schemas.microsoft.com/office/powerpoint/2010/main" val="12525188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ABEEAE-CFC0-4778-AE66-93951FF3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c67ccb7944bb4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43017FDA-CF6E-4978-A85D-157E8D7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F64F319F-50DC-4616-8D7C-3C6531B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75D451-279D-4153-84F3-25E2EE0B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4788DB5-45F8-42F7-B9A5-71937B9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F254A3-6A7E-4022-AA07-D4260F6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Marketplace transaction, not just discovery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CFD10-7283-4D96-84BD-6D77EC6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Why TrabaWho Is Different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FEC189B-A05A-472C-A50C-E24135A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2E5F0CD1-11F9-467E-BD9A-A540A59D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difference-1">
            <a:extLst xmlns:a="http://schemas.openxmlformats.org/drawingml/2006/main">
              <a:ext uri="{FF2B5EF4-FFF2-40B4-BE49-F238E27FC236}">
                <a16:creationId xmlns:a16="http://schemas.microsoft.com/office/drawing/2014/main" id="{2EF29870-1E64-4B96-9000-DD62539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difference-text-1">
            <a:extLst xmlns:a="http://schemas.openxmlformats.org/drawingml/2006/main">
              <a:ext uri="{FF2B5EF4-FFF2-40B4-BE49-F238E27FC236}">
                <a16:creationId xmlns:a16="http://schemas.microsoft.com/office/drawing/2014/main" id="{B9CC6C5E-1704-40B9-BBC2-C60366C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LinkedIn focuses mainly on professional networking</a:t>
            </a:r>
          </a:p>
        </p:txBody>
      </p:sp>
      <p:sp>
        <p:nvSpPr>
          <p:cNvPr id="13" name="difference-2">
            <a:extLst xmlns:a="http://schemas.openxmlformats.org/drawingml/2006/main">
              <a:ext uri="{FF2B5EF4-FFF2-40B4-BE49-F238E27FC236}">
                <a16:creationId xmlns:a16="http://schemas.microsoft.com/office/drawing/2014/main" id="{928D61E5-47C6-4D03-BF12-8EDC726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difference-text-2">
            <a:extLst xmlns:a="http://schemas.openxmlformats.org/drawingml/2006/main">
              <a:ext uri="{FF2B5EF4-FFF2-40B4-BE49-F238E27FC236}">
                <a16:creationId xmlns:a16="http://schemas.microsoft.com/office/drawing/2014/main" id="{AF6CB912-06E3-4CE0-B9BC-5373416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8025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Fiverr and Upwork are strong for remote freelance work</a:t>
            </a:r>
          </a:p>
        </p:txBody>
      </p:sp>
      <p:sp>
        <p:nvSpPr>
          <p:cNvPr id="15" name="difference-3">
            <a:extLst xmlns:a="http://schemas.openxmlformats.org/drawingml/2006/main">
              <a:ext uri="{FF2B5EF4-FFF2-40B4-BE49-F238E27FC236}">
                <a16:creationId xmlns:a16="http://schemas.microsoft.com/office/drawing/2014/main" id="{8D8260E7-C5C4-45E4-AA32-525C3B4B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difference-text-3">
            <a:extLst xmlns:a="http://schemas.openxmlformats.org/drawingml/2006/main">
              <a:ext uri="{FF2B5EF4-FFF2-40B4-BE49-F238E27FC236}">
                <a16:creationId xmlns:a16="http://schemas.microsoft.com/office/drawing/2014/main" id="{B6BBF356-00E2-448F-B2C1-81CA37D0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024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Facebook and Messenger provide discovery and chat, but service transactions remain unstructured</a:t>
            </a:r>
          </a:p>
        </p:txBody>
      </p:sp>
      <p:sp>
        <p:nvSpPr>
          <p:cNvPr id="17" name="difference-4">
            <a:extLst xmlns:a="http://schemas.openxmlformats.org/drawingml/2006/main">
              <a:ext uri="{FF2B5EF4-FFF2-40B4-BE49-F238E27FC236}">
                <a16:creationId xmlns:a16="http://schemas.microsoft.com/office/drawing/2014/main" id="{C322FC14-2C82-4E41-B315-851C8ED8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24425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8" name="difference-text-4">
            <a:extLst xmlns:a="http://schemas.openxmlformats.org/drawingml/2006/main">
              <a:ext uri="{FF2B5EF4-FFF2-40B4-BE49-F238E27FC236}">
                <a16:creationId xmlns:a16="http://schemas.microsoft.com/office/drawing/2014/main" id="{8D73669A-AECC-4B63-891F-1AFCA8B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38725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organizes the complete local service transaction</a:t>
            </a:r>
          </a:p>
        </p:txBody>
      </p:sp>
    </p:spTree>
    <p:extLst>
      <p:ext uri="{BB962C8B-B14F-4D97-AF65-F5344CB8AC3E}">
        <p14:creationId xmlns:p14="http://schemas.microsoft.com/office/powerpoint/2010/main" val="13026184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C7A7C7C-A929-4B57-A221-65553AE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d6978770549df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67795D41-6CD1-484D-BD2A-5DD6AA01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F3AC47F5-8809-4181-B1A9-0B79FC5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3D2D00-C084-4A3C-BE72-DDA07E52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4435828-7BC5-4A97-86C2-7EBC389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E92CD6-1293-418D-8E38-D26A8B08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Initial marketplace experience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B7C627-FF3E-45A6-9644-7D70C76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Scope of Work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185CCE-ADE5-4C27-ACA6-39D090D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14C63A46-65DC-41D4-9307-8155F35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initial-scope">
            <a:extLst xmlns:a="http://schemas.openxmlformats.org/drawingml/2006/main">
              <a:ext uri="{FF2B5EF4-FFF2-40B4-BE49-F238E27FC236}">
                <a16:creationId xmlns:a16="http://schemas.microsoft.com/office/drawing/2014/main" id="{9B898584-BC23-497B-8712-2D4AF46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5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initial-scope-text">
            <a:extLst xmlns:a="http://schemas.openxmlformats.org/drawingml/2006/main">
              <a:ext uri="{FF2B5EF4-FFF2-40B4-BE49-F238E27FC236}">
                <a16:creationId xmlns:a16="http://schemas.microsoft.com/office/drawing/2014/main" id="{FC1DAFDF-F07A-4D08-B2BB-BB09E82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013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Authentication, profiles, listings, search, booking, scheduling, communication, service tracking, payment coordination, reviews, and admin tools</a:t>
            </a:r>
          </a:p>
        </p:txBody>
      </p:sp>
      <p:sp>
        <p:nvSpPr>
          <p:cNvPr id="13" name="future-scope">
            <a:extLst xmlns:a="http://schemas.openxmlformats.org/drawingml/2006/main">
              <a:ext uri="{FF2B5EF4-FFF2-40B4-BE49-F238E27FC236}">
                <a16:creationId xmlns:a16="http://schemas.microsoft.com/office/drawing/2014/main" id="{24F54FCF-F40F-4FE3-BC1F-063F35E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4" name="future-scope-text">
            <a:extLst xmlns:a="http://schemas.openxmlformats.org/drawingml/2006/main">
              <a:ext uri="{FF2B5EF4-FFF2-40B4-BE49-F238E27FC236}">
                <a16:creationId xmlns:a16="http://schemas.microsoft.com/office/drawing/2014/main" id="{87AC30CF-7B1D-4356-AAB1-8EAD18D4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86300"/>
            <a:ext cx="8077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Future expansion: advanced financial infrastructure, large-scale dispute resolution, and external integrations</a:t>
            </a:r>
          </a:p>
        </p:txBody>
      </p:sp>
    </p:spTree>
    <p:extLst>
      <p:ext uri="{BB962C8B-B14F-4D97-AF65-F5344CB8AC3E}">
        <p14:creationId xmlns:p14="http://schemas.microsoft.com/office/powerpoint/2010/main" val="194164836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B1B2079-DAFB-4C57-A47F-5D1AC08C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bae75f6ef405d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B5402E97-B402-4EC1-B1C7-CA5289D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1B628067-DEBF-4368-BCE2-D84BB77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239B00-E845-4638-BFE6-93AF963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EB9EA1A-B523-4578-A4B9-4EC3ACD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C6705B-5E91-4F34-A0D0-D581F885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as platform owner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14EA0-4567-40BF-953F-B2CF6AE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Platform Management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865FC5-2788-430D-AC58-1C9F0B16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4AF58D05-F02D-41AA-AA54-8665DB1A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governance-1">
            <a:extLst xmlns:a="http://schemas.openxmlformats.org/drawingml/2006/main">
              <a:ext uri="{FF2B5EF4-FFF2-40B4-BE49-F238E27FC236}">
                <a16:creationId xmlns:a16="http://schemas.microsoft.com/office/drawing/2014/main" id="{DEA34A83-9726-4B79-A343-3902C71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2" name="governance-text-1">
            <a:extLst xmlns:a="http://schemas.openxmlformats.org/drawingml/2006/main">
              <a:ext uri="{FF2B5EF4-FFF2-40B4-BE49-F238E27FC236}">
                <a16:creationId xmlns:a16="http://schemas.microsoft.com/office/drawing/2014/main" id="{DDE6DA2C-0800-42DE-8907-59FCD70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975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Operated by NexusLink IT Systems Corporation</a:t>
            </a:r>
          </a:p>
        </p:txBody>
      </p:sp>
      <p:sp>
        <p:nvSpPr>
          <p:cNvPr id="13" name="governance-2">
            <a:extLst xmlns:a="http://schemas.openxmlformats.org/drawingml/2006/main">
              <a:ext uri="{FF2B5EF4-FFF2-40B4-BE49-F238E27FC236}">
                <a16:creationId xmlns:a16="http://schemas.microsoft.com/office/drawing/2014/main" id="{62779E2D-AF7D-47C5-BA6A-CDC3D53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838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4" name="governance-text-2">
            <a:extLst xmlns:a="http://schemas.openxmlformats.org/drawingml/2006/main">
              <a:ext uri="{FF2B5EF4-FFF2-40B4-BE49-F238E27FC236}">
                <a16:creationId xmlns:a16="http://schemas.microsoft.com/office/drawing/2014/main" id="{D8F59532-F657-4076-8B26-A772CC51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43300"/>
            <a:ext cx="784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Platform admins handle verification, moderation, reports, maintenance, policies, and dispute review support</a:t>
            </a:r>
          </a:p>
        </p:txBody>
      </p:sp>
      <p:sp>
        <p:nvSpPr>
          <p:cNvPr id="15" name="governance-3">
            <a:extLst xmlns:a="http://schemas.openxmlformats.org/drawingml/2006/main">
              <a:ext uri="{FF2B5EF4-FFF2-40B4-BE49-F238E27FC236}">
                <a16:creationId xmlns:a16="http://schemas.microsoft.com/office/drawing/2014/main" id="{227E1DDA-91EF-435F-8EC2-65B06F7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647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6" name="governance-text-3">
            <a:extLst xmlns:a="http://schemas.openxmlformats.org/drawingml/2006/main">
              <a:ext uri="{FF2B5EF4-FFF2-40B4-BE49-F238E27FC236}">
                <a16:creationId xmlns:a16="http://schemas.microsoft.com/office/drawing/2014/main" id="{6A805153-CD3D-4FB9-832F-C137299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72000"/>
            <a:ext cx="594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Administrators focus on governance</a:t>
            </a:r>
          </a:p>
        </p:txBody>
      </p:sp>
    </p:spTree>
    <p:extLst>
      <p:ext uri="{BB962C8B-B14F-4D97-AF65-F5344CB8AC3E}">
        <p14:creationId xmlns:p14="http://schemas.microsoft.com/office/powerpoint/2010/main" val="191640949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CFB067-0446-4D46-8D4C-543BE42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8fb269f8e4ef5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3515EF33-D31B-44CB-9B47-862D51B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685C2138-376A-4A64-903D-A531309F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C876F3-B826-4BDE-BAC1-869D4B21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DB338F-6ACA-4EB8-B26D-7720DA27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64DC4E-7EAF-4EA2-BEBA-7A2324A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Users manage their own transactions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6C6162-A9CF-4D38-966E-D32DA690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Self-Service Operations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CD460E-CCFB-46C9-9DB6-518B9B26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BE2C6B22-466A-43DE-8C04-4CE8271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provider-ops">
            <a:extLst xmlns:a="http://schemas.openxmlformats.org/drawingml/2006/main">
              <a:ext uri="{FF2B5EF4-FFF2-40B4-BE49-F238E27FC236}">
                <a16:creationId xmlns:a16="http://schemas.microsoft.com/office/drawing/2014/main" id="{061AF23E-DABA-4ECD-80FF-FBB8050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1435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1557C0"/>
            </a:solidFill>
            <a:prstDash val="solid"/>
          </a:ln>
        </p:spPr>
      </p:sp>
      <p:sp>
        <p:nvSpPr>
          <p:cNvPr id="12" name="client-ops">
            <a:extLst xmlns:a="http://schemas.openxmlformats.org/drawingml/2006/main">
              <a:ext uri="{FF2B5EF4-FFF2-40B4-BE49-F238E27FC236}">
                <a16:creationId xmlns:a16="http://schemas.microsoft.com/office/drawing/2014/main" id="{734F9344-D947-483B-B7FF-9F72F94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51435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13" name="provider-ops-text">
            <a:extLst xmlns:a="http://schemas.openxmlformats.org/drawingml/2006/main">
              <a:ext uri="{FF2B5EF4-FFF2-40B4-BE49-F238E27FC236}">
                <a16:creationId xmlns:a16="http://schemas.microsoft.com/office/drawing/2014/main" id="{92518F6C-C9D1-476D-8D98-D9364F4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457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Providers manage profiles, listings, pricing, availability, and booking responses</a:t>
            </a:r>
          </a:p>
        </p:txBody>
      </p:sp>
      <p:sp>
        <p:nvSpPr>
          <p:cNvPr id="14" name="client-ops-text">
            <a:extLst xmlns:a="http://schemas.openxmlformats.org/drawingml/2006/main">
              <a:ext uri="{FF2B5EF4-FFF2-40B4-BE49-F238E27FC236}">
                <a16:creationId xmlns:a16="http://schemas.microsoft.com/office/drawing/2014/main" id="{35505E10-C818-4C3C-81C2-02F7A44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4457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Clients manage requests, quotation approvals, and transactions</a:t>
            </a:r>
          </a:p>
        </p:txBody>
      </p:sp>
      <p:sp>
        <p:nvSpPr>
          <p:cNvPr id="15" name="admin-boundary">
            <a:extLst xmlns:a="http://schemas.openxmlformats.org/drawingml/2006/main">
              <a:ext uri="{FF2B5EF4-FFF2-40B4-BE49-F238E27FC236}">
                <a16:creationId xmlns:a16="http://schemas.microsoft.com/office/drawing/2014/main" id="{BC022C21-3F35-4B33-A8BA-F05C800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Admins do not control every transaction</a:t>
            </a:r>
          </a:p>
        </p:txBody>
      </p:sp>
    </p:spTree>
    <p:extLst>
      <p:ext uri="{BB962C8B-B14F-4D97-AF65-F5344CB8AC3E}">
        <p14:creationId xmlns:p14="http://schemas.microsoft.com/office/powerpoint/2010/main" val="199433777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D6D65F3-9043-4BDA-856C-F6AC3D4F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26768eee24dcb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3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D7B0B65E-A5ED-44E5-8642-EB5E0272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" name="company">
            <a:extLst xmlns:a="http://schemas.openxmlformats.org/drawingml/2006/main">
              <a:ext uri="{FF2B5EF4-FFF2-40B4-BE49-F238E27FC236}">
                <a16:creationId xmlns:a16="http://schemas.microsoft.com/office/drawing/2014/main" id="{5DCA1CE3-B0FE-48F7-AD3A-24C89AC2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FDF03A-13E8-48BD-935E-B35A856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9C28D0-429F-4679-A89A-31F9E08C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711F7C-02E0-4CC3-83CA-35E3350C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"/>
            <a:ext cx="811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From validation to working marketplace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91A49-5DE8-40FF-9530-8CD96060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Project Timeline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6FB79F-C670-46CC-8F13-2FBBA5A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4A5167D6-EE9A-4A9F-A09A-57E6E5B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D3661B3C-5D38-4152-91FB-CC0A6AB1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48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5375CB87-2691-4560-A030-58B3F62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CB448C94-1F73-478C-95EF-6FC3851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4E291000-495B-4959-9182-82DA972D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2253FF49-DFAC-496C-B70A-DB5C717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imeline-stage-1">
            <a:extLst xmlns:a="http://schemas.openxmlformats.org/drawingml/2006/main">
              <a:ext uri="{FF2B5EF4-FFF2-40B4-BE49-F238E27FC236}">
                <a16:creationId xmlns:a16="http://schemas.microsoft.com/office/drawing/2014/main" id="{1E6A23EA-30B0-4771-BAEC-AB2CD012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76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64D15E19-8000-4818-BFBF-19E2D1C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Concept revision and requirement analysis</a:t>
            </a:r>
          </a:p>
        </p:txBody>
      </p:sp>
      <p:sp>
        <p:nvSpPr>
          <p:cNvPr id="18" name="timeline-stage-2">
            <a:extLst xmlns:a="http://schemas.openxmlformats.org/drawingml/2006/main">
              <a:ext uri="{FF2B5EF4-FFF2-40B4-BE49-F238E27FC236}">
                <a16:creationId xmlns:a16="http://schemas.microsoft.com/office/drawing/2014/main" id="{7A93297E-8F14-46E7-B513-AF9562C8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276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9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8A582F4A-FE83-418D-9C26-7FDF281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0" name="timeline-stage-3">
            <a:extLst xmlns:a="http://schemas.openxmlformats.org/drawingml/2006/main">
              <a:ext uri="{FF2B5EF4-FFF2-40B4-BE49-F238E27FC236}">
                <a16:creationId xmlns:a16="http://schemas.microsoft.com/office/drawing/2014/main" id="{E4ED68BB-5C92-4E2A-8D6C-3CDCDB8D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276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1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E1452374-ADE5-476C-AB31-0E1CB08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Coding and development</a:t>
            </a:r>
          </a:p>
        </p:txBody>
      </p:sp>
      <p:sp>
        <p:nvSpPr>
          <p:cNvPr id="22" name="timeline-stage-4">
            <a:extLst xmlns:a="http://schemas.openxmlformats.org/drawingml/2006/main">
              <a:ext uri="{FF2B5EF4-FFF2-40B4-BE49-F238E27FC236}">
                <a16:creationId xmlns:a16="http://schemas.microsoft.com/office/drawing/2014/main" id="{9698BB77-01A6-43AB-8196-40781F92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276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3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C538D18-6DEF-45B5-BFE7-5B18BDF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Testing, refinement, documentation, and review</a:t>
            </a:r>
          </a:p>
        </p:txBody>
      </p:sp>
    </p:spTree>
    <p:extLst>
      <p:ext uri="{BB962C8B-B14F-4D97-AF65-F5344CB8AC3E}">
        <p14:creationId xmlns:p14="http://schemas.microsoft.com/office/powerpoint/2010/main" val="161242567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E15BB-ACE9-4D07-99FE-6287409D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da45476f84f37"/>
          <a:srcRect xmlns:a="http://schemas.openxmlformats.org/drawingml/2006/main" l="0" t="2273" r="0" b="2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losing-overlay">
            <a:extLst xmlns:a="http://schemas.openxmlformats.org/drawingml/2006/main">
              <a:ext uri="{FF2B5EF4-FFF2-40B4-BE49-F238E27FC236}">
                <a16:creationId xmlns:a16="http://schemas.microsoft.com/office/drawing/2014/main" id="{78C8ED06-F566-4B31-85AC-72F84F5C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losing-copy-field">
            <a:extLst xmlns:a="http://schemas.openxmlformats.org/drawingml/2006/main">
              <a:ext uri="{FF2B5EF4-FFF2-40B4-BE49-F238E27FC236}">
                <a16:creationId xmlns:a16="http://schemas.microsoft.com/office/drawing/2014/main" id="{03583D55-1A7B-45BE-8890-CE032FC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7a1b76f784e3b"/>
          <a:stretch xmlns:a="http://schemas.openxmlformats.org/drawingml/2006/main"/>
        </p:blipFill>
        <p:spPr>
          <a:xfrm xmlns:a="http://schemas.openxmlformats.org/drawingml/2006/main">
            <a:off x="516529" y="238125"/>
            <a:ext cx="1748241" cy="485775"/>
          </a:xfrm>
          <a:prstGeom xmlns:a="http://schemas.openxmlformats.org/drawingml/2006/main" prst="rect">
            <a:avLst/>
          </a:prstGeom>
        </p:spPr>
      </p:pic>
      <p:sp>
        <p:nvSpPr>
          <p:cNvPr id="6" name="source-brand-text">
            <a:extLst xmlns:a="http://schemas.openxmlformats.org/drawingml/2006/main">
              <a:ext uri="{FF2B5EF4-FFF2-40B4-BE49-F238E27FC236}">
                <a16:creationId xmlns:a16="http://schemas.microsoft.com/office/drawing/2014/main" id="{FA4F304E-54E6-42A2-B5E5-2CA2AD3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865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7" name="company">
            <a:extLst xmlns:a="http://schemas.openxmlformats.org/drawingml/2006/main">
              <a:ext uri="{FF2B5EF4-FFF2-40B4-BE49-F238E27FC236}">
                <a16:creationId xmlns:a16="http://schemas.microsoft.com/office/drawing/2014/main" id="{4048F6E0-781B-45A3-B7BE-8166FB4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B0F315-04D9-4ACB-B8A0-E4C1274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077B5D-280D-4BEE-9605-45F044F8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esenter">
            <a:extLst xmlns:a="http://schemas.openxmlformats.org/drawingml/2006/main">
              <a:ext uri="{FF2B5EF4-FFF2-40B4-BE49-F238E27FC236}">
                <a16:creationId xmlns:a16="http://schemas.microsoft.com/office/drawing/2014/main" id="{FB78A029-A77C-4DEE-8269-26945AA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FB858E-1206-468E-ACBB-71CFF9A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E64AFC-2DAE-4860-B445-43329B6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00125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May trabaho? Who?</a:t>
            </a:r>
          </a:p>
        </p:txBody>
      </p: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9DBC29-0652-413C-AEF7-C9C64489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33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14" name="closing-line-1-marker">
            <a:extLst xmlns:a="http://schemas.openxmlformats.org/drawingml/2006/main">
              <a:ext uri="{FF2B5EF4-FFF2-40B4-BE49-F238E27FC236}">
                <a16:creationId xmlns:a16="http://schemas.microsoft.com/office/drawing/2014/main" id="{E38B54A3-B85F-4570-A5A9-A1968EA8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losing-line-1-text">
            <a:extLst xmlns:a="http://schemas.openxmlformats.org/drawingml/2006/main">
              <a:ext uri="{FF2B5EF4-FFF2-40B4-BE49-F238E27FC236}">
                <a16:creationId xmlns:a16="http://schemas.microsoft.com/office/drawing/2014/main" id="{268955BD-3582-40F1-A98C-9291B51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addresses fragmented local service transactions</a:t>
            </a:r>
          </a:p>
        </p:txBody>
      </p:sp>
      <p:sp>
        <p:nvSpPr>
          <p:cNvPr id="16" name="closing-line-2-marker">
            <a:extLst xmlns:a="http://schemas.openxmlformats.org/drawingml/2006/main">
              <a:ext uri="{FF2B5EF4-FFF2-40B4-BE49-F238E27FC236}">
                <a16:creationId xmlns:a16="http://schemas.microsoft.com/office/drawing/2014/main" id="{2FAD5F2E-13F2-48F2-A9ED-2635B5D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losing-line-2-text">
            <a:extLst xmlns:a="http://schemas.openxmlformats.org/drawingml/2006/main">
              <a:ext uri="{FF2B5EF4-FFF2-40B4-BE49-F238E27FC236}">
                <a16:creationId xmlns:a16="http://schemas.microsoft.com/office/drawing/2014/main" id="{CDE52FD1-A95A-4A43-8181-3B99693A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It brings service discovery, listings, booking, scheduling, communication, transaction coordination, and reviews into one organized environment</a:t>
            </a:r>
          </a:p>
        </p:txBody>
      </p:sp>
      <p:sp>
        <p:nvSpPr>
          <p:cNvPr id="18" name="closing-line-3-marker">
            <a:extLst xmlns:a="http://schemas.openxmlformats.org/drawingml/2006/main">
              <a:ext uri="{FF2B5EF4-FFF2-40B4-BE49-F238E27FC236}">
                <a16:creationId xmlns:a16="http://schemas.microsoft.com/office/drawing/2014/main" id="{1502C231-C26E-459B-BDE2-3DE6ADE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losing-line-3-text">
            <a:extLst xmlns:a="http://schemas.openxmlformats.org/drawingml/2006/main">
              <a:ext uri="{FF2B5EF4-FFF2-40B4-BE49-F238E27FC236}">
                <a16:creationId xmlns:a16="http://schemas.microsoft.com/office/drawing/2014/main" id="{1BB941A1-AF66-4759-8B09-BDB88845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Goal: make local service transactions more structured, transparent,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1292400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2026-08-29T01:18:30.5630000Z</dcterms:created>
  <dcterms:modified xsi:type="dcterms:W3CDTF">2026-08-29T01:18:30.5630000Z</dcterms:modified>
</coreProperties>
</file>