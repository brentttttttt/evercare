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1faae00354a28" /><Relationship Type="http://schemas.openxmlformats.org/officeDocument/2006/relationships/extended-properties" Target="/docProps/app.xml" Id="Rfcdedc7df5154d07" /><Relationship Type="http://schemas.openxmlformats.org/officeDocument/2006/relationships/officeDocument" Target="/ppt/presentation.xml" Id="R4ebb37fd35f141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f62778e5e4106"/>
  </p:sldMasterIdLst>
  <p:notesMasterIdLst>
    <p:notesMasterId xmlns:r="http://schemas.openxmlformats.org/officeDocument/2006/relationships" r:id="R7f26d0e0f56e4c7a"/>
  </p:notesMasterIdLst>
  <p:sldIdLst>
    <p:sldId xmlns:r="http://schemas.openxmlformats.org/officeDocument/2006/relationships" id="256" r:id="Rf427413389bd43a2"/>
    <p:sldId xmlns:r="http://schemas.openxmlformats.org/officeDocument/2006/relationships" id="257" r:id="Rb4eee373e0d04e59"/>
    <p:sldId xmlns:r="http://schemas.openxmlformats.org/officeDocument/2006/relationships" id="258" r:id="Ra7e1dc6df77347bb"/>
    <p:sldId xmlns:r="http://schemas.openxmlformats.org/officeDocument/2006/relationships" id="259" r:id="Rdb86081ca8d54d2d"/>
    <p:sldId xmlns:r="http://schemas.openxmlformats.org/officeDocument/2006/relationships" id="260" r:id="Re03d1e70ef0f45ce"/>
    <p:sldId xmlns:r="http://schemas.openxmlformats.org/officeDocument/2006/relationships" id="261" r:id="R6b3149783fb046cd"/>
    <p:sldId xmlns:r="http://schemas.openxmlformats.org/officeDocument/2006/relationships" id="262" r:id="R10cbc19603c641da"/>
    <p:sldId xmlns:r="http://schemas.openxmlformats.org/officeDocument/2006/relationships" id="263" r:id="R243ed53627a54a4d"/>
    <p:sldId xmlns:r="http://schemas.openxmlformats.org/officeDocument/2006/relationships" id="264" r:id="R59b2e92b794240c3"/>
    <p:sldId xmlns:r="http://schemas.openxmlformats.org/officeDocument/2006/relationships" id="265" r:id="R40221e64fffe4978"/>
    <p:sldId xmlns:r="http://schemas.openxmlformats.org/officeDocument/2006/relationships" id="266" r:id="R33347107af0e4605"/>
    <p:sldId xmlns:r="http://schemas.openxmlformats.org/officeDocument/2006/relationships" id="267" r:id="R8d468c1167274af8"/>
    <p:sldId xmlns:r="http://schemas.openxmlformats.org/officeDocument/2006/relationships" id="268" r:id="R5051435be1ee42ac"/>
    <p:sldId xmlns:r="http://schemas.openxmlformats.org/officeDocument/2006/relationships" id="269" r:id="Ra7b5038e18374c99"/>
    <p:sldId xmlns:r="http://schemas.openxmlformats.org/officeDocument/2006/relationships" id="270" r:id="Rbe0c67fbf1e64f27"/>
    <p:sldId xmlns:r="http://schemas.openxmlformats.org/officeDocument/2006/relationships" id="271" r:id="Rd47176680e4c4c34"/>
    <p:sldId xmlns:r="http://schemas.openxmlformats.org/officeDocument/2006/relationships" id="272" r:id="R66c33185490442ab"/>
    <p:sldId xmlns:r="http://schemas.openxmlformats.org/officeDocument/2006/relationships" id="273" r:id="Rf92cc7c3a6124e48"/>
    <p:sldId xmlns:r="http://schemas.openxmlformats.org/officeDocument/2006/relationships" id="274" r:id="R2e5a62fd59a1401a"/>
    <p:sldId xmlns:r="http://schemas.openxmlformats.org/officeDocument/2006/relationships" id="275" r:id="Rfae8cbaaaadc4adb"/>
    <p:sldId xmlns:r="http://schemas.openxmlformats.org/officeDocument/2006/relationships" id="276" r:id="R5ec8454a81ec40ad"/>
    <p:sldId xmlns:r="http://schemas.openxmlformats.org/officeDocument/2006/relationships" id="277" r:id="Rdd7bf842859b4fe5"/>
    <p:sldId xmlns:r="http://schemas.openxmlformats.org/officeDocument/2006/relationships" id="278" r:id="R08e8c1d33ec64931"/>
    <p:sldId xmlns:r="http://schemas.openxmlformats.org/officeDocument/2006/relationships" id="279" r:id="R2d8c2873dc4e4ad5"/>
    <p:sldId xmlns:r="http://schemas.openxmlformats.org/officeDocument/2006/relationships" id="280" r:id="R3c3bb34d28054c77"/>
    <p:sldId xmlns:r="http://schemas.openxmlformats.org/officeDocument/2006/relationships" id="281" r:id="Rf60db35bd822473b"/>
    <p:sldId xmlns:r="http://schemas.openxmlformats.org/officeDocument/2006/relationships" id="282" r:id="R2359eb3de0c6498b"/>
    <p:sldId xmlns:r="http://schemas.openxmlformats.org/officeDocument/2006/relationships" id="283" r:id="Rbdc3592ab4b04132"/>
    <p:sldId xmlns:r="http://schemas.openxmlformats.org/officeDocument/2006/relationships" id="284" r:id="R95cdadc4f4744642"/>
    <p:sldId xmlns:r="http://schemas.openxmlformats.org/officeDocument/2006/relationships" id="285" r:id="R40e119af239341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f62778e5e4106" /><Relationship Type="http://schemas.openxmlformats.org/officeDocument/2006/relationships/theme" Target="/ppt/theme/theme1.xml" Id="Rcc44e74ffcd44592" /><Relationship Type="http://schemas.openxmlformats.org/officeDocument/2006/relationships/notesMaster" Target="/ppt/notesMasters/notesMaster1.xml" Id="R7f26d0e0f56e4c7a" /><Relationship Type="http://schemas.openxmlformats.org/officeDocument/2006/relationships/presProps" Target="/ppt/presProps.xml" Id="R9c5e7c639c10452f" /><Relationship Type="http://schemas.openxmlformats.org/officeDocument/2006/relationships/viewProps" Target="/ppt/viewProps.xml" Id="R79e11a59104b48af" /><Relationship Type="http://schemas.openxmlformats.org/officeDocument/2006/relationships/tableStyles" Target="/ppt/tableStyles.xml" Id="Rda466540fc914b75" /><Relationship Type="http://schemas.openxmlformats.org/officeDocument/2006/relationships/slide" Target="/ppt/slides/slide1.xml" Id="Rf427413389bd43a2" /><Relationship Type="http://schemas.openxmlformats.org/officeDocument/2006/relationships/slide" Target="/ppt/slides/slide2.xml" Id="Rb4eee373e0d04e59" /><Relationship Type="http://schemas.openxmlformats.org/officeDocument/2006/relationships/slide" Target="/ppt/slides/slide3.xml" Id="Ra7e1dc6df77347bb" /><Relationship Type="http://schemas.openxmlformats.org/officeDocument/2006/relationships/slide" Target="/ppt/slides/slide4.xml" Id="Rdb86081ca8d54d2d" /><Relationship Type="http://schemas.openxmlformats.org/officeDocument/2006/relationships/slide" Target="/ppt/slides/slide5.xml" Id="Re03d1e70ef0f45ce" /><Relationship Type="http://schemas.openxmlformats.org/officeDocument/2006/relationships/slide" Target="/ppt/slides/slide6.xml" Id="R6b3149783fb046cd" /><Relationship Type="http://schemas.openxmlformats.org/officeDocument/2006/relationships/slide" Target="/ppt/slides/slide7.xml" Id="R10cbc19603c641da" /><Relationship Type="http://schemas.openxmlformats.org/officeDocument/2006/relationships/slide" Target="/ppt/slides/slide8.xml" Id="R243ed53627a54a4d" /><Relationship Type="http://schemas.openxmlformats.org/officeDocument/2006/relationships/slide" Target="/ppt/slides/slide9.xml" Id="R59b2e92b794240c3" /><Relationship Type="http://schemas.openxmlformats.org/officeDocument/2006/relationships/slide" Target="/ppt/slides/slide10.xml" Id="R40221e64fffe4978" /><Relationship Type="http://schemas.openxmlformats.org/officeDocument/2006/relationships/slide" Target="/ppt/slides/slide11.xml" Id="R33347107af0e4605" /><Relationship Type="http://schemas.openxmlformats.org/officeDocument/2006/relationships/slide" Target="/ppt/slides/slide12.xml" Id="R8d468c1167274af8" /><Relationship Type="http://schemas.openxmlformats.org/officeDocument/2006/relationships/slide" Target="/ppt/slides/slide13.xml" Id="R5051435be1ee42ac" /><Relationship Type="http://schemas.openxmlformats.org/officeDocument/2006/relationships/slide" Target="/ppt/slides/slide14.xml" Id="Ra7b5038e18374c99" /><Relationship Type="http://schemas.openxmlformats.org/officeDocument/2006/relationships/slide" Target="/ppt/slides/slide15.xml" Id="Rbe0c67fbf1e64f27" /><Relationship Type="http://schemas.openxmlformats.org/officeDocument/2006/relationships/slide" Target="/ppt/slides/slide16.xml" Id="Rd47176680e4c4c34" /><Relationship Type="http://schemas.openxmlformats.org/officeDocument/2006/relationships/slide" Target="/ppt/slides/slide17.xml" Id="R66c33185490442ab" /><Relationship Type="http://schemas.openxmlformats.org/officeDocument/2006/relationships/slide" Target="/ppt/slides/slide18.xml" Id="Rf92cc7c3a6124e48" /><Relationship Type="http://schemas.openxmlformats.org/officeDocument/2006/relationships/slide" Target="/ppt/slides/slide19.xml" Id="R2e5a62fd59a1401a" /><Relationship Type="http://schemas.openxmlformats.org/officeDocument/2006/relationships/slide" Target="/ppt/slides/slide20.xml" Id="Rfae8cbaaaadc4adb" /><Relationship Type="http://schemas.openxmlformats.org/officeDocument/2006/relationships/slide" Target="/ppt/slides/slide21.xml" Id="R5ec8454a81ec40ad" /><Relationship Type="http://schemas.openxmlformats.org/officeDocument/2006/relationships/slide" Target="/ppt/slides/slide22.xml" Id="Rdd7bf842859b4fe5" /><Relationship Type="http://schemas.openxmlformats.org/officeDocument/2006/relationships/slide" Target="/ppt/slides/slide23.xml" Id="R08e8c1d33ec64931" /><Relationship Type="http://schemas.openxmlformats.org/officeDocument/2006/relationships/slide" Target="/ppt/slides/slide24.xml" Id="R2d8c2873dc4e4ad5" /><Relationship Type="http://schemas.openxmlformats.org/officeDocument/2006/relationships/slide" Target="/ppt/slides/slide25.xml" Id="R3c3bb34d28054c77" /><Relationship Type="http://schemas.openxmlformats.org/officeDocument/2006/relationships/slide" Target="/ppt/slides/slide26.xml" Id="Rf60db35bd822473b" /><Relationship Type="http://schemas.openxmlformats.org/officeDocument/2006/relationships/slide" Target="/ppt/slides/slide27.xml" Id="R2359eb3de0c6498b" /><Relationship Type="http://schemas.openxmlformats.org/officeDocument/2006/relationships/slide" Target="/ppt/slides/slide28.xml" Id="Rbdc3592ab4b04132" /><Relationship Type="http://schemas.openxmlformats.org/officeDocument/2006/relationships/slide" Target="/ppt/slides/slide29.xml" Id="R95cdadc4f4744642" /><Relationship Type="http://schemas.openxmlformats.org/officeDocument/2006/relationships/slide" Target="/ppt/slides/slide30.xml" Id="R40e119af2393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71849129b1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ce28ba2244393" /><Relationship Type="http://schemas.openxmlformats.org/officeDocument/2006/relationships/notesMaster" Target="/ppt/notesMasters/notesMaster1.xml" Id="R3f2f9aeb3b92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b456d501a4081" /><Relationship Type="http://schemas.openxmlformats.org/officeDocument/2006/relationships/notesMaster" Target="/ppt/notesMasters/notesMaster1.xml" Id="Rc5922cd8823742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f77147daa24bec" /><Relationship Type="http://schemas.openxmlformats.org/officeDocument/2006/relationships/notesMaster" Target="/ppt/notesMasters/notesMaster1.xml" Id="R3886ef334a2f45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5a78e4dfe3477e" /><Relationship Type="http://schemas.openxmlformats.org/officeDocument/2006/relationships/notesMaster" Target="/ppt/notesMasters/notesMaster1.xml" Id="R0179cc5babc144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da83a4f354765" /><Relationship Type="http://schemas.openxmlformats.org/officeDocument/2006/relationships/notesMaster" Target="/ppt/notesMasters/notesMaster1.xml" Id="Rb3f4308421584b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91550c14040f3" /><Relationship Type="http://schemas.openxmlformats.org/officeDocument/2006/relationships/notesMaster" Target="/ppt/notesMasters/notesMaster1.xml" Id="R545f9ea9ae0a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dae58485f4637" /><Relationship Type="http://schemas.openxmlformats.org/officeDocument/2006/relationships/notesMaster" Target="/ppt/notesMasters/notesMaster1.xml" Id="Rbc6f2b2fd4b7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bf11341da4d35" /><Relationship Type="http://schemas.openxmlformats.org/officeDocument/2006/relationships/notesMaster" Target="/ppt/notesMasters/notesMaster1.xml" Id="Rd421f9ada38c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87d45bfbf94880" /><Relationship Type="http://schemas.openxmlformats.org/officeDocument/2006/relationships/notesMaster" Target="/ppt/notesMasters/notesMaster1.xml" Id="R7328ef792966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f37c09330a42bb" /><Relationship Type="http://schemas.openxmlformats.org/officeDocument/2006/relationships/notesMaster" Target="/ppt/notesMasters/notesMaster1.xml" Id="Raea4050030d1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7f1adc0bb451d" /><Relationship Type="http://schemas.openxmlformats.org/officeDocument/2006/relationships/notesMaster" Target="/ppt/notesMasters/notesMaster1.xml" Id="Rfa09f258e5cb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a0f4c43330424b" /><Relationship Type="http://schemas.openxmlformats.org/officeDocument/2006/relationships/notesMaster" Target="/ppt/notesMasters/notesMaster1.xml" Id="R1169fb350c5f4e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2ad18838c84d1e" /><Relationship Type="http://schemas.openxmlformats.org/officeDocument/2006/relationships/notesMaster" Target="/ppt/notesMasters/notesMaster1.xml" Id="R04f97cffdee84c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caac2ab5864172" /><Relationship Type="http://schemas.openxmlformats.org/officeDocument/2006/relationships/notesMaster" Target="/ppt/notesMasters/notesMaster1.xml" Id="R6b1b9298748d4c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ddd1e109394752" /><Relationship Type="http://schemas.openxmlformats.org/officeDocument/2006/relationships/notesMaster" Target="/ppt/notesMasters/notesMaster1.xml" Id="R16a8d82e2e9341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f1891b32d945cd" /><Relationship Type="http://schemas.openxmlformats.org/officeDocument/2006/relationships/notesMaster" Target="/ppt/notesMasters/notesMaster1.xml" Id="R43f236b981a94c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82b3579b284694" /><Relationship Type="http://schemas.openxmlformats.org/officeDocument/2006/relationships/notesMaster" Target="/ppt/notesMasters/notesMaster1.xml" Id="Rc7c9e810aaa942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2d0c88af4945cf" /><Relationship Type="http://schemas.openxmlformats.org/officeDocument/2006/relationships/notesMaster" Target="/ppt/notesMasters/notesMaster1.xml" Id="R510ee760788f41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0e9715b00942cd" /><Relationship Type="http://schemas.openxmlformats.org/officeDocument/2006/relationships/notesMaster" Target="/ppt/notesMasters/notesMaster1.xml" Id="Rdaf3ef7f724b43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15ce913e974803" /><Relationship Type="http://schemas.openxmlformats.org/officeDocument/2006/relationships/notesMaster" Target="/ppt/notesMasters/notesMaster1.xml" Id="Ra2c728aebfb04c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ba093696674895" /><Relationship Type="http://schemas.openxmlformats.org/officeDocument/2006/relationships/notesMaster" Target="/ppt/notesMasters/notesMaster1.xml" Id="R53f56fe8633f4d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66d880eb614979" /><Relationship Type="http://schemas.openxmlformats.org/officeDocument/2006/relationships/notesMaster" Target="/ppt/notesMasters/notesMaster1.xml" Id="R458e913444ba4b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13ba193c434331" /><Relationship Type="http://schemas.openxmlformats.org/officeDocument/2006/relationships/notesMaster" Target="/ppt/notesMasters/notesMaster1.xml" Id="R2c0e68a2d53747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e928b778964965" /><Relationship Type="http://schemas.openxmlformats.org/officeDocument/2006/relationships/notesMaster" Target="/ppt/notesMasters/notesMaster1.xml" Id="R9be48761cf8a40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e7defccfbb439a" /><Relationship Type="http://schemas.openxmlformats.org/officeDocument/2006/relationships/notesMaster" Target="/ppt/notesMasters/notesMaster1.xml" Id="R01ede78508cd4c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a856bc2a84456c" /><Relationship Type="http://schemas.openxmlformats.org/officeDocument/2006/relationships/notesMaster" Target="/ppt/notesMasters/notesMaster1.xml" Id="R558689f1555e41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4798a4684d4909" /><Relationship Type="http://schemas.openxmlformats.org/officeDocument/2006/relationships/notesMaster" Target="/ppt/notesMasters/notesMaster1.xml" Id="R9fe551ddb512423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488222f99c4d3b" /><Relationship Type="http://schemas.openxmlformats.org/officeDocument/2006/relationships/notesMaster" Target="/ppt/notesMasters/notesMaster1.xml" Id="R7937c4ff95bf418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6f15d4518045c8" /><Relationship Type="http://schemas.openxmlformats.org/officeDocument/2006/relationships/notesMaster" Target="/ppt/notesMasters/notesMaster1.xml" Id="R714b25f2dfba4bc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824a774a104e0a" /><Relationship Type="http://schemas.openxmlformats.org/officeDocument/2006/relationships/notesMaster" Target="/ppt/notesMasters/notesMaster1.xml" Id="R297107ba7e1c4d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b3854faaa4c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cd80a6b6d4496a" /><Relationship Type="http://schemas.openxmlformats.org/officeDocument/2006/relationships/slideLayout" Target="/ppt/slideLayouts/slideLayout2.xml" Id="R30d8717a8b2140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8717a8b2140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47d551352641fe" /><Relationship Type="http://schemas.openxmlformats.org/officeDocument/2006/relationships/image" Target="/ppt/media/image.jpeg" Id="R9f7a4517deaf4fb2" /><Relationship Type="http://schemas.openxmlformats.org/officeDocument/2006/relationships/image" Target="/ppt/media/image.png" Id="Rffe2da9cba3544f9" /><Relationship Type="http://schemas.openxmlformats.org/officeDocument/2006/relationships/notesSlide" Target="/ppt/notesSlides/notesSlide1.xml" Id="Re6ee4c6b9960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280f5286a04b28" /><Relationship Type="http://schemas.openxmlformats.org/officeDocument/2006/relationships/image" Target="/ppt/media/image2.png" Id="R5ad8f6369a5b4115" /><Relationship Type="http://schemas.openxmlformats.org/officeDocument/2006/relationships/image" Target="/ppt/media/image3.png" Id="R8bcfd4eefc16422e" /><Relationship Type="http://schemas.openxmlformats.org/officeDocument/2006/relationships/image" Target="/ppt/media/image.svg" Id="R5e8516daee384ddf" /><Relationship Type="http://schemas.openxmlformats.org/officeDocument/2006/relationships/image" Target="/ppt/media/image4.png" Id="R9de128d7d4e9458e" /><Relationship Type="http://schemas.openxmlformats.org/officeDocument/2006/relationships/image" Target="/ppt/media/image2.svg" Id="Rca12ad47b0c143c7" /><Relationship Type="http://schemas.openxmlformats.org/officeDocument/2006/relationships/image" Target="/ppt/media/image5.png" Id="Rc3e0e672f446424f" /><Relationship Type="http://schemas.openxmlformats.org/officeDocument/2006/relationships/image" Target="/ppt/media/image3.svg" Id="R352c107b2a2e4a9c" /><Relationship Type="http://schemas.openxmlformats.org/officeDocument/2006/relationships/image" Target="/ppt/media/image6.png" Id="R8529c4ee713e47eb" /><Relationship Type="http://schemas.openxmlformats.org/officeDocument/2006/relationships/image" Target="/ppt/media/image4.svg" Id="R9d9c463c91d949ac" /><Relationship Type="http://schemas.openxmlformats.org/officeDocument/2006/relationships/notesSlide" Target="/ppt/notesSlides/notesSlide2.xml" Id="Re98e66019e504e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dd8ebff6d47dd" /><Relationship Type="http://schemas.openxmlformats.org/officeDocument/2006/relationships/image" Target="/ppt/media/image7.png" Id="R779fbbd5b262495d" /><Relationship Type="http://schemas.openxmlformats.org/officeDocument/2006/relationships/image" Target="/ppt/media/image8.png" Id="Rf4e0f7f6d6e44454" /><Relationship Type="http://schemas.openxmlformats.org/officeDocument/2006/relationships/image" Target="/ppt/media/image5.svg" Id="Rc8ad74ac34bb40b5" /><Relationship Type="http://schemas.openxmlformats.org/officeDocument/2006/relationships/image" Target="/ppt/media/image9.png" Id="Rb9700db90ee244bd" /><Relationship Type="http://schemas.openxmlformats.org/officeDocument/2006/relationships/image" Target="/ppt/media/image6.svg" Id="R1e04b9786dc743e5" /><Relationship Type="http://schemas.openxmlformats.org/officeDocument/2006/relationships/image" Target="/ppt/media/image10.png" Id="R1c97c9346dad497c" /><Relationship Type="http://schemas.openxmlformats.org/officeDocument/2006/relationships/image" Target="/ppt/media/image7.svg" Id="Rd639337fc03f4596" /><Relationship Type="http://schemas.openxmlformats.org/officeDocument/2006/relationships/image" Target="/ppt/media/image11.png" Id="R49e3550edbea41ba" /><Relationship Type="http://schemas.openxmlformats.org/officeDocument/2006/relationships/image" Target="/ppt/media/image8.svg" Id="R76f85cff19084b9a" /><Relationship Type="http://schemas.openxmlformats.org/officeDocument/2006/relationships/notesSlide" Target="/ppt/notesSlides/notesSlide3.xml" Id="R507afb206e56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d2a1c636f942e1" /><Relationship Type="http://schemas.openxmlformats.org/officeDocument/2006/relationships/image" Target="/ppt/media/image12.png" Id="R254aed495a2d4408" /><Relationship Type="http://schemas.openxmlformats.org/officeDocument/2006/relationships/image" Target="/ppt/media/image13.png" Id="R7b3f264039bf47d7" /><Relationship Type="http://schemas.openxmlformats.org/officeDocument/2006/relationships/image" Target="/ppt/media/image9.svg" Id="R6d7c0358cd844fd4" /><Relationship Type="http://schemas.openxmlformats.org/officeDocument/2006/relationships/image" Target="/ppt/media/image14.png" Id="R8045245b1ba84ac6" /><Relationship Type="http://schemas.openxmlformats.org/officeDocument/2006/relationships/image" Target="/ppt/media/image10.svg" Id="Rc26502589d2e4d1c" /><Relationship Type="http://schemas.openxmlformats.org/officeDocument/2006/relationships/image" Target="/ppt/media/image15.png" Id="R33fa654d37cd4d68" /><Relationship Type="http://schemas.openxmlformats.org/officeDocument/2006/relationships/image" Target="/ppt/media/image11.svg" Id="Rc3e5a411664a45ab" /><Relationship Type="http://schemas.openxmlformats.org/officeDocument/2006/relationships/image" Target="/ppt/media/image16.png" Id="R73e4969edfcc416d" /><Relationship Type="http://schemas.openxmlformats.org/officeDocument/2006/relationships/image" Target="/ppt/media/image12.svg" Id="Rc6bef970ffe34b86" /><Relationship Type="http://schemas.openxmlformats.org/officeDocument/2006/relationships/image" Target="/ppt/media/image17.png" Id="Rba8501ff96184888" /><Relationship Type="http://schemas.openxmlformats.org/officeDocument/2006/relationships/image" Target="/ppt/media/image13.svg" Id="R37785275f6f8407c" /><Relationship Type="http://schemas.openxmlformats.org/officeDocument/2006/relationships/notesSlide" Target="/ppt/notesSlides/notesSlide4.xml" Id="R28c41563c72348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a055157124857" /><Relationship Type="http://schemas.openxmlformats.org/officeDocument/2006/relationships/image" Target="/ppt/media/image18.png" Id="R9bf614dd436549dc" /><Relationship Type="http://schemas.openxmlformats.org/officeDocument/2006/relationships/image" Target="/ppt/media/image19.png" Id="R14f2fb8529984152" /><Relationship Type="http://schemas.openxmlformats.org/officeDocument/2006/relationships/image" Target="/ppt/media/image14.svg" Id="R822b796f76724a9f" /><Relationship Type="http://schemas.openxmlformats.org/officeDocument/2006/relationships/image" Target="/ppt/media/image20.png" Id="Rf12d75fab2274b91" /><Relationship Type="http://schemas.openxmlformats.org/officeDocument/2006/relationships/image" Target="/ppt/media/image15.svg" Id="Rfa414e8cb35d49e5" /><Relationship Type="http://schemas.openxmlformats.org/officeDocument/2006/relationships/image" Target="/ppt/media/image21.png" Id="R61e8e41666b349a6" /><Relationship Type="http://schemas.openxmlformats.org/officeDocument/2006/relationships/image" Target="/ppt/media/image16.svg" Id="R6c8f8e3e09be48b4" /><Relationship Type="http://schemas.openxmlformats.org/officeDocument/2006/relationships/notesSlide" Target="/ppt/notesSlides/notesSlide5.xml" Id="Rec4425b7857d47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19249ca644cc6" /><Relationship Type="http://schemas.openxmlformats.org/officeDocument/2006/relationships/image" Target="/ppt/media/image2.jpeg" Id="R0abd5ece745d4793" /><Relationship Type="http://schemas.openxmlformats.org/officeDocument/2006/relationships/image" Target="/ppt/media/image22.png" Id="Rb52a154865ee43cd" /><Relationship Type="http://schemas.openxmlformats.org/officeDocument/2006/relationships/image" Target="/ppt/media/image23.png" Id="R77b812fc72084a92" /><Relationship Type="http://schemas.openxmlformats.org/officeDocument/2006/relationships/image" Target="/ppt/media/image17.svg" Id="Rfe32c221adae419b" /><Relationship Type="http://schemas.openxmlformats.org/officeDocument/2006/relationships/image" Target="/ppt/media/image24.png" Id="R7194f0e4207343eb" /><Relationship Type="http://schemas.openxmlformats.org/officeDocument/2006/relationships/image" Target="/ppt/media/image18.svg" Id="Rcb54239d5c0c4f1f" /><Relationship Type="http://schemas.openxmlformats.org/officeDocument/2006/relationships/image" Target="/ppt/media/image25.png" Id="Rceb172a6e0ff4c90" /><Relationship Type="http://schemas.openxmlformats.org/officeDocument/2006/relationships/image" Target="/ppt/media/image19.svg" Id="Rd95c978c52704086" /><Relationship Type="http://schemas.openxmlformats.org/officeDocument/2006/relationships/image" Target="/ppt/media/image26.png" Id="R1a366e627a904467" /><Relationship Type="http://schemas.openxmlformats.org/officeDocument/2006/relationships/image" Target="/ppt/media/image20.svg" Id="Rdbf7164ec6f04262" /><Relationship Type="http://schemas.openxmlformats.org/officeDocument/2006/relationships/notesSlide" Target="/ppt/notesSlides/notesSlide6.xml" Id="Rd7114e57243a49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706b0e20740e1" /><Relationship Type="http://schemas.openxmlformats.org/officeDocument/2006/relationships/image" Target="/ppt/media/image27.png" Id="R2aa334b4385148bd" /><Relationship Type="http://schemas.openxmlformats.org/officeDocument/2006/relationships/notesSlide" Target="/ppt/notesSlides/notesSlide7.xml" Id="Rb3959bbd2e5949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735eae34254cc2" /><Relationship Type="http://schemas.openxmlformats.org/officeDocument/2006/relationships/image" Target="/ppt/media/image28.png" Id="R19c9e8e7723846e8" /><Relationship Type="http://schemas.openxmlformats.org/officeDocument/2006/relationships/notesSlide" Target="/ppt/notesSlides/notesSlide8.xml" Id="Rf8a29db81f5244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4ff51a7589468d" /><Relationship Type="http://schemas.openxmlformats.org/officeDocument/2006/relationships/image" Target="/ppt/media/image29.png" Id="Rd1e3e1357da14642" /><Relationship Type="http://schemas.openxmlformats.org/officeDocument/2006/relationships/notesSlide" Target="/ppt/notesSlides/notesSlide9.xml" Id="R04dec0b944a24f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a4a99eae248f3" /><Relationship Type="http://schemas.openxmlformats.org/officeDocument/2006/relationships/image" Target="/ppt/media/image30.png" Id="R223a335921d84c92" /><Relationship Type="http://schemas.openxmlformats.org/officeDocument/2006/relationships/image" Target="/ppt/media/image31.png" Id="R4677c40decc849c4" /><Relationship Type="http://schemas.openxmlformats.org/officeDocument/2006/relationships/image" Target="/ppt/media/image21.svg" Id="Rba003b8d47bd4a83" /><Relationship Type="http://schemas.openxmlformats.org/officeDocument/2006/relationships/image" Target="/ppt/media/image32.png" Id="R5938336cb7b94566" /><Relationship Type="http://schemas.openxmlformats.org/officeDocument/2006/relationships/image" Target="/ppt/media/image22.svg" Id="Ra256ef3fa7e1495b" /><Relationship Type="http://schemas.openxmlformats.org/officeDocument/2006/relationships/image" Target="/ppt/media/image33.png" Id="R5067bbf6edaa4dfb" /><Relationship Type="http://schemas.openxmlformats.org/officeDocument/2006/relationships/image" Target="/ppt/media/image23.svg" Id="R6bc62c77f9894dab" /><Relationship Type="http://schemas.openxmlformats.org/officeDocument/2006/relationships/image" Target="/ppt/media/image34.png" Id="R4f7bc1f53d6d4221" /><Relationship Type="http://schemas.openxmlformats.org/officeDocument/2006/relationships/image" Target="/ppt/media/image24.svg" Id="R81990b8f87f24074" /><Relationship Type="http://schemas.openxmlformats.org/officeDocument/2006/relationships/notesSlide" Target="/ppt/notesSlides/notesSlide10.xml" Id="R0a0f0d4dbf3848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9ab15c66ac4ee1" /><Relationship Type="http://schemas.openxmlformats.org/officeDocument/2006/relationships/image" Target="/ppt/media/image35.png" Id="R9dc31ed197e84a3a" /><Relationship Type="http://schemas.openxmlformats.org/officeDocument/2006/relationships/image" Target="/ppt/media/image36.png" Id="Rfd2daae5f863473c" /><Relationship Type="http://schemas.openxmlformats.org/officeDocument/2006/relationships/image" Target="/ppt/media/image25.svg" Id="R8911f51fa1784ffb" /><Relationship Type="http://schemas.openxmlformats.org/officeDocument/2006/relationships/image" Target="/ppt/media/image37.png" Id="R15238f17460b4297" /><Relationship Type="http://schemas.openxmlformats.org/officeDocument/2006/relationships/image" Target="/ppt/media/image26.svg" Id="R4820adf73ed14448" /><Relationship Type="http://schemas.openxmlformats.org/officeDocument/2006/relationships/image" Target="/ppt/media/image38.png" Id="R3355638b50a64c30" /><Relationship Type="http://schemas.openxmlformats.org/officeDocument/2006/relationships/image" Target="/ppt/media/image27.svg" Id="Rdc0272afd5254cf7" /><Relationship Type="http://schemas.openxmlformats.org/officeDocument/2006/relationships/image" Target="/ppt/media/image39.png" Id="R0c652df1d70a40a8" /><Relationship Type="http://schemas.openxmlformats.org/officeDocument/2006/relationships/image" Target="/ppt/media/image28.svg" Id="R82a54502eb8f44ed" /><Relationship Type="http://schemas.openxmlformats.org/officeDocument/2006/relationships/notesSlide" Target="/ppt/notesSlides/notesSlide11.xml" Id="Rc2ceb76004764a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0b1b4f6a0041a2" /><Relationship Type="http://schemas.openxmlformats.org/officeDocument/2006/relationships/image" Target="/ppt/media/image3.jpeg" Id="R42d24bd44ebc4d2e" /><Relationship Type="http://schemas.openxmlformats.org/officeDocument/2006/relationships/notesSlide" Target="/ppt/notesSlides/notesSlide12.xml" Id="Rbce9c50102cb45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8d65e1eca406f" /><Relationship Type="http://schemas.openxmlformats.org/officeDocument/2006/relationships/image" Target="/ppt/media/image40.png" Id="Rb389f615b0654d65" /><Relationship Type="http://schemas.openxmlformats.org/officeDocument/2006/relationships/notesSlide" Target="/ppt/notesSlides/notesSlide13.xml" Id="R2c558459561c40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6c8c9918b434d" /><Relationship Type="http://schemas.openxmlformats.org/officeDocument/2006/relationships/image" Target="/ppt/media/image41.png" Id="Rac2df92b48644688" /><Relationship Type="http://schemas.openxmlformats.org/officeDocument/2006/relationships/image" Target="/ppt/media/image42.png" Id="R1750822190f04415" /><Relationship Type="http://schemas.openxmlformats.org/officeDocument/2006/relationships/image" Target="/ppt/media/image29.svg" Id="Re8a8cdedd2b2454e" /><Relationship Type="http://schemas.openxmlformats.org/officeDocument/2006/relationships/image" Target="/ppt/media/image43.png" Id="R04cbc7745e0943a6" /><Relationship Type="http://schemas.openxmlformats.org/officeDocument/2006/relationships/image" Target="/ppt/media/image30.svg" Id="Rf3c763b00ea94965" /><Relationship Type="http://schemas.openxmlformats.org/officeDocument/2006/relationships/image" Target="/ppt/media/image44.png" Id="R92cd1f22c4704ab1" /><Relationship Type="http://schemas.openxmlformats.org/officeDocument/2006/relationships/image" Target="/ppt/media/image31.svg" Id="Ra47ef390e5aa4301" /><Relationship Type="http://schemas.openxmlformats.org/officeDocument/2006/relationships/image" Target="/ppt/media/image45.png" Id="R79872d42e2574878" /><Relationship Type="http://schemas.openxmlformats.org/officeDocument/2006/relationships/image" Target="/ppt/media/image32.svg" Id="R3a6adbf407ba42ac" /><Relationship Type="http://schemas.openxmlformats.org/officeDocument/2006/relationships/notesSlide" Target="/ppt/notesSlides/notesSlide14.xml" Id="R9e0f03970e404f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49a327843419c" /><Relationship Type="http://schemas.openxmlformats.org/officeDocument/2006/relationships/image" Target="/ppt/media/image46.png" Id="R1ee39ddfdb104b78" /><Relationship Type="http://schemas.openxmlformats.org/officeDocument/2006/relationships/image" Target="/ppt/media/image47.png" Id="R577cfc6f1c494228" /><Relationship Type="http://schemas.openxmlformats.org/officeDocument/2006/relationships/image" Target="/ppt/media/image33.svg" Id="Rc88af20ef3b544d6" /><Relationship Type="http://schemas.openxmlformats.org/officeDocument/2006/relationships/image" Target="/ppt/media/image48.png" Id="R8d3256e014cd4178" /><Relationship Type="http://schemas.openxmlformats.org/officeDocument/2006/relationships/image" Target="/ppt/media/image34.svg" Id="R5fbe1e4e623f46e7" /><Relationship Type="http://schemas.openxmlformats.org/officeDocument/2006/relationships/image" Target="/ppt/media/image49.png" Id="R300f51dd5afd4033" /><Relationship Type="http://schemas.openxmlformats.org/officeDocument/2006/relationships/image" Target="/ppt/media/image35.svg" Id="R83f3b8499c7646a8" /><Relationship Type="http://schemas.openxmlformats.org/officeDocument/2006/relationships/image" Target="/ppt/media/image50.png" Id="R54bac96db65f489a" /><Relationship Type="http://schemas.openxmlformats.org/officeDocument/2006/relationships/image" Target="/ppt/media/image36.svg" Id="R396d62d4d51847bd" /><Relationship Type="http://schemas.openxmlformats.org/officeDocument/2006/relationships/notesSlide" Target="/ppt/notesSlides/notesSlide15.xml" Id="R5ef6a5e8d29b4c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e03b025fbc4d29" /><Relationship Type="http://schemas.openxmlformats.org/officeDocument/2006/relationships/image" Target="/ppt/media/image51.png" Id="Rd4fb5bdd72a04cd8" /><Relationship Type="http://schemas.openxmlformats.org/officeDocument/2006/relationships/image" Target="/ppt/media/image52.png" Id="Rd906040393dc45e7" /><Relationship Type="http://schemas.openxmlformats.org/officeDocument/2006/relationships/image" Target="/ppt/media/image37.svg" Id="R78e4ad57cd404be9" /><Relationship Type="http://schemas.openxmlformats.org/officeDocument/2006/relationships/notesSlide" Target="/ppt/notesSlides/notesSlide16.xml" Id="R960e830021f84d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36aa58ea64a57" /><Relationship Type="http://schemas.openxmlformats.org/officeDocument/2006/relationships/image" Target="/ppt/media/image53.png" Id="R8419ae6d3d8b431c" /><Relationship Type="http://schemas.openxmlformats.org/officeDocument/2006/relationships/notesSlide" Target="/ppt/notesSlides/notesSlide17.xml" Id="Ra41470f4abc047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6a3fd09144448" /><Relationship Type="http://schemas.openxmlformats.org/officeDocument/2006/relationships/image" Target="/ppt/media/image54.png" Id="Rba7abf0336c74b61" /><Relationship Type="http://schemas.openxmlformats.org/officeDocument/2006/relationships/image" Target="/ppt/media/image55.png" Id="R201f22076ddd46b9" /><Relationship Type="http://schemas.openxmlformats.org/officeDocument/2006/relationships/image" Target="/ppt/media/image38.svg" Id="Rc10de627d8af4669" /><Relationship Type="http://schemas.openxmlformats.org/officeDocument/2006/relationships/image" Target="/ppt/media/image56.png" Id="Rc58ea65424fe4877" /><Relationship Type="http://schemas.openxmlformats.org/officeDocument/2006/relationships/image" Target="/ppt/media/image39.svg" Id="R200a3f4a8f674c7c" /><Relationship Type="http://schemas.openxmlformats.org/officeDocument/2006/relationships/image" Target="/ppt/media/image57.png" Id="R9c08a6f1d40749bc" /><Relationship Type="http://schemas.openxmlformats.org/officeDocument/2006/relationships/image" Target="/ppt/media/image40.svg" Id="Reb140963c3b54513" /><Relationship Type="http://schemas.openxmlformats.org/officeDocument/2006/relationships/image" Target="/ppt/media/image58.png" Id="R0a3541ff5c40424b" /><Relationship Type="http://schemas.openxmlformats.org/officeDocument/2006/relationships/image" Target="/ppt/media/image41.svg" Id="Re06ec4e9d7764e06" /><Relationship Type="http://schemas.openxmlformats.org/officeDocument/2006/relationships/notesSlide" Target="/ppt/notesSlides/notesSlide18.xml" Id="R9ce3d3520bd440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35942e4804bf4" /><Relationship Type="http://schemas.openxmlformats.org/officeDocument/2006/relationships/image" Target="/ppt/media/image59.png" Id="R55f4fdc5a3fc472f" /><Relationship Type="http://schemas.openxmlformats.org/officeDocument/2006/relationships/notesSlide" Target="/ppt/notesSlides/notesSlide19.xml" Id="Ra1a109c9ec1b48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28b8e1be44c59" /><Relationship Type="http://schemas.openxmlformats.org/officeDocument/2006/relationships/image" Target="/ppt/media/image60.png" Id="Rc465296a5c5c4fed" /><Relationship Type="http://schemas.openxmlformats.org/officeDocument/2006/relationships/image" Target="/ppt/media/image61.png" Id="R745ecc9fb04d463d" /><Relationship Type="http://schemas.openxmlformats.org/officeDocument/2006/relationships/image" Target="/ppt/media/image42.svg" Id="Rba4ded29bbc04b8f" /><Relationship Type="http://schemas.openxmlformats.org/officeDocument/2006/relationships/image" Target="/ppt/media/image62.png" Id="R92a8c199d9d9423c" /><Relationship Type="http://schemas.openxmlformats.org/officeDocument/2006/relationships/image" Target="/ppt/media/image43.svg" Id="Rccd0b4e8f7734f8d" /><Relationship Type="http://schemas.openxmlformats.org/officeDocument/2006/relationships/image" Target="/ppt/media/image63.png" Id="R30f9b61420f54e1e" /><Relationship Type="http://schemas.openxmlformats.org/officeDocument/2006/relationships/image" Target="/ppt/media/image44.svg" Id="Rec7bbbc5c4694e32" /><Relationship Type="http://schemas.openxmlformats.org/officeDocument/2006/relationships/image" Target="/ppt/media/image64.png" Id="R0552585b1f81465a" /><Relationship Type="http://schemas.openxmlformats.org/officeDocument/2006/relationships/image" Target="/ppt/media/image45.svg" Id="R99124b072b084c9d" /><Relationship Type="http://schemas.openxmlformats.org/officeDocument/2006/relationships/notesSlide" Target="/ppt/notesSlides/notesSlide20.xml" Id="R24f6347d489f43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024b018834bd7" /><Relationship Type="http://schemas.openxmlformats.org/officeDocument/2006/relationships/image" Target="/ppt/media/image65.png" Id="R82fbf604257044ea" /><Relationship Type="http://schemas.openxmlformats.org/officeDocument/2006/relationships/notesSlide" Target="/ppt/notesSlides/notesSlide21.xml" Id="R6341a458db424e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162139e424fc2" /><Relationship Type="http://schemas.openxmlformats.org/officeDocument/2006/relationships/image" Target="/ppt/media/image66.png" Id="R12272f27d66b428c" /><Relationship Type="http://schemas.openxmlformats.org/officeDocument/2006/relationships/notesSlide" Target="/ppt/notesSlides/notesSlide22.xml" Id="R528117ba76ea40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28ab3de1254244" /><Relationship Type="http://schemas.openxmlformats.org/officeDocument/2006/relationships/image" Target="/ppt/media/image67.png" Id="R722a99a3dcf74753" /><Relationship Type="http://schemas.openxmlformats.org/officeDocument/2006/relationships/image" Target="/ppt/media/image68.png" Id="R091e5b3fc48d45da" /><Relationship Type="http://schemas.openxmlformats.org/officeDocument/2006/relationships/image" Target="/ppt/media/image46.svg" Id="Rbba49d5f4fa74ea5" /><Relationship Type="http://schemas.openxmlformats.org/officeDocument/2006/relationships/notesSlide" Target="/ppt/notesSlides/notesSlide23.xml" Id="R5c09111dc9b342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acbdcaea3432e" /><Relationship Type="http://schemas.openxmlformats.org/officeDocument/2006/relationships/image" Target="/ppt/media/image69.png" Id="Rc2b89cef09054e19" /><Relationship Type="http://schemas.openxmlformats.org/officeDocument/2006/relationships/notesSlide" Target="/ppt/notesSlides/notesSlide24.xml" Id="R2d46fea8edae44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21acee84a443b" /><Relationship Type="http://schemas.openxmlformats.org/officeDocument/2006/relationships/image" Target="/ppt/media/image70.png" Id="Rd9e690a69f1f4fae" /><Relationship Type="http://schemas.openxmlformats.org/officeDocument/2006/relationships/image" Target="/ppt/media/image71.png" Id="R2bda6b4320594edc" /><Relationship Type="http://schemas.openxmlformats.org/officeDocument/2006/relationships/image" Target="/ppt/media/image47.svg" Id="R6c8f1aa4371b4834" /><Relationship Type="http://schemas.openxmlformats.org/officeDocument/2006/relationships/notesSlide" Target="/ppt/notesSlides/notesSlide25.xml" Id="R11ca853d99e841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38699260c47d5" /><Relationship Type="http://schemas.openxmlformats.org/officeDocument/2006/relationships/image" Target="/ppt/media/image72.png" Id="R43907c0a7e154d3b" /><Relationship Type="http://schemas.openxmlformats.org/officeDocument/2006/relationships/notesSlide" Target="/ppt/notesSlides/notesSlide26.xml" Id="R4352e4b7d21d49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d2107594947d5" /><Relationship Type="http://schemas.openxmlformats.org/officeDocument/2006/relationships/image" Target="/ppt/media/image73.png" Id="R75cab2a574084945" /><Relationship Type="http://schemas.openxmlformats.org/officeDocument/2006/relationships/notesSlide" Target="/ppt/notesSlides/notesSlide27.xml" Id="R68d4b9acd1ea4a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a80758a8a4a2d" /><Relationship Type="http://schemas.openxmlformats.org/officeDocument/2006/relationships/image" Target="/ppt/media/image74.png" Id="Rbe4062a253544a69" /><Relationship Type="http://schemas.openxmlformats.org/officeDocument/2006/relationships/image" Target="/ppt/media/image75.png" Id="R378b5836f60e446e" /><Relationship Type="http://schemas.openxmlformats.org/officeDocument/2006/relationships/image" Target="/ppt/media/image48.svg" Id="R795f0ae427a747bd" /><Relationship Type="http://schemas.openxmlformats.org/officeDocument/2006/relationships/image" Target="/ppt/media/image76.png" Id="R2afd1d92c5344021" /><Relationship Type="http://schemas.openxmlformats.org/officeDocument/2006/relationships/image" Target="/ppt/media/image49.svg" Id="Rdffca93df72c44a5" /><Relationship Type="http://schemas.openxmlformats.org/officeDocument/2006/relationships/notesSlide" Target="/ppt/notesSlides/notesSlide28.xml" Id="Rd8627865d73948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756bd75e542c0" /><Relationship Type="http://schemas.openxmlformats.org/officeDocument/2006/relationships/image" Target="/ppt/media/image77.png" Id="R05e87c2aacc34aaf" /><Relationship Type="http://schemas.openxmlformats.org/officeDocument/2006/relationships/image" Target="/ppt/media/image78.png" Id="R5c704a69746346ab" /><Relationship Type="http://schemas.openxmlformats.org/officeDocument/2006/relationships/image" Target="/ppt/media/image50.svg" Id="R41237a9505de4ae1" /><Relationship Type="http://schemas.openxmlformats.org/officeDocument/2006/relationships/image" Target="/ppt/media/image79.png" Id="Rba78b603bc9444ef" /><Relationship Type="http://schemas.openxmlformats.org/officeDocument/2006/relationships/image" Target="/ppt/media/image51.svg" Id="R545cc0c5d93645bd" /><Relationship Type="http://schemas.openxmlformats.org/officeDocument/2006/relationships/image" Target="/ppt/media/image80.png" Id="Red788d6e56cf4241" /><Relationship Type="http://schemas.openxmlformats.org/officeDocument/2006/relationships/image" Target="/ppt/media/image52.svg" Id="R9c65988277cb4a31" /><Relationship Type="http://schemas.openxmlformats.org/officeDocument/2006/relationships/image" Target="/ppt/media/image81.png" Id="R5bcdc7cc99d345fb" /><Relationship Type="http://schemas.openxmlformats.org/officeDocument/2006/relationships/image" Target="/ppt/media/image53.svg" Id="R5b923b19ad034f3d" /><Relationship Type="http://schemas.openxmlformats.org/officeDocument/2006/relationships/notesSlide" Target="/ppt/notesSlides/notesSlide29.xml" Id="Rcc99354aa2054aa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5bde73dcc4a40" /><Relationship Type="http://schemas.openxmlformats.org/officeDocument/2006/relationships/image" Target="/ppt/media/image4.jpeg" Id="Ra389f7f441bc4bfe" /><Relationship Type="http://schemas.openxmlformats.org/officeDocument/2006/relationships/image" Target="/ppt/media/image82.png" Id="R87ed78c69bac448f" /><Relationship Type="http://schemas.openxmlformats.org/officeDocument/2006/relationships/notesSlide" Target="/ppt/notesSlides/notesSlide30.xml" Id="Rc00ae4fb6eb340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a4517deaf4fb2"/>
          <a:srcRect xmlns:a="http://schemas.openxmlformats.org/drawingml/2006/main" l="0" t="3977" r="0" b="3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AE41-AB67-4D1C-9AC1-96D4AAB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A2C43-5ABA-4E77-BB5E-F17C5AB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8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3CC28-EBCF-431D-94CB-3BF6F46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D8012-8B39-4A69-960B-56C7CD0C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2da9cba3544f9"/>
          <a:stretch xmlns:a="http://schemas.openxmlformats.org/drawingml/2006/main"/>
        </p:blipFill>
        <p:spPr>
          <a:xfrm xmlns:a="http://schemas.openxmlformats.org/drawingml/2006/main">
            <a:off x="647700" y="405792"/>
            <a:ext cx="1809750" cy="502866"/>
          </a:xfrm>
          <a:prstGeom xmlns:a="http://schemas.openxmlformats.org/drawingml/2006/main" prst="rect">
            <a:avLst/>
          </a:prstGeom>
        </p:spPr>
      </p:pic>
      <p:sp>
        <p:nvSpPr>
          <p:cNvPr id="7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C3686C2A-3B37-497E-B2FE-550E6CE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A43DF26-1DB5-4B87-AC49-65F11091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192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LOCAL SERVICE E-COMMERCE MARKETPLACE</a:t>
            </a:r>
          </a:p>
        </p:txBody>
      </p:sp>
      <p:sp>
        <p:nvSpPr>
          <p:cNvPr id="9" name="claim-title-01">
            <a:extLst xmlns:a="http://schemas.openxmlformats.org/drawingml/2006/main">
              <a:ext uri="{FF2B5EF4-FFF2-40B4-BE49-F238E27FC236}">
                <a16:creationId xmlns:a16="http://schemas.microsoft.com/office/drawing/2014/main" id="{F4E5101E-36EC-4C04-A7D7-7F4E8B6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Local services,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organized end to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66E22-9E65-4A5B-9212-81AA0F4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Discover, compare, book, and manage local services in one organized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2916D-287B-4604-A60D-044D85D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B8FF0"/>
          </a:solidFill>
          <a:ln xmlns:a="http://schemas.openxmlformats.org/drawingml/2006/main" w="9525">
            <a:solidFill>
              <a:srgbClr val="5B8F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E8379-EF85-4125-8C17-D9651D61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26F3E-1D3E-4877-AF25-AA2E359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19BE9-9323-495D-A5D9-182438F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85E1D-E786-468F-94DA-B6C5E17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2B1C3-A9F5-4E80-8674-537AFC2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767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Manage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12916-C52C-4DEA-B2D7-D8F3649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For independent service providers and clients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8BE5E-2E40-433B-9113-C55C0439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  ·  Slide lead: Allen  ·  01</a:t>
            </a:r>
          </a:p>
        </p:txBody>
      </p:sp>
    </p:spTree>
    <p:extLst>
      <p:ext uri="{BB962C8B-B14F-4D97-AF65-F5344CB8AC3E}">
        <p14:creationId xmlns:p14="http://schemas.microsoft.com/office/powerpoint/2010/main" val="1578295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480C312-14D3-4571-BEF0-78F0264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BEB1190-A59F-42B8-A71D-3965D1AE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230769C-CC9C-4904-AE85-07CC6C1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IDEATION</a:t>
            </a:r>
          </a:p>
        </p:txBody>
      </p:sp>
      <p:sp>
        <p:nvSpPr>
          <p:cNvPr id="4" name="claim-title-02">
            <a:extLst xmlns:a="http://schemas.openxmlformats.org/drawingml/2006/main">
              <a:ext uri="{FF2B5EF4-FFF2-40B4-BE49-F238E27FC236}">
                <a16:creationId xmlns:a16="http://schemas.microsoft.com/office/drawing/2014/main" id="{60E0193E-FF24-4D9B-AE51-7937DE7E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57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One question shaped the product: how can providers manage every client transaction in one place?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8f6369a5b4115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7919A-5A48-4E13-9D5E-299D3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628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20745-1BDB-4F25-B44D-20A7198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BCD2-C5D8-47F0-BA54-8F149FBF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Communication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453B2-4C5F-42BB-A246-8E24371E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52675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47D46-3787-4CE5-AA87-18961988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CC784-8BCB-4DF6-AD93-BF5EDBC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628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95A36-1BA3-42C7-A158-E748C2E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083DB-F2B6-4A92-A026-3A92413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Booking + scheduling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508AD-D34F-42A8-846E-AEFFDE0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191F3-4178-452E-917D-C7F06CFF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85A23-56C7-4292-976F-358D8605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628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7E554-FCE3-4E95-A1FF-E4E2F3F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F5117-50CA-4D7C-914D-A796A8E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EB53C-FE88-403E-9735-866853E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86225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D4634-0D69-48F0-BA97-D2B510A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4D500-AE00-4BA3-8499-4316BACD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628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6BE85-CA54-4ED6-A22F-0F510AE7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DBCD9-6216-4B75-B109-44E11D2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Payment coordination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BCEA3-DF51-48AF-869C-099FFF4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300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6F0FE-E46E-4D79-A1AA-9982393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05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840D0-5715-42C5-BA3A-FA84EF7B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52675"/>
            <a:ext cx="1905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9E2BC-0D70-47BC-82E8-C46D745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52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92565-8EF3-4346-906F-859D065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67025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F07A1-29F0-41A6-B56B-B4452F7D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ONE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ORGANIZED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73091-9A52-496E-953E-F6CADBE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4C0AA-1607-43C9-A992-4C196F1C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838450" cy="29908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0AB43-7E22-4652-A106-91EE565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HOW MIGHT WE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23085-99F0-432B-8428-0683786F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Help local service providers manage their client transactions in one organized platform?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D45A7-3470-4EC7-A378-666AF8A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386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The question became the product brief.</a:t>
            </a:r>
          </a:p>
        </p:txBody>
      </p:sp>
      <p:sp>
        <p:nvSpPr>
          <p:cNvPr id="35" name="footer-rule-02">
            <a:extLst xmlns:a="http://schemas.openxmlformats.org/drawingml/2006/main">
              <a:ext uri="{FF2B5EF4-FFF2-40B4-BE49-F238E27FC236}">
                <a16:creationId xmlns:a16="http://schemas.microsoft.com/office/drawing/2014/main" id="{B6163A26-8710-46BF-A776-F67848D4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C7611-33BB-465F-939E-D16F55B6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08C569-E8FD-4C19-A7FA-FE9773EE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Jeremiah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9D5F02-346A-46CB-9528-0901EE2B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fd4eefc16422e">
            <a:extLst>
              <a:ext uri="{96DAC541-7B7A-43D3-8B79-37D633B846F1}">
                <asvg:svgBlip xmlns:asvg="http://schemas.microsoft.com/office/drawing/2016/SVG/main" r:embed="R5e8516daee384d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225742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128d7d4e9458e">
            <a:extLst>
              <a:ext uri="{96DAC541-7B7A-43D3-8B79-37D633B846F1}">
                <asvg:svgBlip xmlns:asvg="http://schemas.microsoft.com/office/drawing/2016/SVG/main" r:embed="Rca12ad47b0c143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31242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0e672f446424f">
            <a:extLst>
              <a:ext uri="{96DAC541-7B7A-43D3-8B79-37D633B846F1}">
                <asvg:svgBlip xmlns:asvg="http://schemas.microsoft.com/office/drawing/2016/SVG/main" r:embed="R352c107b2a2e4a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39909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9c4ee713e47eb">
            <a:extLst>
              <a:ext uri="{96DAC541-7B7A-43D3-8B79-37D633B846F1}">
                <asvg:svgBlip xmlns:asvg="http://schemas.microsoft.com/office/drawing/2016/SVG/main" r:embed="R9d9c463c91d949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48577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187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2777CE2-07F5-4193-81D3-41C41F0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AA27145-7F2E-475F-ADC7-C0902ECF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21F8BCB-1E4E-4A1C-96F8-1090479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THE PROBLEM</a:t>
            </a:r>
          </a:p>
        </p:txBody>
      </p:sp>
      <p:sp>
        <p:nvSpPr>
          <p:cNvPr id="4" name="claim-title-03">
            <a:extLst xmlns:a="http://schemas.openxmlformats.org/drawingml/2006/main">
              <a:ext uri="{FF2B5EF4-FFF2-40B4-BE49-F238E27FC236}">
                <a16:creationId xmlns:a16="http://schemas.microsoft.com/office/drawing/2014/main" id="{B5E27EAF-B59D-4764-941F-9545E710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Local-service transactions still happen across disconnected tools.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fbbd5b262495d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8B701-5C4B-4794-81E4-AAB9419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13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8799F-1A8B-453E-94CA-0376177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A97D9-68C5-4F0E-8662-6FB3045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9A4CA-4F6B-4570-A122-CE74865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13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BF1B3-685C-47C8-8D0B-C5ADB29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502EE-67A2-400C-B978-A872782E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Messenger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FCAF0-2CF1-4B8E-95ED-AFFDA6D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13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2C020-CB6F-490B-B749-C1D20F8A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02FB4-D24C-4547-AAA6-3EE89EB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28926-D1C1-4199-A9C6-A25DA095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13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2D14C-53FD-4E33-8471-C37BD361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9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669BC-5BE5-4875-AF5D-55EB6AE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95248-223C-4896-A58F-84975E10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38400"/>
            <a:ext cx="36766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261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992C6-41D3-4910-B2E2-9CED115D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ONE LOCAL 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219E6-0A9F-4FE0-91ED-B6DEC57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819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Ads, chats, schedules, and payment details live in different places.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C97FB-AF60-4D96-89F5-72562B2D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Manual tracking makes important information easy to miss.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20A8-E377-4633-896C-772DA17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57475"/>
            <a:ext cx="1228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A238D-DA97-467B-8D00-46730FEC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48175"/>
            <a:ext cx="1228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9E935-95D7-4C56-A78B-53EF2CA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57475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49D3E-C5FB-44FC-A509-2E8B989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48175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A2643-6493-420A-8091-213C7FF5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The transaction lives everywhere—and nowhere.</a:t>
            </a:r>
          </a:p>
        </p:txBody>
      </p:sp>
      <p:sp>
        <p:nvSpPr>
          <p:cNvPr id="27" name="footer-rule-03">
            <a:extLst xmlns:a="http://schemas.openxmlformats.org/drawingml/2006/main">
              <a:ext uri="{FF2B5EF4-FFF2-40B4-BE49-F238E27FC236}">
                <a16:creationId xmlns:a16="http://schemas.microsoft.com/office/drawing/2014/main" id="{20C76B5B-FFC3-47EE-BB29-85DB5BB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23BBE-2F47-457E-8715-FB0B891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446D4-2A49-44E2-A6A1-87F5D507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Jeremiah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438FE-559B-46AE-8222-3CD0521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0f7f6d6e44454">
            <a:extLst>
              <a:ext uri="{96DAC541-7B7A-43D3-8B79-37D633B846F1}">
                <asvg:svgBlip xmlns:asvg="http://schemas.microsoft.com/office/drawing/2016/SVG/main" r:embed="Rc8ad74ac34bb40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" y="25146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00db90ee244bd">
            <a:extLst>
              <a:ext uri="{96DAC541-7B7A-43D3-8B79-37D633B846F1}">
                <asvg:svgBlip xmlns:asvg="http://schemas.microsoft.com/office/drawing/2016/SVG/main" r:embed="R1e04b9786dc743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" y="43053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7c9346dad497c">
            <a:extLst>
              <a:ext uri="{96DAC541-7B7A-43D3-8B79-37D633B846F1}">
                <asvg:svgBlip xmlns:asvg="http://schemas.microsoft.com/office/drawing/2016/SVG/main" r:embed="Rd639337fc03f45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25146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3550edbea41ba">
            <a:extLst>
              <a:ext uri="{96DAC541-7B7A-43D3-8B79-37D633B846F1}">
                <asvg:svgBlip xmlns:asvg="http://schemas.microsoft.com/office/drawing/2016/SVG/main" r:embed="R76f85cff19084b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43053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333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3B35B22-1852-45E6-BD08-6E7A652E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C7CAC5A-EC13-407B-A5E7-6654F9BA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F9AE2FF-7E34-4077-B532-B51D7F7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SCATTERED COMMUNICATION</a:t>
            </a:r>
          </a:p>
        </p:txBody>
      </p:sp>
      <p:sp>
        <p:nvSpPr>
          <p:cNvPr id="4" name="claim-title-04">
            <a:extLst xmlns:a="http://schemas.openxmlformats.org/drawingml/2006/main">
              <a:ext uri="{FF2B5EF4-FFF2-40B4-BE49-F238E27FC236}">
                <a16:creationId xmlns:a16="http://schemas.microsoft.com/office/drawing/2014/main" id="{819F5AB8-0481-4FF3-BB13-AA7BCA1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Every extra channel creates another place for a job to get lost.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aed495a2d4408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609C-ED08-4720-ACA5-A3F8D9F9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0D94C-C962-4B2A-B200-1F9E1936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D1DA6-7DE3-4FB1-9A68-C41ED69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Messenger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12A2-EECA-48A0-B910-1A34BBB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Inquiry arrives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510FD-6DFA-4BB9-A1A5-464C5B37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2D8FA-9955-424E-A94B-84D3A04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098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3DACF-6EB0-4B72-9461-844370E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719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Schedule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A6CE9-1E90-436B-A732-4671226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90A7C-2B78-431C-B47B-2254DD05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118E8-D5EC-4D37-89A3-DF87148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719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Price is agreed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7DBF0-B82A-4E61-91AF-92C3133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30109-557A-492A-8853-F22E892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1E68B-04E8-4BD8-A155-3B7B1778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Update is posted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40721-EF50-440F-9762-28EE65CB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90750"/>
            <a:ext cx="1428750" cy="2571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2626">
              <a:alpha val="10980"/>
            </a:srgbClr>
          </a:solidFill>
          <a:ln xmlns:a="http://schemas.openxmlformats.org/drawingml/2006/main" w="9525">
            <a:solidFill>
              <a:srgbClr val="DC2626">
                <a:alpha val="50196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20601-BFE6-4001-8CFE-C9966B6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LOST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76B1A-A219-418E-9ADD-C3BBB089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29050"/>
            <a:ext cx="1123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Buried messages</a:t>
            </a:r>
          </a:p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Forgotten follow-ups</a:t>
            </a:r>
          </a:p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Delayed responses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6C8AD-775E-4288-A2E3-05DA1448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Messages are separated across channels, so the job history is separated too.</a:t>
            </a:r>
          </a:p>
        </p:txBody>
      </p:sp>
      <p:sp>
        <p:nvSpPr>
          <p:cNvPr id="23" name="footer-rule-04">
            <a:extLst xmlns:a="http://schemas.openxmlformats.org/drawingml/2006/main">
              <a:ext uri="{FF2B5EF4-FFF2-40B4-BE49-F238E27FC236}">
                <a16:creationId xmlns:a16="http://schemas.microsoft.com/office/drawing/2014/main" id="{2326EA75-5176-4A82-8CB3-6F9AD23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983E3-C018-48EA-9F74-AAC914C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57AEB-8DC5-4843-BD33-617B945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Jeremiah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80DEC5-880D-41A3-92B1-FF9A377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f264039bf47d7">
            <a:extLst>
              <a:ext uri="{96DAC541-7B7A-43D3-8B79-37D633B846F1}">
                <asvg:svgBlip xmlns:asvg="http://schemas.microsoft.com/office/drawing/2016/SVG/main" r:embed="R6d7c0358cd844f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32194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5245b1ba84ac6">
            <a:extLst>
              <a:ext uri="{96DAC541-7B7A-43D3-8B79-37D633B846F1}">
                <asvg:svgBlip xmlns:asvg="http://schemas.microsoft.com/office/drawing/2016/SVG/main" r:embed="Rc26502589d2e4d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52800" y="32194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a654d37cd4d68">
            <a:extLst>
              <a:ext uri="{96DAC541-7B7A-43D3-8B79-37D633B846F1}">
                <asvg:svgBlip xmlns:asvg="http://schemas.microsoft.com/office/drawing/2016/SVG/main" r:embed="Rc3e5a411664a45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32194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4969edfcc416d">
            <a:extLst>
              <a:ext uri="{96DAC541-7B7A-43D3-8B79-37D633B846F1}">
                <asvg:svgBlip xmlns:asvg="http://schemas.microsoft.com/office/drawing/2016/SVG/main" r:embed="Rc6bef970ffe34b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39100" y="32194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501ff96184888">
            <a:extLst>
              <a:ext uri="{96DAC541-7B7A-43D3-8B79-37D633B846F1}">
                <asvg:svgBlip xmlns:asvg="http://schemas.microsoft.com/office/drawing/2016/SVG/main" r:embed="R37785275f6f840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34650" y="245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074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949EC71-A102-4999-A170-E200B4A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02C7445D-F670-43BD-9932-268A4B5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202E78A-B964-4C23-A331-3D9D3C6E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MANUAL FRICTION</a:t>
            </a:r>
          </a:p>
        </p:txBody>
      </p:sp>
      <p:sp>
        <p:nvSpPr>
          <p:cNvPr id="4" name="claim-title-05">
            <a:extLst xmlns:a="http://schemas.openxmlformats.org/drawingml/2006/main">
              <a:ext uri="{FF2B5EF4-FFF2-40B4-BE49-F238E27FC236}">
                <a16:creationId xmlns:a16="http://schemas.microsoft.com/office/drawing/2014/main" id="{6E70292E-9AC0-4B76-BAAC-A3100EA8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Manual coordination breaks booking, trust, and payment visibility.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614dd436549dc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FFFDC-4C16-4F55-AD01-60F3B47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9525">
            <a:solidFill>
              <a:srgbClr val="5B8FF0">
                <a:alpha val="5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AD37E-8C04-46B8-B912-613A57AC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F6A96-6707-4318-8D03-13D9D3CD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781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Scheduling conflicts and forgotten appointments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1811E-CCA4-43A8-8FB4-F7AE62D1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Manual calendars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B56B6-AC51-4B3D-A532-532C080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3E40A-A4F0-4297-9E3D-929DC3D2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28850"/>
            <a:ext cx="95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BE657-E7B1-4F7E-9F29-A1B0D820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9525">
            <a:solidFill>
              <a:srgbClr val="FF9A3D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0F7B6-152D-482D-99E0-5EACA27D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C9601-9972-4A23-A213-409CACB6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781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Limited proof of provider reputation or 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0ABFF-DBDF-4E67-8DFF-338C940F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Thin reputation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5CB52-505D-48B5-827A-FAA9AC72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FE28F-352A-4F4D-943F-3A84D9B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95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AEE29-E2EB-4237-B4CD-CEA5A870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>
              <a:alpha val="14118"/>
            </a:srgbClr>
          </a:solidFill>
          <a:ln xmlns:a="http://schemas.openxmlformats.org/drawingml/2006/main" w="9525">
            <a:solidFill>
              <a:srgbClr val="DC2626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75908-70F0-4678-87D7-ED9F194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TRANSACTION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454C2-A0A1-45D5-8CAB-E4FAEBD7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781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Unclear service status and payment details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C915A-A7D8-42FD-BDB3-0E2C539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Scattered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A9B3C-025B-4A9C-9347-47714CC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ooter-rule-05">
            <a:extLst xmlns:a="http://schemas.openxmlformats.org/drawingml/2006/main">
              <a:ext uri="{FF2B5EF4-FFF2-40B4-BE49-F238E27FC236}">
                <a16:creationId xmlns:a16="http://schemas.microsoft.com/office/drawing/2014/main" id="{5809F562-29F6-4AA1-A111-09D789E1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F2BD5-6D78-4A31-9C35-7B2F793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37C7A-A0F4-4300-BFD2-FDA6268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Jeremiah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1E81E-3E42-46A2-882B-B4A0E7E5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2fb8529984152">
            <a:extLst>
              <a:ext uri="{96DAC541-7B7A-43D3-8B79-37D633B846F1}">
                <asvg:svgBlip xmlns:asvg="http://schemas.microsoft.com/office/drawing/2016/SVG/main" r:embed="R822b796f76724a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24384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d75fab2274b91">
            <a:extLst>
              <a:ext uri="{96DAC541-7B7A-43D3-8B79-37D633B846F1}">
                <asvg:svgBlip xmlns:asvg="http://schemas.microsoft.com/office/drawing/2016/SVG/main" r:embed="Rfa414e8cb35d49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86300" y="24384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8e41666b349a6">
            <a:extLst>
              <a:ext uri="{96DAC541-7B7A-43D3-8B79-37D633B846F1}">
                <asvg:svgBlip xmlns:asvg="http://schemas.microsoft.com/office/drawing/2016/SVG/main" r:embed="R6c8f8e3e09be48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2438400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420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5A87AC1-53C5-4AF5-810F-FC8928B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d5ece745d4793"/>
          <a:srcRect xmlns:a="http://schemas.openxmlformats.org/drawingml/2006/main" l="28781" t="0" r="28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6BEA2-CB2D-4862-AF5E-8FE1A69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0222C-D53B-4740-905B-7A4C8D9C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a154865ee43cd"/>
          <a:stretch xmlns:a="http://schemas.openxmlformats.org/drawingml/2006/main"/>
        </p:blipFill>
        <p:spPr>
          <a:xfrm xmlns:a="http://schemas.openxmlformats.org/drawingml/2006/main">
            <a:off x="628650" y="461357"/>
            <a:ext cx="1752600" cy="4869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3EC55-7638-494A-BA13-765C5A4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LOCAL SERVICE</a:t>
            </a:r>
          </a:p>
          <a:p xmlns:a="http://schemas.openxmlformats.org/drawingml/2006/main">
            <a:pPr algn="l">
              <a:defRPr sz="11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E-COMMERCE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F8906-AC48-435F-B638-02498DD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commodity is a service—not a physical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B3A6D-D395-4664-A90A-A067DB6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A1F4463-FBAB-4863-9F8F-6E68536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5300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E1EEA31C-E6D8-4BC5-B471-EA7B5609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EXECUTIVE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17D10-B67D-4637-88CB-79AC983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76300"/>
            <a:ext cx="600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turns fragmented service work into one structured marketplace.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8DBB6-F506-4320-9B0E-0CA22DD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CD9A4-5808-4F85-A1E0-9254F78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860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D1EA1-26EA-409A-B0AE-22D6AE4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2190B-20A3-44E5-9DBD-B47964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8602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Providers publish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DDE0E-036F-4555-B793-AFB702E9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8A765-D61C-4CC6-A530-9E3879F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814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A87A3-2AE1-4352-AC4E-C9AA26D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D8EFD-1AE6-4A38-8FE6-2C462DCC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Clients choose and schedule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7A4E4-978A-4133-98E8-A8B5C99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F9ED2-8B1E-4275-98C3-9D54CA5F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EBB33-0D69-4B64-83A6-D379C844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COORDINATE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0F395-90BF-4026-BDC7-74F241E9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7672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Quotes, updates, and payment notes stay organized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30FBA-9FA2-48B0-A74D-E52DB5FF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AFC2E-A67A-4535-A5D6-C7FFE48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BUILD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0EE7A-C3F1-4400-94F9-5254360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7207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Completed work supports reputation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BF19B-7EC2-48C2-B203-CC08CA2E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  ·  Slide lead: Allen  ·  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812fc72084a92">
            <a:extLst>
              <a:ext uri="{96DAC541-7B7A-43D3-8B79-37D633B846F1}">
                <asvg:svgBlip xmlns:asvg="http://schemas.microsoft.com/office/drawing/2016/SVG/main" r:embed="Rfe32c221adae41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23336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f0e4207343eb">
            <a:extLst>
              <a:ext uri="{96DAC541-7B7A-43D3-8B79-37D633B846F1}">
                <asvg:svgBlip xmlns:asvg="http://schemas.microsoft.com/office/drawing/2016/SVG/main" r:embed="Rcb54239d5c0c4f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32289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172a6e0ff4c90">
            <a:extLst>
              <a:ext uri="{96DAC541-7B7A-43D3-8B79-37D633B846F1}">
                <asvg:svgBlip xmlns:asvg="http://schemas.microsoft.com/office/drawing/2016/SVG/main" r:embed="Rd95c978c527040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41243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66e627a904467">
            <a:extLst>
              <a:ext uri="{96DAC541-7B7A-43D3-8B79-37D633B846F1}">
                <asvg:svgBlip xmlns:asvg="http://schemas.microsoft.com/office/drawing/2016/SVG/main" r:embed="Rdbf7164ec6f042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5019675"/>
            <a:ext cx="20955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908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5B80051-9795-440D-8AE3-8C64E37F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854F48C-3BCC-4768-B16B-B0D4D502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4974B53B-96E1-4C55-B716-CE93AC1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BUSINESS CONCEPT</a:t>
            </a:r>
          </a:p>
        </p:txBody>
      </p:sp>
      <p:sp>
        <p:nvSpPr>
          <p:cNvPr id="4" name="claim-title-07">
            <a:extLst xmlns:a="http://schemas.openxmlformats.org/drawingml/2006/main">
              <a:ext uri="{FF2B5EF4-FFF2-40B4-BE49-F238E27FC236}">
                <a16:creationId xmlns:a16="http://schemas.microsoft.com/office/drawing/2014/main" id="{941A8EF5-D0B0-402C-B749-7CA29C9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Services become searchable, bookable marketplace inventory.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334b4385148bd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BFA8-867C-4F5A-99F5-DB595CCA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SERVICE PROVIDERS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BDA60-93E8-4764-B788-1ABD322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293F6-C3B5-427F-863B-EEAF1B77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Tutoring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7165-209C-4A61-A394-16CB26E7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1460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D20F3-1A80-489B-8AAA-23941828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146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Photography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99C53-D5FA-411D-97D7-E17AA72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6E301-B81B-428A-9895-766CF1C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Repair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89569-8DA8-4728-BEC3-948A4A4B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E8EC7-BB31-491A-BC0B-B119A774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B2349-89D7-424B-BA11-E2E9954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AA482-6219-4FD1-B223-01D8DE8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EBAF8-9C0A-4AEB-9E94-8F5FAE64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151F0-06A9-4093-90DD-4284D76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Local expertise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A392F-7D2B-45B3-B687-43E6EC6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14600"/>
            <a:ext cx="2152650" cy="2152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078E1-77C2-43F8-A9B6-9FB5871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FAE46-3483-43FB-99D0-8A205E99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Services become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marketplace inventory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9D3C5-9C63-4C73-BA3D-D6BAD511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1369C-25B5-47A4-B8E9-F9AC0C6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90925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9BE5C-8B2E-41F4-B537-F3BA3032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Provider acts as seller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1A021-C3AC-4E67-940D-9528E14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861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Client acts as buyer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0AF29-1E4D-49EF-8832-CF7EF98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CLIENTS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01B71-F57D-4604-9E8B-2A13FCC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6F691-F0E5-4F3A-A509-C6354C6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Individuals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33B9D-A5D0-4809-81B9-9D687622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1D3DA-DE19-410D-8D5E-0AC53C8A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Families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CCECEC-5853-46D4-90D2-B4AD2233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DFFC4-1838-4D3B-AD24-1894579E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Groups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201B3-DEA6-4AAC-B215-2E96644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316EA-3E36-4A3E-B1EA-8422B58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337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Businesses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1AD1E-03A9-44F8-B3AD-2B11884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491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platform supports local expertise across categories while keeping one transaction model.</a:t>
            </a:r>
          </a:p>
        </p:txBody>
      </p:sp>
      <p:sp>
        <p:nvSpPr>
          <p:cNvPr id="36" name="footer-rule-07">
            <a:extLst xmlns:a="http://schemas.openxmlformats.org/drawingml/2006/main">
              <a:ext uri="{FF2B5EF4-FFF2-40B4-BE49-F238E27FC236}">
                <a16:creationId xmlns:a16="http://schemas.microsoft.com/office/drawing/2014/main" id="{5B4F7D87-78C4-4AB9-9BE5-2AFA53C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2E072-6EE2-4436-ABF8-3869F034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CED62-D056-4355-BFB8-6294FB9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Allen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E69CC8-A75E-4775-8899-985EE8B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55935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161E13D-1E92-4BFB-9EF1-C767B6F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E2B85DA-CA22-4073-9F08-0AEC8B1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DDBB355E-BB98-4DCD-8FB4-C582E1D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VALUE PROPOSITION</a:t>
            </a:r>
          </a:p>
        </p:txBody>
      </p:sp>
      <p:sp>
        <p:nvSpPr>
          <p:cNvPr id="4" name="claim-title-08">
            <a:extLst xmlns:a="http://schemas.openxmlformats.org/drawingml/2006/main">
              <a:ext uri="{FF2B5EF4-FFF2-40B4-BE49-F238E27FC236}">
                <a16:creationId xmlns:a16="http://schemas.microsoft.com/office/drawing/2014/main" id="{31BC18A0-CBF0-47FA-87B5-C4CAC80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One marketplace creates value for both clients and providers.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9e8e7723846e8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37693-DF88-482F-A20B-02A5AB7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06299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58C51-AB8F-4B48-8097-2465804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0B1DF-8C87-4B4D-8675-2FC2D2AE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FOR CLIENTS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C0A5D-D085-4425-A8AA-17F2529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Find the right person for the job.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395BE-397A-4492-81BF-2D8B1E7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27008-3D4F-4260-9129-5AE1D10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Less app-switching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BB3D3-8608-48C6-92ED-701F18C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3B69D-D949-466E-8A98-6EAA79C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Search and compare in one 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579F1-7DBA-4DDE-8797-E46F9E9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FE1E4-140C-4AC2-ADEF-0AED375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Move from inquiry to 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DB099-4F88-4589-87EC-85F0036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FOR PROVIDERS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62C9E-CB39-4BA6-84AF-3C227FD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Turn skills into visible, sellable offers.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4BDFC-E995-4054-B557-D8F5E6F2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3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FDEAF-F199-43BA-B571-8E3F374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76650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Digital storefront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A1127-EC5A-4477-8A2C-DAA58BD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87405-A18C-48E5-9F22-BA117D1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05275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Structured service offers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C8036-E4DB-4164-B2C8-6EAEE8E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00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B26EA-C02F-4FB4-ABA7-5207762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Reputation from completed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06841-2D5D-4036-A58A-61286AB3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6400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B8FF0">
              <a:alpha val="10980"/>
            </a:srgbClr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9C819-2964-4337-AA53-7B3E9EA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10200"/>
            <a:ext cx="617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ONE MARKETPLACE · MORE STRUCTURED SERVICE TRANSACTIONS</a:t>
            </a:r>
          </a:p>
        </p:txBody>
      </p:sp>
      <p:sp>
        <p:nvSpPr>
          <p:cNvPr id="26" name="footer-rule-08">
            <a:extLst xmlns:a="http://schemas.openxmlformats.org/drawingml/2006/main">
              <a:ext uri="{FF2B5EF4-FFF2-40B4-BE49-F238E27FC236}">
                <a16:creationId xmlns:a16="http://schemas.microsoft.com/office/drawing/2014/main" id="{335E66B2-9790-4624-834B-133E5A6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187E2-1994-4B16-8923-BD4FF1C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4C567-C902-42B2-BB23-E70E0AD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Allen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E3A21-C3D1-451E-9FC7-7E02615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88831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12F976C-7CA8-476C-99D7-5C3036D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56316B1-BF12-4D40-954A-D4A750AF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D7F70A29-36F0-48BE-859D-A4434CD3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WHY E-COMMERCE</a:t>
            </a:r>
          </a:p>
        </p:txBody>
      </p:sp>
      <p:sp>
        <p:nvSpPr>
          <p:cNvPr id="4" name="claim-title-09">
            <a:extLst xmlns:a="http://schemas.openxmlformats.org/drawingml/2006/main">
              <a:ext uri="{FF2B5EF4-FFF2-40B4-BE49-F238E27FC236}">
                <a16:creationId xmlns:a16="http://schemas.microsoft.com/office/drawing/2014/main" id="{D5472557-820A-4883-B4BF-DD3C458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exchange is digital even when the work is local.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3e1357da14642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C005-26E2-4F2D-9D62-17BAE65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5E44B-CC74-46FA-99F3-7C3A523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047CE-49A7-4C7A-9BAC-01A1068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0B4D0-B2BE-4AF4-A98F-AA4C8AF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11CE1-5AA2-4FD1-91A2-D60B5631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503F9-4282-469E-A9ED-16246805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C1557-1816-48BF-8AB2-E6E18A0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6343B-4C70-427F-B6AF-49A25EF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2E192-B7EE-43E5-B157-5A2DF05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BC3AE-471F-4EB4-A368-A9F57A0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0E600-B124-467B-B537-443FFCF3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E4E73-B6AE-4BE2-8510-85AE04B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9E8A8-AB2A-4AA0-8A9C-900D2A36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4869D-FEFB-4483-B12C-9E4B90D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7B8EC-4830-410F-B5C0-85B6DC7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EB60F-016C-4408-B00E-8BC264FA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1F455-716D-4ED2-A4DE-9D94C382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3CDA3-05FD-46F2-BA44-8B74B2F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88339-0425-48D7-A2A0-8D53944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CF13A-2BAC-46F9-9911-F2035EB1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9E9A2-7774-4F23-9A72-D8591066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46D7A-0B6A-4735-BAD4-E901D912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8FB50-A690-48B4-A628-6BB87B0F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81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EB439-C6D3-4738-A384-1278DD8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81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B5477-C971-49BD-A749-42B278E9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25884-0220-41B8-A372-9B11129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9810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8F698-FDC0-4233-8ABB-586479B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product being exchanged is a service. Discovery, comparison, booking, quotation, payment coordination, completion, and review are all handled digitally.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855E9-C3EA-4771-A176-C22F80D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769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E-commerce mechanics applied to local work</a:t>
            </a:r>
          </a:p>
        </p:txBody>
      </p:sp>
      <p:sp>
        <p:nvSpPr>
          <p:cNvPr id="34" name="footer-rule-09">
            <a:extLst xmlns:a="http://schemas.openxmlformats.org/drawingml/2006/main">
              <a:ext uri="{FF2B5EF4-FFF2-40B4-BE49-F238E27FC236}">
                <a16:creationId xmlns:a16="http://schemas.microsoft.com/office/drawing/2014/main" id="{90F207E9-6887-40AD-8A0F-18EB9E1E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73B07-6D01-4C45-80B1-BA905C7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219C8-48D5-42CF-8D07-E68E631D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Lance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666E6-EC8C-4446-8150-A3D4F3C3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03015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DABBEC-F732-43FF-9D6E-D31E15F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465A751-7049-4093-93AE-144BC418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DF48FE6-48B3-49BB-8BB2-7D20B669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OBJECTIVES</a:t>
            </a:r>
          </a:p>
        </p:txBody>
      </p:sp>
      <p:sp>
        <p:nvSpPr>
          <p:cNvPr id="4" name="claim-title-10">
            <a:extLst xmlns:a="http://schemas.openxmlformats.org/drawingml/2006/main">
              <a:ext uri="{FF2B5EF4-FFF2-40B4-BE49-F238E27FC236}">
                <a16:creationId xmlns:a16="http://schemas.microsoft.com/office/drawing/2014/main" id="{49FEFDD3-DD00-4BA7-9D2C-20C439C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Discovery, coordination, and sustainability define success.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a335921d84c92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65896-1FB6-4B8D-9039-89D10861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E0052-6C13-4472-8D34-67C179C1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3F50-CA2B-4E62-B06E-15BDC63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Dedicated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48122-6A7C-496A-9A6C-8CA9208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Create a purpose-built home for local services.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F464E-F2A4-4220-93A9-85377F8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1094E-5635-4DA9-B021-FE15D1EF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539B9-A222-4E4C-8447-94D468EA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85AE1-D161-4DD0-A384-B2AB3076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Browse + 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AAC7B-129F-43AB-BC5D-7CA9BC9B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Make it easier to evaluate providers and offers.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D220E-E40F-4CDF-969A-62081DF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E8C27-02BD-4E58-8B80-063954C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F540A-24BC-4B54-81B7-1EEC29D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2EACB-33F9-4BC2-B80B-6FED744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Centralize the 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D7FF0-DBB1-4895-A824-1CCCEBB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Keep discovery, booking, and coordination together.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92E3B-6754-4AF7-83A3-9C76F96B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3E50D-23A3-4624-BF45-2D059AD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EF13B-F772-4BE2-8E6A-135BBD3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AE5C-7E30-4897-8DDE-B757352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Sustainable 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036EF-2B0E-4EE7-BF1C-3E41F5B5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Build a commercial model around real transactions.</a:t>
            </a:r>
          </a:p>
        </p:txBody>
      </p:sp>
      <p:sp>
        <p:nvSpPr>
          <p:cNvPr id="2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8292419A-D924-412B-848C-1B3C3B2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02FFB-DBCF-4CC9-AD0B-566B400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1FAD6-5E91-48D5-86CA-C50E79C3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Lance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C13CA-4ED8-437A-98E1-DD7A111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7c40decc849c4">
            <a:extLst>
              <a:ext uri="{96DAC541-7B7A-43D3-8B79-37D633B846F1}">
                <asvg:svgBlip xmlns:asvg="http://schemas.microsoft.com/office/drawing/2016/SVG/main" r:embed="Rba003b8d47bd4a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9813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8336cb7b94566">
            <a:extLst>
              <a:ext uri="{96DAC541-7B7A-43D3-8B79-37D633B846F1}">
                <asvg:svgBlip xmlns:asvg="http://schemas.microsoft.com/office/drawing/2016/SVG/main" r:embed="Ra256ef3fa7e149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86175" y="29813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7bbf6edaa4dfb">
            <a:extLst>
              <a:ext uri="{96DAC541-7B7A-43D3-8B79-37D633B846F1}">
                <asvg:svgBlip xmlns:asvg="http://schemas.microsoft.com/office/drawing/2016/SVG/main" r:embed="R6bc62c77f9894d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3675" y="29813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bc1f53d6d4221">
            <a:extLst>
              <a:ext uri="{96DAC541-7B7A-43D3-8B79-37D633B846F1}">
                <asvg:svgBlip xmlns:asvg="http://schemas.microsoft.com/office/drawing/2016/SVG/main" r:embed="R81990b8f87f240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01175" y="2981325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028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B9BC59F-644D-4B2A-B306-F0490130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06FAA6A3-090E-4024-B31C-535A97F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DF9092FB-873D-4965-8DA9-4ADEA96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TARGET MARKET</a:t>
            </a:r>
          </a:p>
        </p:txBody>
      </p:sp>
      <p:sp>
        <p:nvSpPr>
          <p:cNvPr id="4" name="claim-title-11">
            <a:extLst xmlns:a="http://schemas.openxmlformats.org/drawingml/2006/main">
              <a:ext uri="{FF2B5EF4-FFF2-40B4-BE49-F238E27FC236}">
                <a16:creationId xmlns:a16="http://schemas.microsoft.com/office/drawing/2014/main" id="{70FB3B46-D441-4749-8221-B558AE3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connects local skill supply with nearby demand.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31ed197e84a3a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BD154-E089-4C83-8FA6-CFF14A8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LOCAL SKILL SUPPLY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10954-4CB8-47DA-BCC4-EBD21E2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76C5-E785-4600-A213-E53BE49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CCF8E-3C84-4D30-A906-88D10C2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Tutors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AF20F-617E-4A06-AE31-F12BA9F8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2AC43-FCBC-466A-8FCF-E4731E6A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5F08D-8E7F-41EB-82A4-B5C1208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Photographers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B2F0C-3414-4B49-B101-9FDBC967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DDB6-3434-4BE9-8D21-B60E0E43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0C4C3-A5D3-4D07-B1E8-91CD0EFF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Repair technicians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C3E1B-4A20-4078-8507-4AAB6F5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C13C6-D749-4838-B595-C415FE60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92EC1-0327-496E-9E18-46E1C11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Designers + cleaners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A7D23-1A2F-4D70-AE72-6946AE9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5E09E-611E-4B1E-8CB0-FFAB0BF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4327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8B5CE-9A10-4E2F-96B1-9EE99D9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1638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Nearby demand meets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visible service offers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5488F-1675-452C-B838-10ED142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37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0A963-C8BC-4122-8091-3F49D53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137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2C246-313C-40DC-AF71-D03DBD69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LOCAL DEMAND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DC24A-1C40-41B0-8C8F-4136663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25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390C6-CB79-46DC-8EEE-B939AF8C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Individuals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53736-E00B-442D-BAE3-47B5B79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25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8F5451-33F3-4F5D-ABFE-89BC8C5D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Groups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E4E0B-BFED-41F9-8DAE-F7F7B79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125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28748-75B7-4F68-BF43-C08AA72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Families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4CCFD-7ECA-46AD-BA74-FD87731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25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702AE-1BEF-4820-81DE-9CD953B0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242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Businesses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CFB81-B716-4B9E-BCE2-8CBE73B0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292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Independent providers, freelancers, professionals, and small service businesses form the supply side.</a:t>
            </a:r>
          </a:p>
        </p:txBody>
      </p:sp>
      <p:sp>
        <p:nvSpPr>
          <p:cNvPr id="34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E93D70DC-CDBE-453B-9C61-C6A8E34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0A805-5B8F-48BE-B76B-1619456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C04C0-0BE7-4696-A1A8-85DAC1E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Lance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C7CA39-732D-4B60-A561-B309FBD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daae5f863473c">
            <a:extLst>
              <a:ext uri="{96DAC541-7B7A-43D3-8B79-37D633B846F1}">
                <asvg:svgBlip xmlns:asvg="http://schemas.microsoft.com/office/drawing/2016/SVG/main" r:embed="R8911f51fa1784f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" y="26860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38f17460b4297">
            <a:extLst>
              <a:ext uri="{96DAC541-7B7A-43D3-8B79-37D633B846F1}">
                <asvg:svgBlip xmlns:asvg="http://schemas.microsoft.com/office/drawing/2016/SVG/main" r:embed="R4820adf73ed1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" y="34099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5638b50a64c30">
            <a:extLst>
              <a:ext uri="{96DAC541-7B7A-43D3-8B79-37D633B846F1}">
                <asvg:svgBlip xmlns:asvg="http://schemas.microsoft.com/office/drawing/2016/SVG/main" r:embed="Rdc0272afd5254c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" y="41338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52df1d70a40a8">
            <a:extLst>
              <a:ext uri="{96DAC541-7B7A-43D3-8B79-37D633B846F1}">
                <asvg:svgBlip xmlns:asvg="http://schemas.microsoft.com/office/drawing/2016/SVG/main" r:embed="R82a54502eb8f44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" y="48577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680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F98BC44-DE7D-4411-B49B-189E02A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24bd44ebc4d2e"/>
          <a:srcRect xmlns:a="http://schemas.openxmlformats.org/drawingml/2006/main" l="23264" t="0" r="23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A6414-582F-428E-8813-2EDD505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7716B-2462-4D10-9631-E125969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9B2DE025-C81F-4E5E-BA84-069F1B1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EA1056F5-D602-44AE-8659-E929EFBE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PROBLEM OPPORTUNITY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4EE72-473B-40F1-AB4A-2E73D84D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behavior already exists; structure is the missing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38C5F-83E2-4A13-8A8D-5EB6558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People already buy and sell local services every 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B1F89-A3C4-4D47-A638-A0CA007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3CE1E-6D39-4C28-A388-D1F82518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Existing demand</a:t>
            </a:r>
          </a:p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Under-structured transactions</a:t>
            </a:r>
          </a:p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Manual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29F4A-90B1-4CDC-90C3-5E11A40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95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1D883-BDC8-4C47-92DC-5024826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BCFE3-D183-41F2-BF4D-6AD62AC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861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Digital marketplace</a:t>
            </a:r>
          </a:p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Visible offers</a:t>
            </a:r>
          </a:p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Structured handoffs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EA9DC-BA13-4F3F-822C-EDB74777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B8FF0">
              <a:alpha val="10980"/>
            </a:srgbClr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5D10C-D76D-43A1-89EA-55B99F2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organizes behavior that already exists.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B0B20-379C-420E-A084-45B1ECFF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04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  ·  Slide lead: Lance  ·  12</a:t>
            </a:r>
          </a:p>
        </p:txBody>
      </p:sp>
    </p:spTree>
    <p:extLst>
      <p:ext uri="{BB962C8B-B14F-4D97-AF65-F5344CB8AC3E}">
        <p14:creationId xmlns:p14="http://schemas.microsoft.com/office/powerpoint/2010/main" val="6569911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23C3DF6-BA15-46C5-A5D9-FC864A04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6F1BC13-A770-461A-B92F-279C147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F0ED5A27-7783-4C41-B078-B058CBFA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PRODUCT SYSTEM</a:t>
            </a:r>
          </a:p>
        </p:txBody>
      </p:sp>
      <p:sp>
        <p:nvSpPr>
          <p:cNvPr id="4" name="claim-title-13">
            <a:extLst xmlns:a="http://schemas.openxmlformats.org/drawingml/2006/main">
              <a:ext uri="{FF2B5EF4-FFF2-40B4-BE49-F238E27FC236}">
                <a16:creationId xmlns:a16="http://schemas.microsoft.com/office/drawing/2014/main" id="{0D498189-63A5-4DAF-B528-6E4070D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platform is organized around the job, not isolated features.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9f615b0654d65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4E84D-0EAC-47E1-81CF-D196C7A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6AC01-5BD8-434E-8FDC-EBD27BA6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907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49B3-0D1E-4093-9A3F-1CD74804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91D33-C1F5-459D-A3E1-075479A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Registration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CE9F0-6DC3-4293-B998-72E2F09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91AE7-11BA-4D62-A5F5-81C8731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FBC09-3C81-4D29-A80A-EC2072D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0CB6A-87A0-4B35-8173-6A41A33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B864E-F7ED-459C-8827-3687F09B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EED28-94F4-42B1-B1B0-EB6DC5D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Service listings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4FC47-8D13-4B6F-924D-959A879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52293-A989-46EE-9BD8-AA9C72EC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Search + filters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AC562-BC56-48FB-AC8D-D279CCCC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TRANSACT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BF658-9BC4-42CD-931C-E0D018C7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90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0B9BE-619A-4CA5-AB34-01DB7A6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60CBB-F3B5-40EE-A2E4-79092A5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5460D-E44B-46AD-96EF-EF6790A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88EF3-831F-4BDC-9DE8-07D54C1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956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Scheduling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8768E-F029-4006-B83B-13AEB3B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67ABA-B3EC-4286-A4CA-F5E3DC17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In-app communication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8BF28-EA6F-49B4-8645-DDF626A8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76BC9-06B0-45A9-ADE1-6B68C761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Service tracking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8621E-3F5C-4D73-9DFE-BEA33BB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4A831-FB5B-4151-BCD0-D90ACC6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Payment coordination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391F1-9279-449D-BDDA-ABC94026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TRUST + OPERATE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CF57D-5E50-48D5-9B64-219300D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7B271D-0148-4297-A1FA-FF111BB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A68C7B-C5E8-4AE0-B1B3-F70ED362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Ratings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BE557-FE6D-42EA-A9CC-0103FE6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3F29C-F42E-442D-B425-B113D99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Reviews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13FCB-805D-4FEF-93C7-E16EE976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6B2ED-9A98-4B14-8166-75BE83F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9580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Admin tools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5E63A-A458-48AB-A78D-AAF93113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2590800" cy="3467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5B8FF0">
              <a:alpha val="7059"/>
            </a:srgbClr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FC8E4-B86E-4DA7-8460-FF7CC8C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BUSINESS LINKAGE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12EC0-93CD-4A89-9783-28BA4B1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273DB-DB82-440B-BA12-F8FDC63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Provider skills become discoverable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B6FC95-0BC7-461C-B3F9-7C7CE45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814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Structured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2D0CAD-CB34-42BE-84F2-398FAAD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76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Fewer handoff losses across a job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DF167E-62A8-4285-95CE-1B1B834A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767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Reviewable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08ED18-5E82-42ED-96E0-77138DA0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72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Records support service quality and trust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9AE33-D3B6-49B2-B2E5-FD2CF3CB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Conceptual product architecture based on the source feature scope.</a:t>
            </a:r>
          </a:p>
        </p:txBody>
      </p:sp>
      <p:sp>
        <p:nvSpPr>
          <p:cNvPr id="47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B95623C9-FC06-4D45-91A9-AC09602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01D0B1-0CB3-4F85-99D4-5C5C030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C841EE-5194-434D-888A-E716E21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Joshua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AC354A-0E4C-4C99-8A9E-ACDD66D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21347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B362ACB-2A17-4A65-8A32-A261F5C3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EF19A4B0-FB8A-4320-A938-CCF679C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9CD6107C-B80E-42C8-9378-5F99F7E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PROVIDER STOREFRONT</a:t>
            </a:r>
          </a:p>
        </p:txBody>
      </p:sp>
      <p:sp>
        <p:nvSpPr>
          <p:cNvPr id="4" name="claim-title-14">
            <a:extLst xmlns:a="http://schemas.openxmlformats.org/drawingml/2006/main">
              <a:ext uri="{FF2B5EF4-FFF2-40B4-BE49-F238E27FC236}">
                <a16:creationId xmlns:a16="http://schemas.microsoft.com/office/drawing/2014/main" id="{8C7E17A6-C5AB-4976-8982-E997E3E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 profile turns expertise into a sellable service offer.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df92b48644688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51A53-F8B1-430A-9BAC-E0BCE4D0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18255-3546-4CB2-96E1-AC9BEE96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7660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</a:t>
            </a:r>
          </a:p>
          <a:p xmlns:a="http://schemas.openxmlformats.org/drawingml/2006/main">
            <a:pPr algn="ctr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D6D38-D196-4FA3-AEBA-73C6B5B6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581E9-3ED1-421F-BEF7-FC0810F8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13DB6-CBC9-46BB-ABD9-65D0B30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3C550-556E-4D83-9A04-2DA428E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Portfolio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Credentials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Previous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F5F26-7054-4BF3-A8EA-156DF4C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5269B-D68A-496D-B429-A323A5C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3B3ED-B93C-4D18-BFEE-DF14333B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75467-13C0-4088-BC00-BD6020E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EB8D7-DDBB-4E8A-874C-07A102C8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Service listing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Package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DDDDF-5956-4B03-88B0-0FD829A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B63E5-C03C-4C5B-8E9A-6B3FD86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5F124-8176-48C1-BCB8-481FE8F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2E8F5-FDB8-4491-B1CD-81BC32B7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PRICE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829CD-4004-4109-8948-B9DE17F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03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Fixed-price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or quotation-based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CD8D3-CF9D-416D-82AC-0726C7F2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59EC9-F355-4846-8EC3-2803384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42889-8366-4607-B593-D6391F9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FB7E2-09E0-4886-A639-6F165BEB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VISIBILITY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AFFC3-B2D1-4357-9446-481EC23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Skills become</a:t>
            </a:r>
          </a:p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searchable and sellable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23CEC-6DC7-4E10-9239-F822A62B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C9093-0DE2-441E-9392-39E5D15B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 digital storefront packages expertise into a clear offer clients can evaluate.</a:t>
            </a:r>
          </a:p>
        </p:txBody>
      </p:sp>
      <p:sp>
        <p:nvSpPr>
          <p:cNvPr id="29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84F99CBA-CC8E-4C82-9DE7-2F6184AD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E8163-9CC9-49F1-8392-8CC409CB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B0CF1-F841-4371-8FA6-3AF182A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Joshua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76F55-68A1-4943-BC4C-9B3BD9D2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0822190f04415">
            <a:extLst>
              <a:ext uri="{96DAC541-7B7A-43D3-8B79-37D633B846F1}">
                <asvg:svgBlip xmlns:asvg="http://schemas.microsoft.com/office/drawing/2016/SVG/main" r:embed="Re8a8cdedd2b245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26098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bc7745e0943a6">
            <a:extLst>
              <a:ext uri="{96DAC541-7B7A-43D3-8B79-37D633B846F1}">
                <asvg:svgBlip xmlns:asvg="http://schemas.microsoft.com/office/drawing/2016/SVG/main" r:embed="Rf3c763b00ea949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44767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d1f22c4704ab1">
            <a:extLst>
              <a:ext uri="{96DAC541-7B7A-43D3-8B79-37D633B846F1}">
                <asvg:svgBlip xmlns:asvg="http://schemas.microsoft.com/office/drawing/2016/SVG/main" r:embed="Ra47ef390e5aa43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26098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72d42e2574878">
            <a:extLst>
              <a:ext uri="{96DAC541-7B7A-43D3-8B79-37D633B846F1}">
                <asvg:svgBlip xmlns:asvg="http://schemas.microsoft.com/office/drawing/2016/SVG/main" r:embed="R3a6adbf407ba42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44767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319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DA5AC49-79AC-4E09-8341-2BC6C46F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8573747F-5E6E-4645-91E8-5542B392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C9845F38-A237-4B03-9B5C-C0DA152D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SEARCH + BOOKING</a:t>
            </a:r>
          </a:p>
        </p:txBody>
      </p:sp>
      <p:sp>
        <p:nvSpPr>
          <p:cNvPr id="4" name="claim-title-15">
            <a:extLst xmlns:a="http://schemas.openxmlformats.org/drawingml/2006/main">
              <a:ext uri="{FF2B5EF4-FFF2-40B4-BE49-F238E27FC236}">
                <a16:creationId xmlns:a16="http://schemas.microsoft.com/office/drawing/2014/main" id="{A24ECAFF-DD32-4D92-9760-D0238E3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Discovery becomes a scheduled commitment.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9ddfdb104b78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F2DA5-95C3-472D-BC8F-152895AC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86854-C396-4EE9-BAE3-423CFB1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1134C-3A4F-4B70-9A00-7A387D79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488DE-A5ED-4F82-B62D-D741DC6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DA460-5E20-4D0F-B80C-407CD1A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4340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Clients browse providers based on their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8786-51D8-43F5-AD41-FFA8CF8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8BC9A-6E71-4959-9C71-D2D1FD16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F352B-0150-4379-A072-C262F8A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B42AF-E282-40A6-AAED-EA6FACE6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Profiles, services, and availability make options visible.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661A1-9845-4A7F-99D7-17A285F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2F215-E932-4AAD-BB7F-75EDD380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41CAF-2262-4338-A39B-F1C9FEE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E52A5-5BC3-46A3-A157-62B4D3F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 booking request or fixed-price package starts the transaction.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51592-33AA-4131-A7DE-6FDD6129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C6403-19F9-4FE6-8D98-F883575D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D3B5B-00AC-40C0-A3FE-0EE0646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05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916CF-D4BF-4942-8625-B5638EC8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The client selects an available schedule.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9835D-C229-41DB-861C-3CD25911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24500"/>
            <a:ext cx="617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9A3D">
              <a:alpha val="10980"/>
            </a:srgbClr>
          </a:solidFill>
          <a:ln xmlns:a="http://schemas.openxmlformats.org/drawingml/2006/main" w="9525">
            <a:solidFill>
              <a:srgbClr val="FF9A3D">
                <a:alpha val="50196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1752C-CBEA-4D9B-9163-09C7152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24500"/>
            <a:ext cx="594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 simple inquiry becomes a structured service transaction.</a:t>
            </a:r>
          </a:p>
        </p:txBody>
      </p:sp>
      <p:sp>
        <p:nvSpPr>
          <p:cNvPr id="25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39327F89-F281-403A-854A-579807CC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1EE4D-22E2-4D32-AF4F-C44F963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8EFF5-ECDA-4D70-8AC0-A7B41CC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Joshua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4B612-2459-4D58-BA8B-F0AFE216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cfc6f1c494228">
            <a:extLst>
              <a:ext uri="{96DAC541-7B7A-43D3-8B79-37D633B846F1}">
                <asvg:svgBlip xmlns:asvg="http://schemas.microsoft.com/office/drawing/2016/SVG/main" r:embed="Rc88af20ef3b544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320040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256e014cd4178">
            <a:extLst>
              <a:ext uri="{96DAC541-7B7A-43D3-8B79-37D633B846F1}">
                <asvg:svgBlip xmlns:asvg="http://schemas.microsoft.com/office/drawing/2016/SVG/main" r:embed="R5fbe1e4e623f46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86200" y="320040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f51dd5afd4033">
            <a:extLst>
              <a:ext uri="{96DAC541-7B7A-43D3-8B79-37D633B846F1}">
                <asvg:svgBlip xmlns:asvg="http://schemas.microsoft.com/office/drawing/2016/SVG/main" r:embed="R83f3b8499c7646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05600" y="320040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ac96db65f489a">
            <a:extLst>
              <a:ext uri="{96DAC541-7B7A-43D3-8B79-37D633B846F1}">
                <asvg:svgBlip xmlns:asvg="http://schemas.microsoft.com/office/drawing/2016/SVG/main" r:embed="R396d62d4d51847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3200400"/>
            <a:ext cx="247650" cy="247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307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E084DE4-7C99-4309-8B69-866EFD07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983685FE-8AE1-47F1-92CD-BCBC007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4745AFB2-8356-44F7-B262-B9D2C28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BOOKING-LINKED COMMUNICATION</a:t>
            </a:r>
          </a:p>
        </p:txBody>
      </p:sp>
      <p:sp>
        <p:nvSpPr>
          <p:cNvPr id="4" name="claim-title-16">
            <a:extLst xmlns:a="http://schemas.openxmlformats.org/drawingml/2006/main">
              <a:ext uri="{FF2B5EF4-FFF2-40B4-BE49-F238E27FC236}">
                <a16:creationId xmlns:a16="http://schemas.microsoft.com/office/drawing/2014/main" id="{296AD724-50ED-4D7E-9E66-9E34ECD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Every conversation keeps the booking context attached.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b5bdd72a04cd8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EA392-2C66-4C48-BD7D-FC34934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BB344-FFCD-47BF-BE4B-6BF0658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723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5E4-8785-4A6D-B308-B84297CF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CONCEPTUAL BOOKING THREAD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0939C-7BEA-48D3-933D-0862582F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13906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>
              <a:alpha val="14118"/>
            </a:srgbClr>
          </a:solidFill>
          <a:ln xmlns:a="http://schemas.openxmlformats.org/drawingml/2006/main" w="9525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5958D-68F8-4A11-9EB9-09F7E52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SCHEDULED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C4A1F-4E09-4619-8DCD-A639CE0C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400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5B8FF0">
              <a:alpha val="10980"/>
            </a:srgbClr>
          </a:solidFill>
          <a:ln xmlns:a="http://schemas.openxmlformats.org/drawingml/2006/main" w="9525">
            <a:solidFill>
              <a:srgbClr val="5B8FF0">
                <a:alpha val="4392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D3689-FCC2-4C23-9F26-AC747D2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6B478-7580-4804-8FC2-146AC2F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Can you confirm the 2 PM schedule?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A69DF-7F76-415F-9B99-FC35B63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400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9A3D">
              <a:alpha val="9412"/>
            </a:srgbClr>
          </a:solidFill>
          <a:ln xmlns:a="http://schemas.openxmlformats.org/drawingml/2006/main" w="9525">
            <a:solidFill>
              <a:srgbClr val="FF9A3D">
                <a:alpha val="4392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9CE7F-4550-43DE-B958-025A84C2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ADCB9-AC76-44A4-B817-1C0FA28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Confirmed. I’ll bring the required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27A25-3752-483F-B8EB-A454940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00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5B8FF0">
              <a:alpha val="10980"/>
            </a:srgbClr>
          </a:solidFill>
          <a:ln xmlns:a="http://schemas.openxmlformats.org/drawingml/2006/main" w="9525">
            <a:solidFill>
              <a:srgbClr val="10B981">
                <a:alpha val="4392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1E1AC-56FC-4096-B495-47267D29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148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Job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50D6D-7E14-4A21-BEB8-D56EB74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Quotation accepted · schedule attached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AB05E-B87C-4DFE-923F-8F824B5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Illustrative workflow based on the source feature scope—not a product screenshot.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C2EDB-86FA-4385-AEB6-47FA274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628900" cy="32766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1E011-7FFD-445E-B8CB-576E644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CONTEXT THAT STAYS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1C719-D03A-4CA9-89FE-26C0373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52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37D22-3B5B-4D44-8A87-93F8883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Details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A259B-A959-4DDF-9A12-B25058E8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9D1B5-8363-4EC4-AA2B-7666372B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Updates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32CFB-3164-4D65-A636-4092D21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05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6271D-33D6-486C-B411-016FECC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Agreements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CD4B3-BC97-41DC-AD87-868B37E1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4EA6A-369A-4916-BCE6-7F0CF84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Job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AFCBB-D7C1-488A-9077-AE61A67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In-app communication is connected to a specific booking, reducing mixed-up conversations and lost information.</a:t>
            </a:r>
          </a:p>
        </p:txBody>
      </p:sp>
      <p:sp>
        <p:nvSpPr>
          <p:cNvPr id="32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8E29F897-C4DD-4EF1-9833-DD49D6F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7D2348-FE0A-46C4-863C-B4A2FEE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10F7E-EAC2-4CCC-BBAE-70C0C3A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Joshua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E47CF-C86F-4468-81CD-612D4BD2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6040393dc45e7">
            <a:extLst>
              <a:ext uri="{96DAC541-7B7A-43D3-8B79-37D633B846F1}">
                <asvg:svgBlip xmlns:asvg="http://schemas.microsoft.com/office/drawing/2016/SVG/main" r:embed="R78e4ad57cd404b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2286000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08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4442CA6-BBCA-4F03-BA80-4D0721AB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53D71DC1-7124-4968-B207-ED679D3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F6383547-C3D7-4868-B841-1E41C9D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STATUS + PAYMENT</a:t>
            </a:r>
          </a:p>
        </p:txBody>
      </p:sp>
      <p:sp>
        <p:nvSpPr>
          <p:cNvPr id="4" name="claim-title-17">
            <a:extLst xmlns:a="http://schemas.openxmlformats.org/drawingml/2006/main">
              <a:ext uri="{FF2B5EF4-FFF2-40B4-BE49-F238E27FC236}">
                <a16:creationId xmlns:a16="http://schemas.microsoft.com/office/drawing/2014/main" id="{E01D5E82-CBDB-41FC-A36B-082AD5B7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Every job has a visible state and an agreed money trail.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9ae6d3d8b431c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BE31F-D865-4FD7-B330-5EC1C3B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FE9CF-0F3D-4B92-B3F8-10F5F31D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4D1F3-C853-4002-8944-0C763583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464F7-A07A-41BD-8F11-DD95B08C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C7D09-A703-47FC-BBC6-F572C43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23E3B-AF9B-4324-B3EC-47178B6D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76D1F-863B-422B-9AE8-3E2D0E4E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Confirmed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EFBE7-5A90-46B0-947E-3FD50DA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603A2-7350-4DE4-8814-F4A2E25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84A30-8F02-4130-B6A0-98685A3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Scheduled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57A0A-745A-4688-92DE-B748931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E8037-AAF5-4048-98BC-F9861A17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E9F86-5488-47F6-A58E-39402181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90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8FB4B-CB29-4DC0-9FC6-7219CF2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7B245-F480-48D9-9CE1-6423E3A3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B1FEF-6868-46D0-880E-913EBD2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1F834-3CF6-4EA5-B920-F3CF5FBF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2571750" cy="35623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31B70-B075-411F-9D66-87EC251C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PAYMENT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4238B-C30D-407B-80D3-B84830D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Agreed price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F2B43-1E08-431F-92EC-927FEE4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Recorded with the booking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5FF61-DA3C-4024-A9EA-76B736C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Balance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4D585-B5F9-4157-86A9-14C98335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291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Visible to both sides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EB711-0B8D-44BE-89D2-7A6E952A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Notes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BFE48-E47E-4BE0-8DC3-CC941539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625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Transaction details stay organized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F0D30-C198-4B19-AFEF-D23C49D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710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Clear progress and records make payment coordination more organized.</a:t>
            </a:r>
          </a:p>
        </p:txBody>
      </p:sp>
      <p:sp>
        <p:nvSpPr>
          <p:cNvPr id="31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18A5026C-FA27-4C7A-91AF-3630B5E8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294D6-C04B-40A9-94A8-76D3D9D7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27C7E-7DCE-40B3-91F1-145B98E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Joshua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2392C-93B8-41DA-BCF3-F6CA1C1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76591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E6B2F05-7F6B-4579-8067-E92CA0A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852296E5-943E-48F5-A09C-69A1079B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9E19586B-B0F4-407B-8E25-E066892F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TRANSACTION FLOW I</a:t>
            </a:r>
          </a:p>
        </p:txBody>
      </p:sp>
      <p:sp>
        <p:nvSpPr>
          <p:cNvPr id="4" name="claim-title-18">
            <a:extLst xmlns:a="http://schemas.openxmlformats.org/drawingml/2006/main">
              <a:ext uri="{FF2B5EF4-FFF2-40B4-BE49-F238E27FC236}">
                <a16:creationId xmlns:a16="http://schemas.microsoft.com/office/drawing/2014/main" id="{4CEA69DC-4794-4C4B-ABAD-D546D1E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From listing to confirmed quote, each handoff is explicit.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abf0336c74b61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E307C-4150-495C-8FCA-2246B3F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312CB-19EF-4721-B359-B2EE7AF9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47440-6106-4196-8DE5-6A969B2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5C771-7248-4BE1-A688-90F3146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creates a profile and service listing.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8A01F-FB8B-445E-B136-F842EFBA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2D9B2-8382-4043-9E57-682038D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BBCF0-6D3E-4C82-84E7-DC2EEC1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E1983-BFF6-4BFD-B2E8-0F29474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8763-C342-4C0F-9D28-7E421D0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SELECT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627BA-5ADD-4B5E-9854-61CD2078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 browses and chooses a provider.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02F40-5164-47BD-9A64-38E80F3E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15E58-A07F-4C63-8FC5-D1702155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1F54E-4A1E-4BA8-9123-299E222F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F7677-8824-4AB3-BCF2-D34D1BA4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E4783-87E5-4D09-8A4A-2BBB9B5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2F9A1-36AC-4A98-A131-5C3A810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Client books or selects a fixed-price package.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EEB91-0FBC-4629-875A-5C06F55C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7E199-1E68-47C7-AF56-A0AEC2B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96E5F-6068-4768-8695-66217D7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73E15-2A09-4542-988A-02C08EF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ACB4A-EA64-4AFA-858A-6BE4CAA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CONFIRM / QUOTE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CA03C-2C66-4B26-BB4B-99712A2A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confirms and may submit a quotation.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1A05F-325C-4CB9-ADA5-4E39CE6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590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B8FF0">
              <a:alpha val="10980"/>
            </a:srgbClr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FC973-6178-468F-8AF4-809B8C4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81650"/>
            <a:ext cx="567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Each step creates a clearer record and a cleaner handoff.</a:t>
            </a:r>
          </a:p>
        </p:txBody>
      </p:sp>
      <p:sp>
        <p:nvSpPr>
          <p:cNvPr id="30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D810BF8B-435A-42C9-89FF-5737DCA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8AC85-25BE-49F2-A083-B875354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1B9C6B-64F9-43B2-BB2D-91CBFBFE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0EBF6-1C10-4688-A140-E3983EB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f22076ddd46b9">
            <a:extLst>
              <a:ext uri="{96DAC541-7B7A-43D3-8B79-37D633B846F1}">
                <asvg:svgBlip xmlns:asvg="http://schemas.microsoft.com/office/drawing/2016/SVG/main" r:embed="Rc10de627d8af46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7725" y="30194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ea65424fe4877">
            <a:extLst>
              <a:ext uri="{96DAC541-7B7A-43D3-8B79-37D633B846F1}">
                <asvg:svgBlip xmlns:asvg="http://schemas.microsoft.com/office/drawing/2016/SVG/main" r:embed="R200a3f4a8f674c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24275" y="30194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8a6f1d40749bc">
            <a:extLst>
              <a:ext uri="{96DAC541-7B7A-43D3-8B79-37D633B846F1}">
                <asvg:svgBlip xmlns:asvg="http://schemas.microsoft.com/office/drawing/2016/SVG/main" r:embed="Reb140963c3b545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00825" y="30194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541ff5c40424b">
            <a:extLst>
              <a:ext uri="{96DAC541-7B7A-43D3-8B79-37D633B846F1}">
                <asvg:svgBlip xmlns:asvg="http://schemas.microsoft.com/office/drawing/2016/SVG/main" r:embed="Re06ec4e9d7764e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3019425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168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CEED4E2-7DA9-4529-B1F6-689E9AE3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D52875B1-FEAF-435D-9F4C-21C5C8E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A999672F-3301-458A-8378-5BA9714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TRANSACTION FLOW II</a:t>
            </a:r>
          </a:p>
        </p:txBody>
      </p:sp>
      <p:sp>
        <p:nvSpPr>
          <p:cNvPr id="4" name="claim-title-19">
            <a:extLst xmlns:a="http://schemas.openxmlformats.org/drawingml/2006/main">
              <a:ext uri="{FF2B5EF4-FFF2-40B4-BE49-F238E27FC236}">
                <a16:creationId xmlns:a16="http://schemas.microsoft.com/office/drawing/2014/main" id="{E1597CFB-40FE-4233-9FDA-275650D8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lifecycle closes the loop from discovery to review.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4fdc5a3fc472f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F625E-DB48-4301-ABD9-A04736B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13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6816E-B3DF-46B0-A129-8B1E626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EF29B-C5B5-48EF-A7A2-5A5FFBF8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FC8FF-71DE-441B-B5AA-C525CC9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A5AD9-13F7-482B-9B8B-BF9B48F3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F0725-D231-43FE-96F0-5633EC9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7B1C9-B8C5-4FE2-9B1C-B591BE9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98831-BB39-4505-8B44-A28E15E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0C080-C7F2-4634-9BD2-DA8B7D2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484D8-BDF8-4A85-BA17-AA0C00A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86131-226C-4CAC-8856-B141399B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59FE2-E6C4-4692-A226-D14655C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2ED5F-0B13-497A-9484-4240C22E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54CB6-0B9E-4C7A-8FF2-80DA7FEC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1CA4F-0F2F-428E-A24B-4455B4B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7BE16-7325-4D96-AE73-14C770E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C73F4-6B58-4E1F-A18E-F92CDAB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DF918-C51D-460E-8913-A8CE7000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FDD65-9273-4F0F-BFA7-709FE10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DB066-195B-41E3-BC7A-F910B3B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21846-A064-41E2-AD0A-A2FA641D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0333B-C48A-4886-A2DB-D94A9298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43F6F-C465-41D1-83B9-45AB8B20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2DEA5-5A70-4C17-B653-230E19E5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09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89E7AB-1118-431F-ABA3-CB4D0FF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71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9A1F4-793E-4146-B649-69D3786D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954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Both sides agree, schedule, communicate, and update the job. The provider marks it complete; the client confirms; payment and reviews close the loop.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55F6B9-BE97-4AA8-A230-E8859D60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910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LIST → DISCOVER → BOOK → QUOTE → SCHEDULE → SERVICE → PAY → REVIEW</a:t>
            </a:r>
          </a:p>
        </p:txBody>
      </p:sp>
      <p:sp>
        <p:nvSpPr>
          <p:cNvPr id="33" name="footer-rule-19">
            <a:extLst xmlns:a="http://schemas.openxmlformats.org/drawingml/2006/main">
              <a:ext uri="{FF2B5EF4-FFF2-40B4-BE49-F238E27FC236}">
                <a16:creationId xmlns:a16="http://schemas.microsoft.com/office/drawing/2014/main" id="{751A56FD-F0E8-4CCB-9833-3A47885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833892-9B33-442D-A733-4382584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9DB809-1C1D-4717-BB83-3C949CB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7DE3FC-C6F4-44EA-B756-26E946B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860105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CBBDD8D-7D97-4A99-8A4E-936AE53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8A11E1B3-37EA-4D2C-9826-0457879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10C6DB07-714C-4361-BC05-2159254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PRICING + QUOTATIONS</a:t>
            </a:r>
          </a:p>
        </p:txBody>
      </p:sp>
      <p:sp>
        <p:nvSpPr>
          <p:cNvPr id="4" name="claim-title-20">
            <a:extLst xmlns:a="http://schemas.openxmlformats.org/drawingml/2006/main">
              <a:ext uri="{FF2B5EF4-FFF2-40B4-BE49-F238E27FC236}">
                <a16:creationId xmlns:a16="http://schemas.microsoft.com/office/drawing/2014/main" id="{D3B024AD-F2D2-4A4A-9D25-9F349E9D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One system supports fixed prices and approved quotations.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5296a5c5c4fed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7AB9D-DB72-4279-9C40-673D95E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0292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E4E52-A38E-460F-9567-5328CA9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0292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C084E-8B66-47C5-B26C-0599150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FIXED-PRICE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ECC59-50B6-4391-B40F-F14F410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Clear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C0A6A-E7B5-41A2-BE9B-ACD0F761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 defined package and price can move directly into booking.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3B77C-9952-43D2-8C99-C93814F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3553B-439E-4E98-8AA5-ABAA8E8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ABF6A-9223-49B5-BE1D-AD9F105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Select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6D2B8-08CB-466E-9124-EF157CD5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67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C9D5D-9185-45D1-8E38-2940003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770FC-5856-4CE7-B71E-0D169424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95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85B7B-07B6-4DC8-ADF2-1D6BDB4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756A4-419E-45C2-8268-8B3B0BA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QUOTATION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0A330-1C1F-4CD9-B3E3-A158B5F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Inspection-dependent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28207-B436-4A48-827F-DB03B06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provider proposes or revises a quotation; the client approves before it becomes final.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44A61-3600-4A3A-B418-5FAFCD3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27393-E295-40DF-8422-1F773A09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95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4768F-223D-4235-B801-273D278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Quote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4544E-EF53-4356-B37E-4110509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67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DE63B-F41D-43D1-8E8A-F612597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1790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B2E21-08A9-4B4F-B389-9ACAA879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95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6CD83-D595-40D6-8E56-2BBA845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028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Approve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C45BC-1084-4516-9E0F-2BE0F131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19750"/>
            <a:ext cx="52197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0D689-82C0-44BE-B28B-11E6E89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19750"/>
            <a:ext cx="499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Two entry paths · one approved transaction record</a:t>
            </a:r>
          </a:p>
        </p:txBody>
      </p:sp>
      <p:sp>
        <p:nvSpPr>
          <p:cNvPr id="30" name="footer-rule-20">
            <a:extLst xmlns:a="http://schemas.openxmlformats.org/drawingml/2006/main">
              <a:ext uri="{FF2B5EF4-FFF2-40B4-BE49-F238E27FC236}">
                <a16:creationId xmlns:a16="http://schemas.microsoft.com/office/drawing/2014/main" id="{67AB437D-3D5F-4506-83F8-A9BFE3B4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25C67-5492-4539-A599-CF26CE6C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0AC3E9-2F3A-4742-9973-FD76F33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BB831-BF78-4A20-86F6-B6D7204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ecc9fb04d463d">
            <a:extLst>
              <a:ext uri="{96DAC541-7B7A-43D3-8B79-37D633B846F1}">
                <asvg:svgBlip xmlns:asvg="http://schemas.microsoft.com/office/drawing/2016/SVG/main" r:embed="Rba4ded29bbc04b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47775" y="43815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8c199d9d9423c">
            <a:extLst>
              <a:ext uri="{96DAC541-7B7A-43D3-8B79-37D633B846F1}">
                <asvg:svgBlip xmlns:asvg="http://schemas.microsoft.com/office/drawing/2016/SVG/main" r:embed="Rccd0b4e8f7734f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24275" y="43815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9b61420f54e1e">
            <a:extLst>
              <a:ext uri="{96DAC541-7B7A-43D3-8B79-37D633B846F1}">
                <asvg:svgBlip xmlns:asvg="http://schemas.microsoft.com/office/drawing/2016/SVG/main" r:embed="Rec7bbbc5c4694e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24675" y="43815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2585b1f81465a">
            <a:extLst>
              <a:ext uri="{96DAC541-7B7A-43D3-8B79-37D633B846F1}">
                <asvg:svgBlip xmlns:asvg="http://schemas.microsoft.com/office/drawing/2016/SVG/main" r:embed="R99124b072b084c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10675" y="43815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490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477C8E2-C387-48F6-9AC7-501812D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12E85125-1FFD-4CA4-BDA4-31668B7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7E6A6DD7-FDDF-49EF-AD02-7834348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REVENUE STRATEGY</a:t>
            </a:r>
          </a:p>
        </p:txBody>
      </p:sp>
      <p:sp>
        <p:nvSpPr>
          <p:cNvPr id="4" name="claim-title-21">
            <a:extLst xmlns:a="http://schemas.openxmlformats.org/drawingml/2006/main">
              <a:ext uri="{FF2B5EF4-FFF2-40B4-BE49-F238E27FC236}">
                <a16:creationId xmlns:a16="http://schemas.microsoft.com/office/drawing/2014/main" id="{935DBB13-44A3-481A-AB56-EAF5C84D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Revenue begins only when a real booking is secured.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bf604257044ea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0F60F-A9EE-4E67-91A9-0C339C6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6A9A1-223A-4906-ADDD-979D60AA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PROPOSED TRANSACTION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COORDINATION 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84625-A0D6-4508-A3F3-2212C52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Charged on the client's downpayment for a confirmed booking.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44458-4705-4B6F-8073-BD06DBD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9525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CFD6A-EFAD-4A99-9B09-B8C8B4F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A962C-1057-49C2-B784-BB410B12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9825C-B3A5-405F-B387-1ACBE3F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670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3E3DB-AA03-4502-B706-C8833E2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BOOKING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DBE05-7CEE-4CC1-8292-CDD5786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 legitimate service transaction is secured.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72F5D-00AB-459E-A44F-16BCB8A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76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FF2D1-3784-4D3D-80F5-DA2E4495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766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023A6-C6B7-412A-A88A-CDA8A0CD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100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71E60-4D2E-427A-B4DB-E533E41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95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DOWNPAYMENT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3F541-6330-4545-B6D6-845CEAF5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source model uses the client's downpayment as the fee base.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F48AF-50FA-46A6-A0C5-F44CBEE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F9159-6AEF-4111-AC07-CCDE1A8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5E47D-D820-4200-BD6E-1B28A803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38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PLATFORM EARNS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630A7-599C-495E-B04D-8504929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TrabaWho earns once the booking reaches the confirmation trigger.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D6579-36C2-4CC1-9749-53988FD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38800"/>
            <a:ext cx="52197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9A3D">
              <a:alpha val="9412"/>
            </a:srgbClr>
          </a:solidFill>
          <a:ln xmlns:a="http://schemas.openxmlformats.org/drawingml/2006/main" w="9525">
            <a:solidFill>
              <a:srgbClr val="FF9A3D">
                <a:alpha val="4392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0F281-DBC9-4D7E-84BB-B20B4913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38800"/>
            <a:ext cx="499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Revenue is tied to transaction quality—not page views alone.</a:t>
            </a:r>
          </a:p>
        </p:txBody>
      </p:sp>
      <p:sp>
        <p:nvSpPr>
          <p:cNvPr id="26" name="footer-rule-21">
            <a:extLst xmlns:a="http://schemas.openxmlformats.org/drawingml/2006/main">
              <a:ext uri="{FF2B5EF4-FFF2-40B4-BE49-F238E27FC236}">
                <a16:creationId xmlns:a16="http://schemas.microsoft.com/office/drawing/2014/main" id="{FBBFD13D-A325-49B8-A8DE-EED5DAE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ABC58-9B0D-48E1-86B8-73EEBC2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8DC3C-B41A-4716-9446-2FC5D1A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CEA63-92D5-4252-A791-34FEF6D5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8746748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7FFEA45-6839-474C-85A1-CFCB56EF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4E6802D4-0EEC-4D7F-ABF7-65BD68A0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166DBFFE-82B6-4E72-BF5D-D42E115D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PREMIUM REVENUE</a:t>
            </a:r>
          </a:p>
        </p:txBody>
      </p:sp>
      <p:sp>
        <p:nvSpPr>
          <p:cNvPr id="4" name="claim-title-22">
            <a:extLst xmlns:a="http://schemas.openxmlformats.org/drawingml/2006/main">
              <a:ext uri="{FF2B5EF4-FFF2-40B4-BE49-F238E27FC236}">
                <a16:creationId xmlns:a16="http://schemas.microsoft.com/office/drawing/2014/main" id="{3574386E-242C-4900-B16D-D9E2963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Search visibility and provider tools create a second revenue layer.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72f27d66b428c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D65AA-2497-47DE-B8EB-9980D36A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247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1D303-8520-4566-B74C-CB94BC6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0CB9F-C766-42DB-8958-B3CBF751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Transaction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B1505-A157-4882-93F5-8D719C58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Core booking coordination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583E2-00FD-4432-AA76-F933EE2F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90950"/>
            <a:ext cx="2247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B8FF0">
                <a:alpha val="50196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84C8B-D77B-4C49-A54C-3103509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94DB9-2DC9-4547-80B2-9D89B53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48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 boosts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C0DEA-9297-48D2-B85E-6176AD35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863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Sponsored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398E4-91F4-4A67-9392-2602D28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2247900" cy="2590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9A3D">
                <a:alpha val="50196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73C77-BE64-40CA-835E-2E2F5ED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7F618-3B9E-4F3B-A9C0-34F4500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Higher placement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12D8E-4BAB-4C3C-9639-91C203B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Relevant search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EAE2A-82B9-4343-A6E8-83C8F18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143250" cy="33909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FF9A3D">
                <a:alpha val="50196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5F06-B788-41DF-B3D4-E64C5FD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384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78AAE-1B0A-494A-A33D-0712BCC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Future premium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94813-AAAE-4107-AF36-976E8E7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Analytics · storefront features · business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70FD6-9F75-4254-9C9E-EEC96348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626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Monetization expands from completed transactions to optional provider growth tools.</a:t>
            </a:r>
          </a:p>
        </p:txBody>
      </p:sp>
      <p:sp>
        <p:nvSpPr>
          <p:cNvPr id="23" name="footer-rule-22">
            <a:extLst xmlns:a="http://schemas.openxmlformats.org/drawingml/2006/main">
              <a:ext uri="{FF2B5EF4-FFF2-40B4-BE49-F238E27FC236}">
                <a16:creationId xmlns:a16="http://schemas.microsoft.com/office/drawing/2014/main" id="{152433D2-9CD7-4500-B508-45E14F7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9C921-C797-4EF2-A322-707FB80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01897-B7EB-409C-B225-903E09F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9F350-F4FB-436C-91E6-DD949B53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6792738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CC6EACB-1F7B-4539-8356-48F0188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3-marker">
            <a:extLst xmlns:a="http://schemas.openxmlformats.org/drawingml/2006/main">
              <a:ext uri="{FF2B5EF4-FFF2-40B4-BE49-F238E27FC236}">
                <a16:creationId xmlns:a16="http://schemas.microsoft.com/office/drawing/2014/main" id="{F5049F1A-624E-4EB7-8E23-CFD18ADF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3-label">
            <a:extLst xmlns:a="http://schemas.openxmlformats.org/drawingml/2006/main">
              <a:ext uri="{FF2B5EF4-FFF2-40B4-BE49-F238E27FC236}">
                <a16:creationId xmlns:a16="http://schemas.microsoft.com/office/drawing/2014/main" id="{6FA8CC7E-6996-4B37-8C6A-7D243407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ILLUSTRATIVE ECONOMICS</a:t>
            </a:r>
          </a:p>
        </p:txBody>
      </p:sp>
      <p:sp>
        <p:nvSpPr>
          <p:cNvPr id="4" name="claim-title-23">
            <a:extLst xmlns:a="http://schemas.openxmlformats.org/drawingml/2006/main">
              <a:ext uri="{FF2B5EF4-FFF2-40B4-BE49-F238E27FC236}">
                <a16:creationId xmlns:a16="http://schemas.microsoft.com/office/drawing/2014/main" id="{A18D6806-61AC-4414-AC0E-157DEC8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₱75K is the result only if 5% applies to full service value.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a99a3dcf74753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24D05-3B35-492E-B733-FA49C4C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B00DE-7A3A-4AF7-A4BA-6EBD729A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completed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B28F5-88BC-4499-B3FA-5090204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622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FF114-FA31-476B-9F59-E009E9D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₱1,500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F09B4-144C-47C0-AFEE-490CEC22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average service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9D530-A277-4830-B498-685CBD5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48C0C-6C43-453A-9188-3D1293C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289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₱1.5M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C94F8-F331-4F86-86A5-D4D512E5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total service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67A0E-4D96-473B-A864-B83416F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4388E-6CDE-420D-9A32-347481C8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3504C-7196-462B-B1A8-DDFD82E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illustrative fee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486EE-2FB5-489B-A8DD-53940074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95C14-9E61-4524-B849-260BAD9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₱75K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73EF7-A50A-4EB7-8CC3-822F5F46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illustrative revenue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C9B2E-B57A-4434-A54D-446534A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FDD43-69E3-4E63-855D-C707628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028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9A3D">
              <a:alpha val="8627"/>
            </a:srgbClr>
          </a:solidFill>
          <a:ln xmlns:a="http://schemas.openxmlformats.org/drawingml/2006/main" w="9525">
            <a:solidFill>
              <a:srgbClr val="FF9A3D">
                <a:alpha val="50196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5A4EF-6094-40BF-ABA3-70710520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ASSUMPTION TO 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300A9-6B30-45B2-974A-DB63793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910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The source deck says the 5% fee applies to the client's downpayment, but this example applies 5% to total service value. A downpayment-based result needs the missing downpayment-rate assumption.</a:t>
            </a:r>
          </a:p>
        </p:txBody>
      </p:sp>
      <p:sp>
        <p:nvSpPr>
          <p:cNvPr id="24" name="footer-rule-23">
            <a:extLst xmlns:a="http://schemas.openxmlformats.org/drawingml/2006/main">
              <a:ext uri="{FF2B5EF4-FFF2-40B4-BE49-F238E27FC236}">
                <a16:creationId xmlns:a16="http://schemas.microsoft.com/office/drawing/2014/main" id="{CBD78F81-5D8C-4893-BF25-28E4325F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14975-A13E-4C94-B3B4-FC1A5928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0BFDA-F754-48FF-A91F-EBD47F2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Brent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537B22-AD89-4AEB-A8E2-CC1831C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e5b3fc48d45da">
            <a:extLst>
              <a:ext uri="{96DAC541-7B7A-43D3-8B79-37D633B846F1}">
                <asvg:svgBlip xmlns:asvg="http://schemas.microsoft.com/office/drawing/2016/SVG/main" r:embed="Rbba49d5f4fa74e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4762500"/>
            <a:ext cx="28575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20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A87AF08-746A-4AF7-9573-9F063D1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4-marker">
            <a:extLst xmlns:a="http://schemas.openxmlformats.org/drawingml/2006/main">
              <a:ext uri="{FF2B5EF4-FFF2-40B4-BE49-F238E27FC236}">
                <a16:creationId xmlns:a16="http://schemas.microsoft.com/office/drawing/2014/main" id="{9022D8AB-F3A1-4D02-859C-644CCD7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4-label">
            <a:extLst xmlns:a="http://schemas.openxmlformats.org/drawingml/2006/main">
              <a:ext uri="{FF2B5EF4-FFF2-40B4-BE49-F238E27FC236}">
                <a16:creationId xmlns:a16="http://schemas.microsoft.com/office/drawing/2014/main" id="{684C9734-316C-4BF6-82C5-B8E93894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COMPETITIVE POSITIONING</a:t>
            </a:r>
          </a:p>
        </p:txBody>
      </p:sp>
      <p:sp>
        <p:nvSpPr>
          <p:cNvPr id="4" name="claim-title-24">
            <a:extLst xmlns:a="http://schemas.openxmlformats.org/drawingml/2006/main">
              <a:ext uri="{FF2B5EF4-FFF2-40B4-BE49-F238E27FC236}">
                <a16:creationId xmlns:a16="http://schemas.microsoft.com/office/drawing/2014/main" id="{4339094B-BBD4-4EF1-A078-AB56C992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Existing alternatives cover pieces; TrabaWho connects the local workflow.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9cef09054e19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A662E-9A03-477A-94E6-95FC773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D203-2AC7-4826-8E11-5D22EED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PROFESSIONAL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D4BEA-B13E-40D0-9A21-8BE8DFD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27118-C868-4028-910D-CFFE111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364F3-7DEB-4AF7-9D89-38577FE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REMOTE FREELANCE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A5DD3-7BC3-4A8C-87A0-DEC33C81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Fiverr · Upwork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3E539-DADB-4544-9F23-C5E21657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03253-D755-4E48-A2F8-CD58FE64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DISCOVERY +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6B87E-BCBF-47FC-9D1D-2AC72A07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Facebook · Messenger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349CC-1DF0-4822-A66A-5C0C906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D2566-7312-4BF3-92D8-5F6953D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00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LOCAL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3891F-C3D7-4C34-857B-DE13222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768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MyKuya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F81FD-C1E4-4388-A606-02047BF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401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02B8E-193D-4011-A3A5-48C93FE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401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071C6-03D7-4BB3-B6A8-67FA360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958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35EBF-568D-493E-BACE-9A882EF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5AA7B-A74E-4A54-8BC4-B73C5DE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37528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62DB4-167E-4729-87FF-675E4F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7641E-5289-4CE4-BB27-4226D48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Local focus + integrated service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370BC-1D51-40C3-8855-E6E93DA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AC02C-317B-44C1-A450-84B549F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Discovery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839C8-C5D9-4254-AD25-0E61DEC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4B812-E058-4D98-88CA-9CBE967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719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82B373-5C09-4C90-8EF6-E0C0184F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3581B-3AFF-4B52-94D4-EE3DD63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Quotation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D43D8-63D5-4CC5-8BF7-C21F267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DB9671-9A80-4B62-901C-5BBD935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244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Scheduling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F3BFF-3731-4508-A023-6A512FA8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3B9C4-675F-426E-986D-843369A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006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Transaction records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73022-3300-4BBD-A9EF-7DB3D14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8864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Selling services online is not new. The integrated local workflow is the differentiation.</a:t>
            </a:r>
          </a:p>
        </p:txBody>
      </p:sp>
      <p:sp>
        <p:nvSpPr>
          <p:cNvPr id="36" name="footer-rule-24">
            <a:extLst xmlns:a="http://schemas.openxmlformats.org/drawingml/2006/main">
              <a:ext uri="{FF2B5EF4-FFF2-40B4-BE49-F238E27FC236}">
                <a16:creationId xmlns:a16="http://schemas.microsoft.com/office/drawing/2014/main" id="{97F41F04-3DDF-44ED-8DCE-9BE4B75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C58860-2A2D-4699-88B8-4C79031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A98719-AB6E-4208-87A5-614E0EA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1059D2-BF71-41EA-B07D-7DBB92EA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3866855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AE8E093-7E3A-4039-8BEC-59D0B42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5-marker">
            <a:extLst xmlns:a="http://schemas.openxmlformats.org/drawingml/2006/main">
              <a:ext uri="{FF2B5EF4-FFF2-40B4-BE49-F238E27FC236}">
                <a16:creationId xmlns:a16="http://schemas.microsoft.com/office/drawing/2014/main" id="{3BBFA953-A077-467D-8ADB-442D2C2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5-label">
            <a:extLst xmlns:a="http://schemas.openxmlformats.org/drawingml/2006/main">
              <a:ext uri="{FF2B5EF4-FFF2-40B4-BE49-F238E27FC236}">
                <a16:creationId xmlns:a16="http://schemas.microsoft.com/office/drawing/2014/main" id="{689A1B55-5913-472A-947C-6135F473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WHY TRABAWHO</a:t>
            </a:r>
          </a:p>
        </p:txBody>
      </p:sp>
      <p:sp>
        <p:nvSpPr>
          <p:cNvPr id="4" name="claim-title-25">
            <a:extLst xmlns:a="http://schemas.openxmlformats.org/drawingml/2006/main">
              <a:ext uri="{FF2B5EF4-FFF2-40B4-BE49-F238E27FC236}">
                <a16:creationId xmlns:a16="http://schemas.microsoft.com/office/drawing/2014/main" id="{16C2024B-A1FE-408B-A50F-A9878C41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TrabaWho competes on transaction completeness, not discovery alone.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690a69f1f4fae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34F3-591A-47CF-AAC2-0D1EB7A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918A8-6C66-4BE7-9397-75903D5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13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ALTERNATIVE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3B167-72CC-4933-9B9F-CD5D216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534B1-C5C8-4AB1-B216-E1B3EE4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384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PRIMARY ROLE IN SOURCE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E14D-F70E-49FC-9A2E-ED4CAEED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145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A541-E991-4195-9697-49D14480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TRANSACTION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B0764-0DC6-4178-874D-0BC639DC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145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>
              <a:alpha val="13333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E2CE0-AB34-4DE0-B0D5-BAEB113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LOCAL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54ACB-594A-417D-8200-C763694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26B08-2CFE-47A3-A583-CA7488E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6F91A-F8F8-4433-8FA5-7DB4897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A91D5-0C22-4161-97E9-6158D247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384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Professional networking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2FC36-B77C-4506-8D7C-C6777696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E888-5891-4DF1-B7DE-38BADC1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F459A-FB42-4103-841E-746C8C83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1743E-C4C2-43A4-8781-E9D7DBD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Not the stated focus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DB61A-990B-4D64-ADC5-F202785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8F6F8-078E-42F0-BAAF-834F265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Fiverr / Upwork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8540A-8ED7-43A4-A86A-EB081309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5280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66B1E-7DAC-4AB8-B231-CA703A6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384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Remote freelance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E47C9-066B-438A-9486-DA313F96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528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7F08D-7200-452E-BF6E-95992E1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Marketplace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8C83E-CB69-4478-BA91-589B3033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67BA7-544A-4B05-8F3E-422636D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Not the stated focus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D93E1-E36A-4703-8D28-ED86011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E848B6-0456-47B5-847C-99F53C1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Facebook / Messenger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17AB42-A7DE-4599-A1F8-669520C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AD0CC-2A49-4D56-920A-6D1634D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95750"/>
            <a:ext cx="384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Discovery + chat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0ED23F-CBB0-4C44-9F1D-7DCBDE4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C537B-471D-4047-8C3B-0C44210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Unstructured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3DD5D-7899-4059-A5CD-C4375FD7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C90E46-39CF-4ADA-BA6A-A7D1E14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95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Not the stated focus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FD5F3-1BD4-4712-AB98-94583AA4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>
              <a:alpha val="22745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ACB3CD-AB98-40E1-95CB-977E100B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TrabaWho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5F0D6D-E9B1-426D-B957-62D1F587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38700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>
              <a:alpha val="22745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342E17-721F-4D70-97CF-E68037E9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384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Complete local service transaction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80C245-2053-4519-8A67-3369936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387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C0">
              <a:alpha val="22745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31B822-6563-43D2-A0F0-A54EBBA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End to end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8C6810-2C70-4843-896F-839AA24D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387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>
              <a:alpha val="13333"/>
            </a:srgbClr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AA6B82-ED99-4955-A3AB-9B3C788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10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F6995B-F541-432A-8360-3CC07EDE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006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Designed for 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F69438-D672-4644-A0D2-66281F4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42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The source deck differentiates TrabaWho through local focus and a complete service transaction—not by claiming service selling is new.</a:t>
            </a:r>
          </a:p>
        </p:txBody>
      </p:sp>
      <p:sp>
        <p:nvSpPr>
          <p:cNvPr id="48" name="footer-rule-25">
            <a:extLst xmlns:a="http://schemas.openxmlformats.org/drawingml/2006/main">
              <a:ext uri="{FF2B5EF4-FFF2-40B4-BE49-F238E27FC236}">
                <a16:creationId xmlns:a16="http://schemas.microsoft.com/office/drawing/2014/main" id="{3D7F63E9-4939-4622-9141-78BEE82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23A0D0-BE14-4A8C-94BA-9D4B06F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5F4ECF-D90B-4F64-8075-56E3BB15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E47AB4-33C1-4F4C-9466-BFF3D67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a6b4320594edc">
            <a:extLst>
              <a:ext uri="{96DAC541-7B7A-43D3-8B79-37D633B846F1}">
                <asvg:svgBlip xmlns:asvg="http://schemas.microsoft.com/office/drawing/2016/SVG/main" r:embed="R6c8f1aa4371b48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5105400"/>
            <a:ext cx="20955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841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9004C64-558D-4349-B46A-BCFA9974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6-marker">
            <a:extLst xmlns:a="http://schemas.openxmlformats.org/drawingml/2006/main">
              <a:ext uri="{FF2B5EF4-FFF2-40B4-BE49-F238E27FC236}">
                <a16:creationId xmlns:a16="http://schemas.microsoft.com/office/drawing/2014/main" id="{06066577-354F-4A56-B29B-ABA7B2D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6-label">
            <a:extLst xmlns:a="http://schemas.openxmlformats.org/drawingml/2006/main">
              <a:ext uri="{FF2B5EF4-FFF2-40B4-BE49-F238E27FC236}">
                <a16:creationId xmlns:a16="http://schemas.microsoft.com/office/drawing/2014/main" id="{C31B905B-4DDF-4329-9B69-57CBB565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SCOPE OF WORK</a:t>
            </a:r>
          </a:p>
        </p:txBody>
      </p:sp>
      <p:sp>
        <p:nvSpPr>
          <p:cNvPr id="4" name="claim-title-26">
            <a:extLst xmlns:a="http://schemas.openxmlformats.org/drawingml/2006/main">
              <a:ext uri="{FF2B5EF4-FFF2-40B4-BE49-F238E27FC236}">
                <a16:creationId xmlns:a16="http://schemas.microsoft.com/office/drawing/2014/main" id="{9718E9BB-B240-4CBF-B568-9960CFB2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first release spans the full local-service transaction.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07c0a7e154d3b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398F9-C942-4DF3-9F37-B3A1BDFE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2390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B8F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13193-55B7-4FD2-A037-3237B656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657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INITIAL MARKETPLACE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CFE95-8D61-4791-9084-2F0ED461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67B0C-E4FF-4A0F-B0C9-468CA1DB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165E-A4A6-47EB-91EF-CFBD4E0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F6C36-8A35-4455-98C1-A801AFB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A506C-EADA-42E8-A374-D615B8EF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AC377-387F-4D5C-B8DC-082001A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75CE4-31EA-4D1A-9634-A10481F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D7729-81A7-4BED-8810-474F7848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D9F97-2E11-4C4B-9E17-5CBBE6F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CED1B-43F5-4C8C-9CC6-A7226F7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EE96F-ADAD-49B6-9F63-06AFE1A7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00212-9971-4A0C-9D5C-048A4F2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05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Scheduling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50D79-252D-49FE-9CEE-10F7679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6D022-AAEF-410B-B2A0-F1EA7C73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Communication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9D3BE-D7F3-4598-A538-C4EC2E2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536E1-1C17-4CE9-BFC2-B22E923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Service tracking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C15E1-FD34-4A3F-8691-A9C9B1E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529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39865-8AE4-44E1-A841-FC00402E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52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Payment coordination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E4DDE-97F5-46BA-8F18-70A4FDC6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ED380-36DE-44D9-B768-8C56584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C7D9DB-7AFE-4B55-9B12-C792EFF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0060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4BCB4-763D-438C-81A8-513F0397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Admin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F9A82-4593-443E-8CE1-F702EC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048000" cy="37338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9A3D">
              <a:alpha val="7059"/>
            </a:srgbClr>
          </a:solidFill>
          <a:ln xmlns:a="http://schemas.openxmlformats.org/drawingml/2006/main" w="9525">
            <a:solidFill>
              <a:srgbClr val="FF9A3D">
                <a:alpha val="5019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5A943-8242-4AB6-B42E-209A88F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FUTURE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10E0C-B6A1-4A8F-BAAB-37EF727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504750-72E8-4856-B403-7F3DA1B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171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Advanced financial infrastructure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3A0D1-FD32-4622-890E-3AF790D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077D57-A13D-47AD-9031-9150C70E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2171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Large-scale dispute resolution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8E377-3E18-4196-853E-33777FC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9C80F6-4BF7-487C-AFBC-A801B64B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171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External integrations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9780B5-BD19-44A0-9BE4-FF35307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435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Boundary matters: the first release organizes the transaction; later releases can deepen infrastructure.</a:t>
            </a:r>
          </a:p>
        </p:txBody>
      </p:sp>
      <p:sp>
        <p:nvSpPr>
          <p:cNvPr id="39" name="footer-rule-26">
            <a:extLst xmlns:a="http://schemas.openxmlformats.org/drawingml/2006/main">
              <a:ext uri="{FF2B5EF4-FFF2-40B4-BE49-F238E27FC236}">
                <a16:creationId xmlns:a16="http://schemas.microsoft.com/office/drawing/2014/main" id="{54F361C8-B044-4D68-AE4B-9EA1FC4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B5FB14-E345-4416-9C9C-DA9F536D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E9D8F2-EFEB-4F2C-81EF-FEC3AFC3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2D7A84-F7C1-40C1-B3C9-D57C1FDF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415377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C9EAD62-6E22-4966-82AC-93A1F24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7-marker">
            <a:extLst xmlns:a="http://schemas.openxmlformats.org/drawingml/2006/main">
              <a:ext uri="{FF2B5EF4-FFF2-40B4-BE49-F238E27FC236}">
                <a16:creationId xmlns:a16="http://schemas.microsoft.com/office/drawing/2014/main" id="{D1D868C0-5AE6-407E-9C04-ECF8E719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7-label">
            <a:extLst xmlns:a="http://schemas.openxmlformats.org/drawingml/2006/main">
              <a:ext uri="{FF2B5EF4-FFF2-40B4-BE49-F238E27FC236}">
                <a16:creationId xmlns:a16="http://schemas.microsoft.com/office/drawing/2014/main" id="{779C0000-1A22-41F7-BD21-804ED47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PLATFORM MANAGEMENT</a:t>
            </a:r>
          </a:p>
        </p:txBody>
      </p:sp>
      <p:sp>
        <p:nvSpPr>
          <p:cNvPr id="4" name="claim-title-27">
            <a:extLst xmlns:a="http://schemas.openxmlformats.org/drawingml/2006/main">
              <a:ext uri="{FF2B5EF4-FFF2-40B4-BE49-F238E27FC236}">
                <a16:creationId xmlns:a16="http://schemas.microsoft.com/office/drawing/2014/main" id="{B8A19208-8339-4221-B8F0-E0E788D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NexusLink governs the marketplace while users run their jobs.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ab2a574084945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39FC1-1DB6-499C-BEC8-E7E23C8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5448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57C0"/>
          </a:solidFill>
          <a:ln xmlns:a="http://schemas.openxmlformats.org/drawingml/2006/main" w="19050">
            <a:solidFill>
              <a:srgbClr val="5B8F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01FE-4F84-4F7B-ACDA-4BAC371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37E10-4B1F-4C56-8E36-8C72808A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003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36A3-290F-49B8-9385-FB06F81B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19450"/>
            <a:ext cx="8115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261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634E-4EF7-40FB-AF42-2CEBA86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67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PLATFORM ADMIN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AD0E-E36F-42B2-A2D8-19D19DB5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052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E68BE-0138-40CE-B05B-EA08194E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D716B-6579-48DC-A4C5-BFA478D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052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63552-905D-49C8-8323-5A3309E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Moderation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0DA9E-3F5A-4B59-AC65-0FF6A66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A9892-6B2D-4DC8-87FD-138D8F04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E3FF6-D42D-4FD8-8C4A-D23BA912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005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EBD8E-65F9-403B-B357-92EBD162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Maintenance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4894D-C26D-4261-A190-DFCD1FE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005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2029B-7EBB-484B-9993-1AF5BF1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Policies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E5A25-5764-4470-9F3C-103462C9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18DCC-4A2E-41F6-B867-D56DD4C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Dispute review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02796-CF89-4C9F-87C0-0DC54E2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958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A4808-0147-45F2-8DD5-597CF26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38750"/>
            <a:ext cx="5943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B981">
              <a:alpha val="9412"/>
            </a:srgbClr>
          </a:solidFill>
          <a:ln xmlns:a="http://schemas.openxmlformats.org/drawingml/2006/main" w="9525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4D4B5-F08B-4824-B62B-37DD147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537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USERS RUN THE TRANSACTIONS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8211E-A793-4B11-A3D5-9523514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38800"/>
            <a:ext cx="537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Administrators focus on governance—not control of every booking.</a:t>
            </a:r>
          </a:p>
        </p:txBody>
      </p:sp>
      <p:sp>
        <p:nvSpPr>
          <p:cNvPr id="27" name="footer-rule-27">
            <a:extLst xmlns:a="http://schemas.openxmlformats.org/drawingml/2006/main">
              <a:ext uri="{FF2B5EF4-FFF2-40B4-BE49-F238E27FC236}">
                <a16:creationId xmlns:a16="http://schemas.microsoft.com/office/drawing/2014/main" id="{0CDF5AEC-0BB0-4DDF-AFE1-EEEE415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C56C8-6DEC-4921-AEF3-9CD2E1FC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CEB70-EF63-405D-AE04-2E0F413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D03D8-13FC-4BC3-AF33-F3E742F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B9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4706912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EC61ADF-4B6D-44A7-A9FB-402739F6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8-marker">
            <a:extLst xmlns:a="http://schemas.openxmlformats.org/drawingml/2006/main">
              <a:ext uri="{FF2B5EF4-FFF2-40B4-BE49-F238E27FC236}">
                <a16:creationId xmlns:a16="http://schemas.microsoft.com/office/drawing/2014/main" id="{657B34F8-F512-4805-A350-0E665D9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8-label">
            <a:extLst xmlns:a="http://schemas.openxmlformats.org/drawingml/2006/main">
              <a:ext uri="{FF2B5EF4-FFF2-40B4-BE49-F238E27FC236}">
                <a16:creationId xmlns:a16="http://schemas.microsoft.com/office/drawing/2014/main" id="{195F68FE-C5BA-42F5-9C3B-3652F53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SELF-SERVICE OPERATIONS</a:t>
            </a:r>
          </a:p>
        </p:txBody>
      </p:sp>
      <p:sp>
        <p:nvSpPr>
          <p:cNvPr id="4" name="claim-title-28">
            <a:extLst xmlns:a="http://schemas.openxmlformats.org/drawingml/2006/main">
              <a:ext uri="{FF2B5EF4-FFF2-40B4-BE49-F238E27FC236}">
                <a16:creationId xmlns:a16="http://schemas.microsoft.com/office/drawing/2014/main" id="{E9D75AF1-2CFC-490D-B5D1-85FACC7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Providers and clients control day-to-day transactions.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062a253544a69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E600D-B483-4780-8F0F-192921C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5B8F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805EA-EC9F-472F-9ABD-8DEAB31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9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6D27C-0471-4EFE-9D94-A9E9F40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PROVIDERS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614B-B6FF-4230-8EEF-69BD29A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7E04D-F347-408C-9F24-24F51E5E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Profiles + listings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A2A8C-452B-4C14-8C9E-851314E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AC80A-2F51-4BD4-B8FC-9DD75EF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Pricing +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535BD-5C8F-4613-9E2B-09652A2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2C600-6249-49A8-873D-17C9C721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Booking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6F347-4088-48E2-9EC3-6E233EFE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EDAE4-7938-4A12-BA88-3EDDDF7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Ratings + transactions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7F680-BE37-4A41-A3D9-820ABB3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24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CLIENTS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CDA13-D9B8-45F2-8645-D7DA9F3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95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B98FC-4AC0-4925-A5D1-488A409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Booking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DF68A-945C-4848-B03F-6428CC5E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6DA12-14A7-4F49-9BE2-09C3376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Quotation approvals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2E8BB-F677-4AE2-AD4E-3D295DF0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30105-9695-467C-98E1-5A24088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Schedules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1A5B5-5777-450E-BE65-09BAFBC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67C50-21B1-42C5-87B2-92B1515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Transactions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0485B-31F3-4286-9769-985F878D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D4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F0AFF-C95F-4D75-9269-25CD25D8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05450"/>
            <a:ext cx="689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ADMIN ROLE · verification, moderation, governance — not daily transaction control</a:t>
            </a:r>
          </a:p>
        </p:txBody>
      </p:sp>
      <p:sp>
        <p:nvSpPr>
          <p:cNvPr id="28" name="footer-rule-28">
            <a:extLst xmlns:a="http://schemas.openxmlformats.org/drawingml/2006/main">
              <a:ext uri="{FF2B5EF4-FFF2-40B4-BE49-F238E27FC236}">
                <a16:creationId xmlns:a16="http://schemas.microsoft.com/office/drawing/2014/main" id="{AFF11B02-103A-481D-84C0-2E142CA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D69BD-BEE0-4B35-9FF9-501428F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A4E3B-6DDA-4C46-A55A-2FFDA50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8C2AA-F5EB-4EDF-B39F-6B6FB70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b5836f60e446e">
            <a:extLst>
              <a:ext uri="{96DAC541-7B7A-43D3-8B79-37D633B846F1}">
                <asvg:svgBlip xmlns:asvg="http://schemas.microsoft.com/office/drawing/2016/SVG/main" r:embed="R795f0ae427a747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3622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d1d92c5344021">
            <a:extLst>
              <a:ext uri="{96DAC541-7B7A-43D3-8B79-37D633B846F1}">
                <asvg:svgBlip xmlns:asvg="http://schemas.microsoft.com/office/drawing/2016/SVG/main" r:embed="Rdffca93df72c44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81800" y="2362200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9611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F365E79-6CD5-4B87-942A-A8C633FE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9-marker">
            <a:extLst xmlns:a="http://schemas.openxmlformats.org/drawingml/2006/main">
              <a:ext uri="{FF2B5EF4-FFF2-40B4-BE49-F238E27FC236}">
                <a16:creationId xmlns:a16="http://schemas.microsoft.com/office/drawing/2014/main" id="{F166B799-8B63-4183-9A85-2778E31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9-label">
            <a:extLst xmlns:a="http://schemas.openxmlformats.org/drawingml/2006/main">
              <a:ext uri="{FF2B5EF4-FFF2-40B4-BE49-F238E27FC236}">
                <a16:creationId xmlns:a16="http://schemas.microsoft.com/office/drawing/2014/main" id="{8FFE036A-1109-4355-8E57-F9DC700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PROJECT TIMELINE</a:t>
            </a:r>
          </a:p>
        </p:txBody>
      </p:sp>
      <p:sp>
        <p:nvSpPr>
          <p:cNvPr id="4" name="claim-title-29">
            <a:extLst xmlns:a="http://schemas.openxmlformats.org/drawingml/2006/main">
              <a:ext uri="{FF2B5EF4-FFF2-40B4-BE49-F238E27FC236}">
                <a16:creationId xmlns:a16="http://schemas.microsoft.com/office/drawing/2014/main" id="{C4C1903F-DF48-4BC4-970A-A0A3A9C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The path to a working marketplace moves from validation through refinement.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87c2aacc34aaf"/>
          <a:stretch xmlns:a="http://schemas.openxmlformats.org/drawingml/2006/main"/>
        </p:blipFill>
        <p:spPr>
          <a:xfrm xmlns:a="http://schemas.openxmlformats.org/drawingml/2006/main">
            <a:off x="9990057" y="209550"/>
            <a:ext cx="1508286" cy="41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E09C4-0A40-4BB5-A493-C1AD7711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B3CEB-8B0F-4249-8485-5E8AC1B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C668D-492C-4B67-A7D7-45A36E7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4818B-1B77-4433-9A92-B90AAEA4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F2AB3-ED52-4DF1-AAC2-B682A8F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0535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Concept revision +</a:t>
            </a:r>
          </a:p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requirement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FD8D7-C2CE-44E5-B9E2-17EB9F0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663FF-98AB-4FD8-AEED-E729162D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3F26F-2F54-47C2-89F9-A9F47C4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100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89458-190B-4DD1-999A-695A00B8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D082E-6C60-4C19-A0C1-FBC35DF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9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68775-308F-40AC-A7D0-ABBB206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94D2E-A4C8-4DE1-AE1C-1CC9E83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46122-86FE-4A65-845F-ACA620E6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Coding +</a:t>
            </a:r>
          </a:p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development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B4667-895F-40A1-B8F3-CA1970B3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09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D1D78-45E6-4F95-B3F5-D1855DC6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71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A58B0-BA95-4596-9861-21BCC573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100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REFINE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C5792-58AD-4C84-A0BF-5B5F8BF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0535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Testing, documentation</a:t>
            </a:r>
          </a:p>
          <a:p xmlns:a="http://schemas.openxmlformats.org/drawingml/2006/main">
            <a:pPr algn="ctr">
              <a:defRPr sz="1275" b="1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+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4C48D-A8CB-4F0B-BFE9-09EA6E23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No dates were supplied in the source deck; the roadmap shows sequence, not calendar commitments.</a:t>
            </a:r>
          </a:p>
        </p:txBody>
      </p:sp>
      <p:sp>
        <p:nvSpPr>
          <p:cNvPr id="24" name="footer-rule-29">
            <a:extLst xmlns:a="http://schemas.openxmlformats.org/drawingml/2006/main">
              <a:ext uri="{FF2B5EF4-FFF2-40B4-BE49-F238E27FC236}">
                <a16:creationId xmlns:a16="http://schemas.microsoft.com/office/drawing/2014/main" id="{B2626D46-1DB6-4739-B10C-B8F34910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DAB96-DC60-4253-A559-E8201ED0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E713D-2B1D-4E0B-A818-5FDE9068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62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lead · Neil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1174C-7E95-4B3C-BAFA-01B48141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04a69746346ab">
            <a:extLst>
              <a:ext uri="{96DAC541-7B7A-43D3-8B79-37D633B846F1}">
                <asvg:svgBlip xmlns:asvg="http://schemas.microsoft.com/office/drawing/2016/SVG/main" r:embed="R41237a9505de4a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341947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8b603bc9444ef">
            <a:extLst>
              <a:ext uri="{96DAC541-7B7A-43D3-8B79-37D633B846F1}">
                <asvg:svgBlip xmlns:asvg="http://schemas.microsoft.com/office/drawing/2016/SVG/main" r:embed="R545cc0c5d93645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0050" y="341947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8d6e56cf4241">
            <a:extLst>
              <a:ext uri="{96DAC541-7B7A-43D3-8B79-37D633B846F1}">
                <asvg:svgBlip xmlns:asvg="http://schemas.microsoft.com/office/drawing/2016/SVG/main" r:embed="R9c65988277cb4a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62800" y="341947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dc7cc99d345fb">
            <a:extLst>
              <a:ext uri="{96DAC541-7B7A-43D3-8B79-37D633B846F1}">
                <asvg:svgBlip xmlns:asvg="http://schemas.microsoft.com/office/drawing/2016/SVG/main" r:embed="R5b923b19ad034f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15550" y="3419475"/>
            <a:ext cx="28575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4552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9f7f441bc4bfe"/>
          <a:srcRect xmlns:a="http://schemas.openxmlformats.org/drawingml/2006/main" l="0" t="3977" r="0" b="3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CE727-6B28-4C3F-B18D-843F4188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0E88-E160-4D2D-8F0B-EE346B66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8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693D8-EF42-4E67-BFFF-08C4D3E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E5664-7D66-47DE-A64E-E8CACB86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d78c69bac448f"/>
          <a:stretch xmlns:a="http://schemas.openxmlformats.org/drawingml/2006/main"/>
        </p:blipFill>
        <p:spPr>
          <a:xfrm xmlns:a="http://schemas.openxmlformats.org/drawingml/2006/main">
            <a:off x="666750" y="465589"/>
            <a:ext cx="1790700" cy="497573"/>
          </a:xfrm>
          <a:prstGeom xmlns:a="http://schemas.openxmlformats.org/drawingml/2006/main" prst="rect">
            <a:avLst/>
          </a:prstGeom>
        </p:spPr>
      </p:pic>
      <p:sp>
        <p:nvSpPr>
          <p:cNvPr id="7" name="kicker-30-marker">
            <a:extLst xmlns:a="http://schemas.openxmlformats.org/drawingml/2006/main">
              <a:ext uri="{FF2B5EF4-FFF2-40B4-BE49-F238E27FC236}">
                <a16:creationId xmlns:a16="http://schemas.microsoft.com/office/drawing/2014/main" id="{345A8A92-F29A-4E63-9639-D138B73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30-label">
            <a:extLst xmlns:a="http://schemas.openxmlformats.org/drawingml/2006/main">
              <a:ext uri="{FF2B5EF4-FFF2-40B4-BE49-F238E27FC236}">
                <a16:creationId xmlns:a16="http://schemas.microsoft.com/office/drawing/2014/main" id="{8B9493D0-EE4E-4580-849D-3F3FF166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9" name="claim-title-30">
            <a:extLst xmlns:a="http://schemas.openxmlformats.org/drawingml/2006/main">
              <a:ext uri="{FF2B5EF4-FFF2-40B4-BE49-F238E27FC236}">
                <a16:creationId xmlns:a16="http://schemas.microsoft.com/office/drawing/2014/main" id="{E67374B2-7275-43B4-974A-7B9D255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85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Scattered local work,</a:t>
            </a:r>
          </a:p>
          <a:p xmlns:a="http://schemas.openxmlformats.org/drawingml/2006/main">
            <a:pPr algn="l">
              <a:defRPr sz="38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turned into professional</a:t>
            </a:r>
          </a:p>
          <a:p xmlns:a="http://schemas.openxmlformats.org/drawingml/2006/main">
            <a:pPr algn="l">
              <a:defRPr sz="382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transactions.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7CCE6-5C98-49DE-B2B2-C8D6FA1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Discovery, listings, booking, scheduling, communication, transaction coordination, and reviews—one organized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920AF-303A-45BD-8D09-77768E1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8F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B8FF0"/>
                </a:solidFill>
                <a:latin typeface="Segoe UI"/>
                <a:ea typeface="Segoe UI"/>
                <a:cs typeface="Segoe UI"/>
              </a:rPr>
              <a:t>STRUCTURED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B6F59-AD47-48A6-A937-EB2A7A30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4AA98-3946-472B-A2ED-5DC40C90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38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A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9A3D"/>
                </a:solidFill>
                <a:latin typeface="Segoe UI"/>
                <a:ea typeface="Segoe UI"/>
                <a:cs typeface="Segoe UI"/>
              </a:rPr>
              <a:t>TRANSPARENT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AAFCE-253D-41ED-AEE1-5E86992E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197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30817-CABD-4F6E-ABB9-8A81422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PROFESSIONAL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36212-439F-4F1D-99FF-9BEF232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197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44DB8-71EA-42E1-94AD-D525EA2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May trabaho? Who? TrabaWho.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22B04-50E9-433B-872A-68F0D1F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NexusLink IT Systems Corporation  ·  Slide lead: Neil  ·  30</a:t>
            </a:r>
          </a:p>
        </p:txBody>
      </p:sp>
    </p:spTree>
    <p:extLst>
      <p:ext uri="{BB962C8B-B14F-4D97-AF65-F5344CB8AC3E}">
        <p14:creationId xmlns:p14="http://schemas.microsoft.com/office/powerpoint/2010/main" val="1954279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2026-08-29T01:01:03.3220000Z</dcterms:created>
  <dcterms:modified xsi:type="dcterms:W3CDTF">2026-08-29T01:01:03.3220000Z</dcterms:modified>
</coreProperties>
</file>